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5120D"/>
              </a:gs>
              <a:gs pos="100000">
                <a:srgbClr val="0A291F"/>
              </a:gs>
            </a:gsLst>
            <a:lin ang="1761465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10287000" y="-3429000"/>
            <a:ext cx="11430000" cy="11430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9B894">
                  <a:alpha val="42000"/>
                </a:srgbClr>
              </a:gs>
              <a:gs pos="100000">
                <a:srgbClr val="29B89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llipse"/>
          <p:cNvSpPr/>
          <p:nvPr/>
        </p:nvSpPr>
        <p:spPr>
          <a:xfrm>
            <a:off x="11525250" y="2381250"/>
            <a:ext cx="5524500" cy="5524500"/>
          </a:xfrm>
          <a:prstGeom prst="ellipse">
            <a:avLst/>
          </a:prstGeom>
          <a:noFill/>
          <a:ln w="9525">
            <a:solidFill>
              <a:srgbClr val="28B894">
                <a:alpha val="12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" name="Ellipse"/>
          <p:cNvSpPr/>
          <p:nvPr/>
        </p:nvSpPr>
        <p:spPr>
          <a:xfrm>
            <a:off x="12239625" y="3095625"/>
            <a:ext cx="4095750" cy="4095750"/>
          </a:xfrm>
          <a:prstGeom prst="ellipse">
            <a:avLst/>
          </a:prstGeom>
          <a:noFill/>
          <a:ln w="9525">
            <a:solidFill>
              <a:srgbClr val="28B894">
                <a:alpha val="18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" name="Ellipse"/>
          <p:cNvSpPr/>
          <p:nvPr/>
        </p:nvSpPr>
        <p:spPr>
          <a:xfrm>
            <a:off x="12954000" y="3810000"/>
            <a:ext cx="2667000" cy="2667000"/>
          </a:xfrm>
          <a:prstGeom prst="ellipse">
            <a:avLst/>
          </a:prstGeom>
          <a:noFill/>
          <a:ln w="9525">
            <a:solidFill>
              <a:srgbClr val="28B894">
                <a:alpha val="26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" name="Path"/>
          <p:cNvSpPr/>
          <p:nvPr/>
        </p:nvSpPr>
        <p:spPr>
          <a:xfrm>
            <a:off x="11518516" y="2374515"/>
            <a:ext cx="5537970" cy="5537970"/>
          </a:xfrm>
          <a:custGeom>
            <a:avLst/>
            <a:gdLst/>
            <a:ahLst/>
            <a:cxnLst/>
            <a:rect l="0" t="0" r="r" b="b"/>
            <a:pathLst>
              <a:path w="5537970" h="5537970">
                <a:moveTo>
                  <a:pt x="5537970" y="2768985"/>
                </a:moveTo>
                <a:lnTo>
                  <a:pt x="5534603" y="2772353"/>
                </a:lnTo>
                <a:lnTo>
                  <a:pt x="2768985" y="5537970"/>
                </a:lnTo>
                <a:lnTo>
                  <a:pt x="2765618" y="5534603"/>
                </a:lnTo>
                <a:lnTo>
                  <a:pt x="0" y="2768985"/>
                </a:lnTo>
                <a:lnTo>
                  <a:pt x="3368" y="2765618"/>
                </a:lnTo>
                <a:lnTo>
                  <a:pt x="2768985" y="0"/>
                </a:lnTo>
                <a:lnTo>
                  <a:pt x="2772353" y="3368"/>
                </a:lnTo>
                <a:lnTo>
                  <a:pt x="5534603" y="2765618"/>
                </a:lnTo>
                <a:lnTo>
                  <a:pt x="5537970" y="2768985"/>
                </a:lnTo>
                <a:close/>
                <a:moveTo>
                  <a:pt x="2768985" y="5524500"/>
                </a:moveTo>
                <a:lnTo>
                  <a:pt x="5524500" y="2768985"/>
                </a:lnTo>
                <a:lnTo>
                  <a:pt x="2768985" y="13470"/>
                </a:lnTo>
                <a:lnTo>
                  <a:pt x="13470" y="2768985"/>
                </a:lnTo>
                <a:lnTo>
                  <a:pt x="2768985" y="5524500"/>
                </a:lnTo>
                <a:close/>
              </a:path>
            </a:pathLst>
          </a:custGeom>
          <a:solidFill>
            <a:srgbClr val="28B894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Path"/>
          <p:cNvSpPr/>
          <p:nvPr/>
        </p:nvSpPr>
        <p:spPr>
          <a:xfrm>
            <a:off x="14280356" y="2381250"/>
            <a:ext cx="14288" cy="2762250"/>
          </a:xfrm>
          <a:custGeom>
            <a:avLst/>
            <a:gdLst/>
            <a:ahLst/>
            <a:cxnLst/>
            <a:rect l="0" t="0" r="r" b="b"/>
            <a:pathLst>
              <a:path w="14288" h="2762250">
                <a:moveTo>
                  <a:pt x="0" y="0"/>
                </a:moveTo>
                <a:lnTo>
                  <a:pt x="14288" y="0"/>
                </a:lnTo>
                <a:lnTo>
                  <a:pt x="14288" y="2762250"/>
                </a:lnTo>
                <a:lnTo>
                  <a:pt x="0" y="2762250"/>
                </a:lnTo>
                <a:lnTo>
                  <a:pt x="0" y="0"/>
                </a:lnTo>
                <a:close/>
              </a:path>
            </a:pathLst>
          </a:custGeom>
          <a:solidFill>
            <a:srgbClr val="3DD68C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ath"/>
          <p:cNvSpPr/>
          <p:nvPr/>
        </p:nvSpPr>
        <p:spPr>
          <a:xfrm>
            <a:off x="14282449" y="3185824"/>
            <a:ext cx="1962728" cy="1962728"/>
          </a:xfrm>
          <a:custGeom>
            <a:avLst/>
            <a:gdLst/>
            <a:ahLst/>
            <a:cxnLst/>
            <a:rect l="0" t="0" r="r" b="b"/>
            <a:pathLst>
              <a:path w="1962728" h="1962728">
                <a:moveTo>
                  <a:pt x="1952625" y="0"/>
                </a:moveTo>
                <a:lnTo>
                  <a:pt x="1962728" y="10103"/>
                </a:lnTo>
                <a:lnTo>
                  <a:pt x="10103" y="1962728"/>
                </a:lnTo>
                <a:lnTo>
                  <a:pt x="0" y="1952625"/>
                </a:lnTo>
                <a:lnTo>
                  <a:pt x="1952625" y="0"/>
                </a:lnTo>
                <a:close/>
              </a:path>
            </a:pathLst>
          </a:custGeom>
          <a:solidFill>
            <a:srgbClr val="3DD68C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Path"/>
          <p:cNvSpPr/>
          <p:nvPr/>
        </p:nvSpPr>
        <p:spPr>
          <a:xfrm>
            <a:off x="14287500" y="5136356"/>
            <a:ext cx="2762250" cy="14288"/>
          </a:xfrm>
          <a:custGeom>
            <a:avLst/>
            <a:gdLst/>
            <a:ahLst/>
            <a:cxnLst/>
            <a:rect l="0" t="0" r="r" b="b"/>
            <a:pathLst>
              <a:path w="2762250" h="14288">
                <a:moveTo>
                  <a:pt x="2762250" y="0"/>
                </a:moveTo>
                <a:lnTo>
                  <a:pt x="2762250" y="14288"/>
                </a:lnTo>
                <a:lnTo>
                  <a:pt x="0" y="14288"/>
                </a:lnTo>
                <a:lnTo>
                  <a:pt x="0" y="0"/>
                </a:lnTo>
                <a:lnTo>
                  <a:pt x="2762250" y="0"/>
                </a:lnTo>
                <a:close/>
              </a:path>
            </a:pathLst>
          </a:custGeom>
          <a:solidFill>
            <a:srgbClr val="3DD68C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Path"/>
          <p:cNvSpPr/>
          <p:nvPr/>
        </p:nvSpPr>
        <p:spPr>
          <a:xfrm>
            <a:off x="14282449" y="5138449"/>
            <a:ext cx="1962728" cy="1962728"/>
          </a:xfrm>
          <a:custGeom>
            <a:avLst/>
            <a:gdLst/>
            <a:ahLst/>
            <a:cxnLst/>
            <a:rect l="0" t="0" r="r" b="b"/>
            <a:pathLst>
              <a:path w="1962728" h="1962728">
                <a:moveTo>
                  <a:pt x="1962728" y="1952625"/>
                </a:moveTo>
                <a:lnTo>
                  <a:pt x="1952625" y="1962728"/>
                </a:lnTo>
                <a:lnTo>
                  <a:pt x="0" y="10103"/>
                </a:lnTo>
                <a:lnTo>
                  <a:pt x="10103" y="0"/>
                </a:lnTo>
                <a:lnTo>
                  <a:pt x="1962728" y="1952625"/>
                </a:lnTo>
                <a:close/>
              </a:path>
            </a:pathLst>
          </a:custGeom>
          <a:solidFill>
            <a:srgbClr val="3DD68C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ath"/>
          <p:cNvSpPr/>
          <p:nvPr/>
        </p:nvSpPr>
        <p:spPr>
          <a:xfrm>
            <a:off x="14280356" y="5143500"/>
            <a:ext cx="14288" cy="2762250"/>
          </a:xfrm>
          <a:custGeom>
            <a:avLst/>
            <a:gdLst/>
            <a:ahLst/>
            <a:cxnLst/>
            <a:rect l="0" t="0" r="r" b="b"/>
            <a:pathLst>
              <a:path w="14288" h="2762250">
                <a:moveTo>
                  <a:pt x="14288" y="2762250"/>
                </a:moveTo>
                <a:lnTo>
                  <a:pt x="0" y="2762250"/>
                </a:lnTo>
                <a:lnTo>
                  <a:pt x="0" y="0"/>
                </a:lnTo>
                <a:lnTo>
                  <a:pt x="14288" y="0"/>
                </a:lnTo>
                <a:lnTo>
                  <a:pt x="14288" y="2762250"/>
                </a:lnTo>
                <a:close/>
              </a:path>
            </a:pathLst>
          </a:custGeom>
          <a:solidFill>
            <a:srgbClr val="3DD68C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ath"/>
          <p:cNvSpPr/>
          <p:nvPr/>
        </p:nvSpPr>
        <p:spPr>
          <a:xfrm>
            <a:off x="12329824" y="5138449"/>
            <a:ext cx="1962728" cy="1962728"/>
          </a:xfrm>
          <a:custGeom>
            <a:avLst/>
            <a:gdLst/>
            <a:ahLst/>
            <a:cxnLst/>
            <a:rect l="0" t="0" r="r" b="b"/>
            <a:pathLst>
              <a:path w="1962728" h="1962728">
                <a:moveTo>
                  <a:pt x="10103" y="1962728"/>
                </a:moveTo>
                <a:lnTo>
                  <a:pt x="0" y="1952625"/>
                </a:lnTo>
                <a:lnTo>
                  <a:pt x="1952625" y="0"/>
                </a:lnTo>
                <a:lnTo>
                  <a:pt x="1962728" y="10103"/>
                </a:lnTo>
                <a:lnTo>
                  <a:pt x="10103" y="1962728"/>
                </a:lnTo>
                <a:close/>
              </a:path>
            </a:pathLst>
          </a:custGeom>
          <a:solidFill>
            <a:srgbClr val="3DD68C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Path"/>
          <p:cNvSpPr/>
          <p:nvPr/>
        </p:nvSpPr>
        <p:spPr>
          <a:xfrm>
            <a:off x="11525250" y="5136356"/>
            <a:ext cx="2762250" cy="14288"/>
          </a:xfrm>
          <a:custGeom>
            <a:avLst/>
            <a:gdLst/>
            <a:ahLst/>
            <a:cxnLst/>
            <a:rect l="0" t="0" r="r" b="b"/>
            <a:pathLst>
              <a:path w="2762250" h="14288">
                <a:moveTo>
                  <a:pt x="0" y="14288"/>
                </a:moveTo>
                <a:lnTo>
                  <a:pt x="0" y="0"/>
                </a:lnTo>
                <a:lnTo>
                  <a:pt x="2762250" y="0"/>
                </a:lnTo>
                <a:lnTo>
                  <a:pt x="2762250" y="14288"/>
                </a:lnTo>
                <a:lnTo>
                  <a:pt x="0" y="14288"/>
                </a:lnTo>
                <a:close/>
              </a:path>
            </a:pathLst>
          </a:custGeom>
          <a:solidFill>
            <a:srgbClr val="3DD68C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Path"/>
          <p:cNvSpPr/>
          <p:nvPr/>
        </p:nvSpPr>
        <p:spPr>
          <a:xfrm>
            <a:off x="12329824" y="3185824"/>
            <a:ext cx="1962728" cy="1962728"/>
          </a:xfrm>
          <a:custGeom>
            <a:avLst/>
            <a:gdLst/>
            <a:ahLst/>
            <a:cxnLst/>
            <a:rect l="0" t="0" r="r" b="b"/>
            <a:pathLst>
              <a:path w="1962728" h="1962728">
                <a:moveTo>
                  <a:pt x="0" y="10103"/>
                </a:moveTo>
                <a:lnTo>
                  <a:pt x="10103" y="0"/>
                </a:lnTo>
                <a:lnTo>
                  <a:pt x="1962728" y="1952625"/>
                </a:lnTo>
                <a:lnTo>
                  <a:pt x="1952625" y="1962728"/>
                </a:lnTo>
                <a:lnTo>
                  <a:pt x="0" y="10103"/>
                </a:lnTo>
                <a:close/>
              </a:path>
            </a:pathLst>
          </a:custGeom>
          <a:solidFill>
            <a:srgbClr val="3DD68C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Ellipse"/>
          <p:cNvSpPr/>
          <p:nvPr/>
        </p:nvSpPr>
        <p:spPr>
          <a:xfrm>
            <a:off x="13792200" y="4648200"/>
            <a:ext cx="990600" cy="990600"/>
          </a:xfrm>
          <a:prstGeom prst="ellipse">
            <a:avLst/>
          </a:prstGeom>
          <a:solidFill>
            <a:srgbClr val="28B894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Ellipse"/>
          <p:cNvSpPr/>
          <p:nvPr/>
        </p:nvSpPr>
        <p:spPr>
          <a:xfrm>
            <a:off x="14097000" y="4953000"/>
            <a:ext cx="381000" cy="381000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Ellipse"/>
          <p:cNvSpPr/>
          <p:nvPr/>
        </p:nvSpPr>
        <p:spPr>
          <a:xfrm>
            <a:off x="14192250" y="2286000"/>
            <a:ext cx="190500" cy="190500"/>
          </a:xfrm>
          <a:prstGeom prst="ellipse">
            <a:avLst/>
          </a:prstGeom>
          <a:solidFill>
            <a:srgbClr val="3DD68C">
              <a:alpha val="8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Ellipse"/>
          <p:cNvSpPr/>
          <p:nvPr/>
        </p:nvSpPr>
        <p:spPr>
          <a:xfrm>
            <a:off x="16173450" y="3124200"/>
            <a:ext cx="133350" cy="133350"/>
          </a:xfrm>
          <a:prstGeom prst="ellipse">
            <a:avLst/>
          </a:prstGeom>
          <a:solidFill>
            <a:srgbClr val="3DD68C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Ellipse"/>
          <p:cNvSpPr/>
          <p:nvPr/>
        </p:nvSpPr>
        <p:spPr>
          <a:xfrm>
            <a:off x="16954500" y="5048250"/>
            <a:ext cx="190500" cy="190500"/>
          </a:xfrm>
          <a:prstGeom prst="ellipse">
            <a:avLst/>
          </a:prstGeom>
          <a:solidFill>
            <a:srgbClr val="3DD68C">
              <a:alpha val="8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Ellipse"/>
          <p:cNvSpPr/>
          <p:nvPr/>
        </p:nvSpPr>
        <p:spPr>
          <a:xfrm>
            <a:off x="16173450" y="7029450"/>
            <a:ext cx="133350" cy="133350"/>
          </a:xfrm>
          <a:prstGeom prst="ellipse">
            <a:avLst/>
          </a:prstGeom>
          <a:solidFill>
            <a:srgbClr val="3DD68C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Ellipse"/>
          <p:cNvSpPr/>
          <p:nvPr/>
        </p:nvSpPr>
        <p:spPr>
          <a:xfrm>
            <a:off x="14192250" y="7810500"/>
            <a:ext cx="190500" cy="190500"/>
          </a:xfrm>
          <a:prstGeom prst="ellipse">
            <a:avLst/>
          </a:prstGeom>
          <a:solidFill>
            <a:srgbClr val="3DD68C">
              <a:alpha val="8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Ellipse"/>
          <p:cNvSpPr/>
          <p:nvPr/>
        </p:nvSpPr>
        <p:spPr>
          <a:xfrm>
            <a:off x="12268200" y="7029450"/>
            <a:ext cx="133350" cy="133350"/>
          </a:xfrm>
          <a:prstGeom prst="ellipse">
            <a:avLst/>
          </a:prstGeom>
          <a:solidFill>
            <a:srgbClr val="3DD68C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Ellipse"/>
          <p:cNvSpPr/>
          <p:nvPr/>
        </p:nvSpPr>
        <p:spPr>
          <a:xfrm>
            <a:off x="11430000" y="5048250"/>
            <a:ext cx="190500" cy="190500"/>
          </a:xfrm>
          <a:prstGeom prst="ellipse">
            <a:avLst/>
          </a:prstGeom>
          <a:solidFill>
            <a:srgbClr val="3DD68C">
              <a:alpha val="8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Ellipse"/>
          <p:cNvSpPr/>
          <p:nvPr/>
        </p:nvSpPr>
        <p:spPr>
          <a:xfrm>
            <a:off x="12268200" y="3124200"/>
            <a:ext cx="133350" cy="133350"/>
          </a:xfrm>
          <a:prstGeom prst="ellipse">
            <a:avLst/>
          </a:prstGeom>
          <a:solidFill>
            <a:srgbClr val="3DD68C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"/>
          <p:cNvSpPr/>
          <p:nvPr/>
        </p:nvSpPr>
        <p:spPr>
          <a:xfrm>
            <a:off x="1143000" y="1828800"/>
            <a:ext cx="95250" cy="857250"/>
          </a:xfrm>
          <a:prstGeom prst="roundRect">
            <a:avLst>
              <a:gd name="adj" fmla="val 50000"/>
            </a:avLst>
          </a:prstGeom>
          <a:solidFill>
            <a:srgbClr val="3DD6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"/>
          <p:cNvSpPr txBox="1"/>
          <p:nvPr/>
        </p:nvSpPr>
        <p:spPr>
          <a:xfrm>
            <a:off x="1143000" y="3067050"/>
            <a:ext cx="5128546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zh-CN" sz="2250" spc="300">
                <a:solidFill>
                  <a:srgbClr val="3DD68C"/>
                </a:solidFill>
                <a:latin typeface="Source Han Sans CN"/>
                <a:ea typeface="Source Han Sans CN"/>
                <a:cs typeface="Source Han Sans CN"/>
              </a:rPr>
              <a:t>  ·  全场景 AI 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1143000" y="3829050"/>
            <a:ext cx="10287000" cy="220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8700"/>
              </a:lnSpc>
            </a:pPr>
            <a:r>
              <a:rPr lang="zh-CN" sz="690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让每个团队</a:t>
            </a:r>
          </a:p>
          <a:p>
            <a:pPr>
              <a:lnSpc>
                <a:spcPts val="8700"/>
              </a:lnSpc>
            </a:pPr>
            <a:r>
              <a:rPr lang="zh-CN" sz="690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都拥有一支 AI 员工队伍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1143000" y="6419850"/>
            <a:ext cx="10287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900"/>
              </a:lnSpc>
            </a:pPr>
            <a:r>
              <a:rPr lang="zh-CN" sz="2550">
                <a:solidFill>
                  <a:srgbClr val="A9C2B9"/>
                </a:solidFill>
                <a:latin typeface="Source Han Sans CN"/>
                <a:ea typeface="Source Han Sans CN"/>
                <a:cs typeface="Source Han Sans CN"/>
              </a:rPr>
              <a:t> AI」，到「会干活的 AI</a:t>
            </a:r>
            <a:br>
              <a:rPr lang="en-US" sz="2550">
                <a:latin typeface="Source Han Sans CN"/>
                <a:ea typeface="Source Han Sans CN"/>
                <a:cs typeface="Source Han Sans CN"/>
              </a:rPr>
            </a:br>
            <a:r>
              <a:rPr lang="en-US" sz="2550">
                <a:solidFill>
                  <a:srgbClr val="A9C2B9"/>
                </a:solidFill>
                <a:latin typeface="Source Han Sans CN"/>
                <a:ea typeface="Source Han Sans CN"/>
                <a:cs typeface="Source Han Sans CN"/>
              </a:rPr>
              <a:t>AI </a:t>
            </a:r>
          </a:p>
        </p:txBody>
      </p:sp>
      <p:sp>
        <p:nvSpPr>
          <p:cNvPr id="30" name="Rectangle"/>
          <p:cNvSpPr/>
          <p:nvPr/>
        </p:nvSpPr>
        <p:spPr>
          <a:xfrm>
            <a:off x="1143000" y="7791450"/>
            <a:ext cx="3419475" cy="666750"/>
          </a:xfrm>
          <a:prstGeom prst="roundRect">
            <a:avLst>
              <a:gd name="adj" fmla="val 50000"/>
            </a:avLst>
          </a:prstGeom>
          <a:solidFill>
            <a:srgbClr val="29B894">
              <a:alpha val="1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1466850" y="7943850"/>
            <a:ext cx="2768613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en-US" sz="2100">
                <a:solidFill>
                  <a:srgbClr val="3DD68C"/>
                </a:solidFill>
                <a:latin typeface="Source Han Sans CN"/>
                <a:ea typeface="Source Han Sans CN"/>
                <a:cs typeface="Source Han Sans CN"/>
              </a:rPr>
              <a:t> AI </a:t>
            </a:r>
          </a:p>
        </p:txBody>
      </p:sp>
      <p:sp>
        <p:nvSpPr>
          <p:cNvPr id="32" name="Rectangle"/>
          <p:cNvSpPr/>
          <p:nvPr/>
        </p:nvSpPr>
        <p:spPr>
          <a:xfrm>
            <a:off x="1147763" y="7796213"/>
            <a:ext cx="3409950" cy="657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DD6AD">
                <a:alpha val="35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"/>
          <p:cNvSpPr txBox="1"/>
          <p:nvPr/>
        </p:nvSpPr>
        <p:spPr>
          <a:xfrm>
            <a:off x="14291576" y="8382000"/>
            <a:ext cx="2853424" cy="590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4650"/>
              </a:lnSpc>
            </a:pPr>
            <a:r>
              <a:rPr lang="en-US" sz="390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WorkBuddy</a:t>
            </a:r>
          </a:p>
        </p:txBody>
      </p:sp>
      <p:sp>
        <p:nvSpPr>
          <p:cNvPr id="34" name="TextBox"/>
          <p:cNvSpPr txBox="1"/>
          <p:nvPr/>
        </p:nvSpPr>
        <p:spPr>
          <a:xfrm>
            <a:off x="15135072" y="9067800"/>
            <a:ext cx="2009927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700"/>
              </a:lnSpc>
            </a:pPr>
            <a:r>
              <a:rPr lang="en-US" sz="1950">
                <a:solidFill>
                  <a:srgbClr val="7E9A90"/>
                </a:solidFill>
                <a:latin typeface="Source Han Sans CN"/>
                <a:ea typeface="Source Han Sans CN"/>
                <a:cs typeface="Source Han Sans CN"/>
              </a:rPr>
              <a:t>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5120D"/>
              </a:gs>
              <a:gs pos="100000">
                <a:srgbClr val="0A291F"/>
              </a:gs>
            </a:gsLst>
            <a:lin ang="1761465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-2857500" y="4762500"/>
            <a:ext cx="9525000" cy="9525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9B894">
                  <a:alpha val="22000"/>
                </a:srgbClr>
              </a:gs>
              <a:gs pos="100000">
                <a:srgbClr val="29B89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"/>
          <p:cNvSpPr txBox="1"/>
          <p:nvPr/>
        </p:nvSpPr>
        <p:spPr>
          <a:xfrm>
            <a:off x="1143000" y="952500"/>
            <a:ext cx="2258568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en-US" sz="2100" spc="300">
                <a:solidFill>
                  <a:srgbClr val="3DD68C"/>
                </a:solidFill>
                <a:latin typeface="Source Han Sans CN"/>
                <a:ea typeface="Source Han Sans CN"/>
                <a:cs typeface="Source Han Sans CN"/>
              </a:rPr>
              <a:t>01  ·  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1543050"/>
            <a:ext cx="9579997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6300"/>
              </a:lnSpc>
            </a:pPr>
            <a:r>
              <a:rPr lang="en-US" sz="495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AI 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143000" y="2571750"/>
            <a:ext cx="4373575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450"/>
              </a:lnSpc>
            </a:pPr>
            <a:r>
              <a:rPr lang="en-US" sz="2400">
                <a:solidFill>
                  <a:srgbClr val="A9C2B9"/>
                </a:solidFill>
                <a:latin typeface="Source Han Sans CN"/>
                <a:ea typeface="Source Han Sans CN"/>
                <a:cs typeface="Source Han Sans CN"/>
              </a:rPr>
              <a:t> AI </a:t>
            </a:r>
          </a:p>
        </p:txBody>
      </p:sp>
      <p:sp>
        <p:nvSpPr>
          <p:cNvPr id="7" name="Rectangle"/>
          <p:cNvSpPr/>
          <p:nvPr/>
        </p:nvSpPr>
        <p:spPr>
          <a:xfrm>
            <a:off x="1143000" y="4248150"/>
            <a:ext cx="5076825" cy="4191000"/>
          </a:xfrm>
          <a:prstGeom prst="roundRect">
            <a:avLst>
              <a:gd name="adj" fmla="val 590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"/>
          <p:cNvSpPr txBox="1"/>
          <p:nvPr/>
        </p:nvSpPr>
        <p:spPr>
          <a:xfrm>
            <a:off x="1581150" y="4686300"/>
            <a:ext cx="32080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en-US" sz="1950" spc="225">
                <a:solidFill>
                  <a:srgbClr val="3DD68C"/>
                </a:solidFill>
                <a:latin typeface="Source Han Sans CN Bold"/>
                <a:ea typeface="Source Han Sans CN Bold"/>
                <a:cs typeface="Source Han Sans CN Bold"/>
              </a:rPr>
              <a:t>01</a:t>
            </a:r>
          </a:p>
        </p:txBody>
      </p:sp>
      <p:sp>
        <p:nvSpPr>
          <p:cNvPr id="9" name="Rectangle"/>
          <p:cNvSpPr/>
          <p:nvPr/>
        </p:nvSpPr>
        <p:spPr>
          <a:xfrm>
            <a:off x="1581150" y="5219700"/>
            <a:ext cx="723900" cy="723900"/>
          </a:xfrm>
          <a:prstGeom prst="roundRect">
            <a:avLst>
              <a:gd name="adj" fmla="val 28947"/>
            </a:avLst>
          </a:prstGeom>
          <a:solidFill>
            <a:srgbClr val="29B894">
              <a:alpha val="1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"/>
          <p:cNvSpPr/>
          <p:nvPr/>
        </p:nvSpPr>
        <p:spPr>
          <a:xfrm>
            <a:off x="1762125" y="5419725"/>
            <a:ext cx="361950" cy="247650"/>
          </a:xfrm>
          <a:prstGeom prst="roundRect">
            <a:avLst>
              <a:gd name="adj" fmla="val 26923"/>
            </a:avLst>
          </a:prstGeom>
          <a:noFill/>
          <a:ln w="23813">
            <a:solidFill>
              <a:srgbClr val="3DD68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" name="Path"/>
          <p:cNvSpPr/>
          <p:nvPr/>
        </p:nvSpPr>
        <p:spPr>
          <a:xfrm>
            <a:off x="1845325" y="5654580"/>
            <a:ext cx="110570" cy="81995"/>
          </a:xfrm>
          <a:custGeom>
            <a:avLst/>
            <a:gdLst/>
            <a:ahLst/>
            <a:cxnLst/>
            <a:rect l="0" t="0" r="r" b="b"/>
            <a:pathLst>
              <a:path w="110570" h="81995">
                <a:moveTo>
                  <a:pt x="23956" y="12795"/>
                </a:moveTo>
                <a:lnTo>
                  <a:pt x="23956" y="47698"/>
                </a:lnTo>
                <a:lnTo>
                  <a:pt x="91171" y="2888"/>
                </a:lnTo>
                <a:quadBezTo>
                  <a:pt x="95244" y="0"/>
                  <a:pt x="100110" y="1120"/>
                </a:quadBezTo>
                <a:quadBezTo>
                  <a:pt x="105032" y="1958"/>
                  <a:pt x="107682" y="6190"/>
                </a:quadBezTo>
                <a:quadBezTo>
                  <a:pt x="110570" y="10264"/>
                  <a:pt x="109450" y="15130"/>
                </a:quadBezTo>
                <a:quadBezTo>
                  <a:pt x="108612" y="20052"/>
                  <a:pt x="104379" y="22701"/>
                </a:quadBezTo>
                <a:lnTo>
                  <a:pt x="18654" y="79851"/>
                </a:lnTo>
                <a:quadBezTo>
                  <a:pt x="17189" y="80832"/>
                  <a:pt x="15500" y="81340"/>
                </a:quadBezTo>
                <a:quadBezTo>
                  <a:pt x="13813" y="81854"/>
                  <a:pt x="12050" y="81851"/>
                </a:quadBezTo>
                <a:quadBezTo>
                  <a:pt x="7059" y="81995"/>
                  <a:pt x="3631" y="78364"/>
                </a:quadBezTo>
                <a:quadBezTo>
                  <a:pt x="0" y="74936"/>
                  <a:pt x="144" y="69945"/>
                </a:quadBezTo>
                <a:lnTo>
                  <a:pt x="144" y="12795"/>
                </a:lnTo>
                <a:quadBezTo>
                  <a:pt x="0" y="7804"/>
                  <a:pt x="3631" y="4376"/>
                </a:quadBezTo>
                <a:quadBezTo>
                  <a:pt x="7059" y="745"/>
                  <a:pt x="12050" y="889"/>
                </a:quadBezTo>
                <a:quadBezTo>
                  <a:pt x="17041" y="745"/>
                  <a:pt x="20469" y="4376"/>
                </a:quadBezTo>
                <a:quadBezTo>
                  <a:pt x="24100" y="7804"/>
                  <a:pt x="23956" y="12795"/>
                </a:quadBezTo>
                <a:close/>
              </a:path>
            </a:pathLst>
          </a:custGeom>
          <a:solidFill>
            <a:srgbClr val="3DD6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ath"/>
          <p:cNvSpPr/>
          <p:nvPr/>
        </p:nvSpPr>
        <p:spPr>
          <a:xfrm>
            <a:off x="1835800" y="5493400"/>
            <a:ext cx="214600" cy="90775"/>
          </a:xfrm>
          <a:custGeom>
            <a:avLst/>
            <a:gdLst/>
            <a:ahLst/>
            <a:cxnLst/>
            <a:rect l="0" t="0" r="r" b="b"/>
            <a:pathLst>
              <a:path w="214600" h="90775">
                <a:moveTo>
                  <a:pt x="12050" y="144"/>
                </a:moveTo>
                <a:lnTo>
                  <a:pt x="202550" y="144"/>
                </a:lnTo>
                <a:quadBezTo>
                  <a:pt x="207541" y="0"/>
                  <a:pt x="210969" y="3631"/>
                </a:quadBezTo>
                <a:quadBezTo>
                  <a:pt x="214600" y="7059"/>
                  <a:pt x="214456" y="12050"/>
                </a:quadBezTo>
                <a:quadBezTo>
                  <a:pt x="214600" y="17041"/>
                  <a:pt x="210969" y="20469"/>
                </a:quadBezTo>
                <a:quadBezTo>
                  <a:pt x="207541" y="24100"/>
                  <a:pt x="202550" y="23956"/>
                </a:quadBezTo>
                <a:lnTo>
                  <a:pt x="12050" y="23956"/>
                </a:lnTo>
                <a:quadBezTo>
                  <a:pt x="7059" y="24100"/>
                  <a:pt x="3631" y="20469"/>
                </a:quadBezTo>
                <a:quadBezTo>
                  <a:pt x="0" y="17041"/>
                  <a:pt x="144" y="12050"/>
                </a:quadBezTo>
                <a:quadBezTo>
                  <a:pt x="0" y="7059"/>
                  <a:pt x="3631" y="3631"/>
                </a:quadBezTo>
                <a:quadBezTo>
                  <a:pt x="7059" y="0"/>
                  <a:pt x="12050" y="144"/>
                </a:quadBezTo>
                <a:close/>
                <a:moveTo>
                  <a:pt x="12050" y="66819"/>
                </a:moveTo>
                <a:lnTo>
                  <a:pt x="135875" y="66819"/>
                </a:lnTo>
                <a:quadBezTo>
                  <a:pt x="140866" y="66675"/>
                  <a:pt x="144294" y="70306"/>
                </a:quadBezTo>
                <a:quadBezTo>
                  <a:pt x="147925" y="73734"/>
                  <a:pt x="147781" y="78725"/>
                </a:quadBezTo>
                <a:quadBezTo>
                  <a:pt x="147925" y="83716"/>
                  <a:pt x="144294" y="87144"/>
                </a:quadBezTo>
                <a:quadBezTo>
                  <a:pt x="140866" y="90775"/>
                  <a:pt x="135875" y="90631"/>
                </a:quadBezTo>
                <a:lnTo>
                  <a:pt x="12050" y="90631"/>
                </a:lnTo>
                <a:quadBezTo>
                  <a:pt x="7059" y="90775"/>
                  <a:pt x="3631" y="87144"/>
                </a:quadBezTo>
                <a:quadBezTo>
                  <a:pt x="0" y="83716"/>
                  <a:pt x="144" y="78725"/>
                </a:quadBezTo>
                <a:quadBezTo>
                  <a:pt x="0" y="73734"/>
                  <a:pt x="3631" y="70306"/>
                </a:quadBezTo>
                <a:quadBezTo>
                  <a:pt x="7059" y="66675"/>
                  <a:pt x="12050" y="66819"/>
                </a:quadBezTo>
                <a:close/>
              </a:path>
            </a:pathLst>
          </a:custGeom>
          <a:solidFill>
            <a:srgbClr val="3DD6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"/>
          <p:cNvSpPr txBox="1"/>
          <p:nvPr/>
        </p:nvSpPr>
        <p:spPr>
          <a:xfrm>
            <a:off x="1581150" y="6153150"/>
            <a:ext cx="2800350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4050"/>
              </a:lnSpc>
            </a:pPr>
            <a:r>
              <a:rPr lang="zh-CN" sz="31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只会说，不会做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581150" y="6877050"/>
            <a:ext cx="4033838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300"/>
              </a:lnSpc>
            </a:pPr>
            <a:r>
              <a:rPr lang="en-US" sz="2100">
                <a:solidFill>
                  <a:srgbClr val="A9C2B9"/>
                </a:solidFill>
                <a:latin typeface="Source Han Sans CN"/>
                <a:ea typeface="Source Han Sans CN"/>
                <a:cs typeface="Source Han Sans CN"/>
              </a:rPr>
              <a:t>AI </a:t>
            </a:r>
          </a:p>
        </p:txBody>
      </p:sp>
      <p:sp>
        <p:nvSpPr>
          <p:cNvPr id="15" name="Rectangle"/>
          <p:cNvSpPr/>
          <p:nvPr/>
        </p:nvSpPr>
        <p:spPr>
          <a:xfrm>
            <a:off x="1147763" y="4252913"/>
            <a:ext cx="5067300" cy="4181475"/>
          </a:xfrm>
          <a:prstGeom prst="roundRect">
            <a:avLst>
              <a:gd name="adj" fmla="val 5808"/>
            </a:avLst>
          </a:prstGeom>
          <a:noFill/>
          <a:ln w="9525">
            <a:solidFill>
              <a:srgbClr val="FFFFFF">
                <a:alpha val="9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"/>
          <p:cNvSpPr/>
          <p:nvPr/>
        </p:nvSpPr>
        <p:spPr>
          <a:xfrm>
            <a:off x="6600825" y="4248150"/>
            <a:ext cx="5076825" cy="4191000"/>
          </a:xfrm>
          <a:prstGeom prst="roundRect">
            <a:avLst>
              <a:gd name="adj" fmla="val 590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7038975" y="4686300"/>
            <a:ext cx="32080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en-US" sz="1950" spc="225">
                <a:solidFill>
                  <a:srgbClr val="3DD68C"/>
                </a:solidFill>
                <a:latin typeface="Source Han Sans CN Bold"/>
                <a:ea typeface="Source Han Sans CN Bold"/>
                <a:cs typeface="Source Han Sans CN Bold"/>
              </a:rPr>
              <a:t>02</a:t>
            </a:r>
          </a:p>
        </p:txBody>
      </p:sp>
      <p:sp>
        <p:nvSpPr>
          <p:cNvPr id="18" name="Rectangle"/>
          <p:cNvSpPr/>
          <p:nvPr/>
        </p:nvSpPr>
        <p:spPr>
          <a:xfrm>
            <a:off x="7038975" y="5219700"/>
            <a:ext cx="723900" cy="723900"/>
          </a:xfrm>
          <a:prstGeom prst="roundRect">
            <a:avLst>
              <a:gd name="adj" fmla="val 28947"/>
            </a:avLst>
          </a:prstGeom>
          <a:solidFill>
            <a:srgbClr val="29B894">
              <a:alpha val="1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"/>
          <p:cNvSpPr/>
          <p:nvPr/>
        </p:nvSpPr>
        <p:spPr>
          <a:xfrm>
            <a:off x="7210425" y="5495925"/>
            <a:ext cx="161925" cy="161925"/>
          </a:xfrm>
          <a:prstGeom prst="roundRect">
            <a:avLst>
              <a:gd name="adj" fmla="val 29411"/>
            </a:avLst>
          </a:prstGeom>
          <a:noFill/>
          <a:ln w="23813">
            <a:solidFill>
              <a:srgbClr val="3DD68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"/>
          <p:cNvSpPr/>
          <p:nvPr/>
        </p:nvSpPr>
        <p:spPr>
          <a:xfrm>
            <a:off x="7429500" y="5495925"/>
            <a:ext cx="161925" cy="161925"/>
          </a:xfrm>
          <a:prstGeom prst="roundRect">
            <a:avLst>
              <a:gd name="adj" fmla="val 29411"/>
            </a:avLst>
          </a:prstGeom>
          <a:noFill/>
          <a:ln w="23813">
            <a:solidFill>
              <a:srgbClr val="3DD68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1" name="Path"/>
          <p:cNvSpPr/>
          <p:nvPr/>
        </p:nvSpPr>
        <p:spPr>
          <a:xfrm>
            <a:off x="7369825" y="5564838"/>
            <a:ext cx="39340" cy="24100"/>
          </a:xfrm>
          <a:custGeom>
            <a:avLst/>
            <a:gdLst/>
            <a:ahLst/>
            <a:cxnLst/>
            <a:rect l="0" t="0" r="r" b="b"/>
            <a:pathLst>
              <a:path w="39340" h="24100">
                <a:moveTo>
                  <a:pt x="12050" y="144"/>
                </a:moveTo>
                <a:lnTo>
                  <a:pt x="27290" y="144"/>
                </a:lnTo>
                <a:quadBezTo>
                  <a:pt x="32281" y="0"/>
                  <a:pt x="35709" y="3631"/>
                </a:quadBezTo>
                <a:quadBezTo>
                  <a:pt x="39340" y="7059"/>
                  <a:pt x="39196" y="12050"/>
                </a:quadBezTo>
                <a:quadBezTo>
                  <a:pt x="39340" y="17041"/>
                  <a:pt x="35709" y="20469"/>
                </a:quadBezTo>
                <a:quadBezTo>
                  <a:pt x="32281" y="24100"/>
                  <a:pt x="27290" y="23956"/>
                </a:quadBezTo>
                <a:lnTo>
                  <a:pt x="12050" y="23956"/>
                </a:lnTo>
                <a:quadBezTo>
                  <a:pt x="7059" y="24100"/>
                  <a:pt x="3631" y="20469"/>
                </a:quadBezTo>
                <a:quadBezTo>
                  <a:pt x="0" y="17041"/>
                  <a:pt x="144" y="12050"/>
                </a:quadBezTo>
                <a:quadBezTo>
                  <a:pt x="0" y="7059"/>
                  <a:pt x="3631" y="3631"/>
                </a:quadBezTo>
                <a:quadBezTo>
                  <a:pt x="7059" y="0"/>
                  <a:pt x="12050" y="144"/>
                </a:quadBezTo>
                <a:close/>
              </a:path>
            </a:pathLst>
          </a:custGeom>
          <a:solidFill>
            <a:srgbClr val="3DD6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Path"/>
          <p:cNvSpPr/>
          <p:nvPr/>
        </p:nvSpPr>
        <p:spPr>
          <a:xfrm>
            <a:off x="7284100" y="5683900"/>
            <a:ext cx="233650" cy="90775"/>
          </a:xfrm>
          <a:custGeom>
            <a:avLst/>
            <a:gdLst/>
            <a:ahLst/>
            <a:cxnLst/>
            <a:rect l="0" t="0" r="r" b="b"/>
            <a:pathLst>
              <a:path w="233650" h="90775">
                <a:moveTo>
                  <a:pt x="23956" y="12050"/>
                </a:moveTo>
                <a:lnTo>
                  <a:pt x="23956" y="78725"/>
                </a:lnTo>
                <a:quadBezTo>
                  <a:pt x="24100" y="83716"/>
                  <a:pt x="20469" y="87144"/>
                </a:quadBezTo>
                <a:quadBezTo>
                  <a:pt x="17041" y="90775"/>
                  <a:pt x="12050" y="90631"/>
                </a:quadBezTo>
                <a:quadBezTo>
                  <a:pt x="7059" y="90775"/>
                  <a:pt x="3631" y="87144"/>
                </a:quadBezTo>
                <a:quadBezTo>
                  <a:pt x="0" y="83716"/>
                  <a:pt x="144" y="78725"/>
                </a:quadBezTo>
                <a:lnTo>
                  <a:pt x="144" y="12050"/>
                </a:lnTo>
                <a:quadBezTo>
                  <a:pt x="0" y="7059"/>
                  <a:pt x="3631" y="3631"/>
                </a:quadBezTo>
                <a:quadBezTo>
                  <a:pt x="7059" y="0"/>
                  <a:pt x="12050" y="144"/>
                </a:quadBezTo>
                <a:quadBezTo>
                  <a:pt x="17041" y="0"/>
                  <a:pt x="20469" y="3631"/>
                </a:quadBezTo>
                <a:quadBezTo>
                  <a:pt x="24100" y="7059"/>
                  <a:pt x="23956" y="12050"/>
                </a:quadBezTo>
                <a:close/>
                <a:moveTo>
                  <a:pt x="233506" y="12050"/>
                </a:moveTo>
                <a:lnTo>
                  <a:pt x="233506" y="78725"/>
                </a:lnTo>
                <a:quadBezTo>
                  <a:pt x="233650" y="83716"/>
                  <a:pt x="230019" y="87144"/>
                </a:quadBezTo>
                <a:quadBezTo>
                  <a:pt x="226591" y="90775"/>
                  <a:pt x="221600" y="90631"/>
                </a:quadBezTo>
                <a:quadBezTo>
                  <a:pt x="216609" y="90775"/>
                  <a:pt x="213181" y="87144"/>
                </a:quadBezTo>
                <a:quadBezTo>
                  <a:pt x="209550" y="83716"/>
                  <a:pt x="209694" y="78725"/>
                </a:quadBezTo>
                <a:lnTo>
                  <a:pt x="209694" y="12050"/>
                </a:lnTo>
                <a:quadBezTo>
                  <a:pt x="209550" y="7059"/>
                  <a:pt x="213181" y="3631"/>
                </a:quadBezTo>
                <a:quadBezTo>
                  <a:pt x="216609" y="0"/>
                  <a:pt x="221600" y="144"/>
                </a:quadBezTo>
                <a:quadBezTo>
                  <a:pt x="226591" y="0"/>
                  <a:pt x="230019" y="3631"/>
                </a:quadBezTo>
                <a:quadBezTo>
                  <a:pt x="233650" y="7059"/>
                  <a:pt x="233506" y="12050"/>
                </a:quadBezTo>
                <a:close/>
              </a:path>
            </a:pathLst>
          </a:custGeom>
          <a:solidFill>
            <a:srgbClr val="3DD68C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"/>
          <p:cNvSpPr txBox="1"/>
          <p:nvPr/>
        </p:nvSpPr>
        <p:spPr>
          <a:xfrm>
            <a:off x="7038975" y="6153150"/>
            <a:ext cx="2800350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4050"/>
              </a:lnSpc>
            </a:pPr>
            <a:r>
              <a:rPr lang="zh-CN" sz="31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数据与系统割裂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7038975" y="6877050"/>
            <a:ext cx="4121582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300"/>
              </a:lnSpc>
            </a:pPr>
            <a:r>
              <a:rPr lang="zh-CN" sz="2100">
                <a:solidFill>
                  <a:srgbClr val="A9C2B9"/>
                </a:solidFill>
                <a:latin typeface="Source Han Sans CN"/>
                <a:ea typeface="Source Han Sans CN"/>
                <a:cs typeface="Source Han Sans CN"/>
              </a:rPr>
              <a:t>IM 各自为政，AI </a:t>
            </a:r>
          </a:p>
        </p:txBody>
      </p:sp>
      <p:sp>
        <p:nvSpPr>
          <p:cNvPr id="25" name="Rectangle"/>
          <p:cNvSpPr/>
          <p:nvPr/>
        </p:nvSpPr>
        <p:spPr>
          <a:xfrm>
            <a:off x="6605588" y="4252913"/>
            <a:ext cx="5067300" cy="4181475"/>
          </a:xfrm>
          <a:prstGeom prst="roundRect">
            <a:avLst>
              <a:gd name="adj" fmla="val 5808"/>
            </a:avLst>
          </a:prstGeom>
          <a:noFill/>
          <a:ln w="9525">
            <a:solidFill>
              <a:srgbClr val="FFFFFF">
                <a:alpha val="9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"/>
          <p:cNvSpPr/>
          <p:nvPr/>
        </p:nvSpPr>
        <p:spPr>
          <a:xfrm>
            <a:off x="12058650" y="4248150"/>
            <a:ext cx="5076825" cy="4191000"/>
          </a:xfrm>
          <a:prstGeom prst="roundRect">
            <a:avLst>
              <a:gd name="adj" fmla="val 590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"/>
          <p:cNvSpPr txBox="1"/>
          <p:nvPr/>
        </p:nvSpPr>
        <p:spPr>
          <a:xfrm>
            <a:off x="12496800" y="4686300"/>
            <a:ext cx="32080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en-US" sz="1950" spc="225">
                <a:solidFill>
                  <a:srgbClr val="3DD68C"/>
                </a:solidFill>
                <a:latin typeface="Source Han Sans CN Bold"/>
                <a:ea typeface="Source Han Sans CN Bold"/>
                <a:cs typeface="Source Han Sans CN Bold"/>
              </a:rPr>
              <a:t>03</a:t>
            </a:r>
          </a:p>
        </p:txBody>
      </p:sp>
      <p:sp>
        <p:nvSpPr>
          <p:cNvPr id="28" name="Rectangle"/>
          <p:cNvSpPr/>
          <p:nvPr/>
        </p:nvSpPr>
        <p:spPr>
          <a:xfrm>
            <a:off x="12496800" y="5219700"/>
            <a:ext cx="723900" cy="723900"/>
          </a:xfrm>
          <a:prstGeom prst="roundRect">
            <a:avLst>
              <a:gd name="adj" fmla="val 28947"/>
            </a:avLst>
          </a:prstGeom>
          <a:solidFill>
            <a:srgbClr val="29B894">
              <a:alpha val="1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Path"/>
          <p:cNvSpPr/>
          <p:nvPr/>
        </p:nvSpPr>
        <p:spPr>
          <a:xfrm>
            <a:off x="12664748" y="5398279"/>
            <a:ext cx="388003" cy="195291"/>
          </a:xfrm>
          <a:custGeom>
            <a:avLst/>
            <a:gdLst/>
            <a:ahLst/>
            <a:cxnLst/>
            <a:rect l="0" t="0" r="r" b="b"/>
            <a:pathLst>
              <a:path w="388003" h="195291">
                <a:moveTo>
                  <a:pt x="380074" y="86885"/>
                </a:moveTo>
                <a:quadBezTo>
                  <a:pt x="381940" y="87764"/>
                  <a:pt x="383396" y="89227"/>
                </a:quadBezTo>
                <a:quadBezTo>
                  <a:pt x="384858" y="90682"/>
                  <a:pt x="385737" y="92549"/>
                </a:quadBezTo>
                <a:quadBezTo>
                  <a:pt x="388003" y="96998"/>
                  <a:pt x="386189" y="101650"/>
                </a:quadBezTo>
                <a:quadBezTo>
                  <a:pt x="384646" y="106399"/>
                  <a:pt x="380074" y="108406"/>
                </a:quadBezTo>
                <a:lnTo>
                  <a:pt x="199099" y="194131"/>
                </a:lnTo>
                <a:quadBezTo>
                  <a:pt x="196682" y="195291"/>
                  <a:pt x="194002" y="195277"/>
                </a:quadBezTo>
                <a:quadBezTo>
                  <a:pt x="191321" y="195291"/>
                  <a:pt x="188905" y="194131"/>
                </a:quadBezTo>
                <a:lnTo>
                  <a:pt x="7930" y="108406"/>
                </a:lnTo>
                <a:quadBezTo>
                  <a:pt x="6063" y="107527"/>
                  <a:pt x="4608" y="106065"/>
                </a:quadBezTo>
                <a:quadBezTo>
                  <a:pt x="3145" y="104609"/>
                  <a:pt x="2267" y="102742"/>
                </a:quadBezTo>
                <a:quadBezTo>
                  <a:pt x="0" y="98293"/>
                  <a:pt x="1814" y="93641"/>
                </a:quadBezTo>
                <a:quadBezTo>
                  <a:pt x="3357" y="88892"/>
                  <a:pt x="7930" y="86885"/>
                </a:quadBezTo>
                <a:lnTo>
                  <a:pt x="188905" y="1160"/>
                </a:lnTo>
                <a:quadBezTo>
                  <a:pt x="191321" y="0"/>
                  <a:pt x="194002" y="14"/>
                </a:quadBezTo>
                <a:quadBezTo>
                  <a:pt x="196682" y="0"/>
                  <a:pt x="199099" y="1160"/>
                </a:quadBezTo>
                <a:lnTo>
                  <a:pt x="380074" y="86885"/>
                </a:lnTo>
                <a:close/>
                <a:moveTo>
                  <a:pt x="194002" y="25095"/>
                </a:moveTo>
                <a:lnTo>
                  <a:pt x="40839" y="97646"/>
                </a:lnTo>
                <a:lnTo>
                  <a:pt x="194002" y="170196"/>
                </a:lnTo>
                <a:lnTo>
                  <a:pt x="347164" y="97646"/>
                </a:lnTo>
                <a:lnTo>
                  <a:pt x="194002" y="25095"/>
                </a:lnTo>
                <a:close/>
              </a:path>
            </a:pathLst>
          </a:custGeom>
          <a:solidFill>
            <a:srgbClr val="3DD6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Path"/>
          <p:cNvSpPr/>
          <p:nvPr/>
        </p:nvSpPr>
        <p:spPr>
          <a:xfrm>
            <a:off x="12672679" y="5589940"/>
            <a:ext cx="331927" cy="107245"/>
          </a:xfrm>
          <a:custGeom>
            <a:avLst/>
            <a:gdLst/>
            <a:ahLst/>
            <a:cxnLst/>
            <a:rect l="0" t="0" r="r" b="b"/>
            <a:pathLst>
              <a:path w="331927" h="107245">
                <a:moveTo>
                  <a:pt x="10194" y="0"/>
                </a:moveTo>
                <a:lnTo>
                  <a:pt x="60465" y="23813"/>
                </a:lnTo>
                <a:lnTo>
                  <a:pt x="50271" y="45333"/>
                </a:lnTo>
                <a:lnTo>
                  <a:pt x="0" y="21520"/>
                </a:lnTo>
                <a:lnTo>
                  <a:pt x="10194" y="0"/>
                </a:lnTo>
                <a:close/>
                <a:moveTo>
                  <a:pt x="271463" y="42863"/>
                </a:moveTo>
                <a:lnTo>
                  <a:pt x="321733" y="19050"/>
                </a:lnTo>
                <a:lnTo>
                  <a:pt x="331927" y="40570"/>
                </a:lnTo>
                <a:lnTo>
                  <a:pt x="281656" y="64383"/>
                </a:lnTo>
                <a:lnTo>
                  <a:pt x="271463" y="42863"/>
                </a:lnTo>
                <a:close/>
                <a:moveTo>
                  <a:pt x="100681" y="42863"/>
                </a:moveTo>
                <a:lnTo>
                  <a:pt x="150952" y="66675"/>
                </a:lnTo>
                <a:lnTo>
                  <a:pt x="140758" y="88195"/>
                </a:lnTo>
                <a:lnTo>
                  <a:pt x="90488" y="64383"/>
                </a:lnTo>
                <a:lnTo>
                  <a:pt x="100681" y="42863"/>
                </a:lnTo>
                <a:close/>
                <a:moveTo>
                  <a:pt x="180975" y="85725"/>
                </a:moveTo>
                <a:lnTo>
                  <a:pt x="231246" y="61913"/>
                </a:lnTo>
                <a:lnTo>
                  <a:pt x="241440" y="83433"/>
                </a:lnTo>
                <a:lnTo>
                  <a:pt x="191169" y="107245"/>
                </a:lnTo>
                <a:lnTo>
                  <a:pt x="180975" y="85725"/>
                </a:lnTo>
                <a:close/>
              </a:path>
            </a:pathLst>
          </a:custGeom>
          <a:solidFill>
            <a:srgbClr val="3DD6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Path"/>
          <p:cNvSpPr/>
          <p:nvPr/>
        </p:nvSpPr>
        <p:spPr>
          <a:xfrm>
            <a:off x="12672678" y="5685190"/>
            <a:ext cx="372144" cy="108406"/>
          </a:xfrm>
          <a:custGeom>
            <a:avLst/>
            <a:gdLst/>
            <a:ahLst/>
            <a:cxnLst/>
            <a:rect l="0" t="0" r="r" b="b"/>
            <a:pathLst>
              <a:path w="372144" h="108406">
                <a:moveTo>
                  <a:pt x="10194" y="0"/>
                </a:moveTo>
                <a:lnTo>
                  <a:pt x="186072" y="83311"/>
                </a:lnTo>
                <a:lnTo>
                  <a:pt x="361950" y="0"/>
                </a:lnTo>
                <a:lnTo>
                  <a:pt x="372144" y="21520"/>
                </a:lnTo>
                <a:lnTo>
                  <a:pt x="191169" y="107245"/>
                </a:lnTo>
                <a:quadBezTo>
                  <a:pt x="188752" y="108406"/>
                  <a:pt x="186072" y="108391"/>
                </a:quadBezTo>
                <a:quadBezTo>
                  <a:pt x="183391" y="108406"/>
                  <a:pt x="180975" y="107245"/>
                </a:quadBezTo>
                <a:lnTo>
                  <a:pt x="0" y="21520"/>
                </a:lnTo>
                <a:lnTo>
                  <a:pt x="10194" y="0"/>
                </a:lnTo>
                <a:close/>
              </a:path>
            </a:pathLst>
          </a:custGeom>
          <a:solidFill>
            <a:srgbClr val="3DD68C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"/>
          <p:cNvSpPr txBox="1"/>
          <p:nvPr/>
        </p:nvSpPr>
        <p:spPr>
          <a:xfrm>
            <a:off x="12496800" y="6153150"/>
            <a:ext cx="2400300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4050"/>
              </a:lnSpc>
            </a:pPr>
            <a:r>
              <a:rPr lang="zh-CN" sz="31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能力无法沉淀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12496800" y="6877050"/>
            <a:ext cx="3793541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300"/>
              </a:lnSpc>
            </a:pPr>
            <a:r>
              <a:rPr lang="en-US" sz="2100">
                <a:solidFill>
                  <a:srgbClr val="A9C2B9"/>
                </a:solidFill>
                <a:latin typeface="Source Han Sans CN"/>
                <a:ea typeface="Source Han Sans CN"/>
                <a:cs typeface="Source Han Sans CN"/>
              </a:rPr>
              <a:t> SOP </a:t>
            </a:r>
          </a:p>
        </p:txBody>
      </p:sp>
      <p:sp>
        <p:nvSpPr>
          <p:cNvPr id="34" name="Rectangle"/>
          <p:cNvSpPr/>
          <p:nvPr/>
        </p:nvSpPr>
        <p:spPr>
          <a:xfrm>
            <a:off x="12063413" y="4252913"/>
            <a:ext cx="5067300" cy="4181475"/>
          </a:xfrm>
          <a:prstGeom prst="roundRect">
            <a:avLst>
              <a:gd name="adj" fmla="val 5808"/>
            </a:avLst>
          </a:prstGeom>
          <a:noFill/>
          <a:ln w="9525">
            <a:solidFill>
              <a:srgbClr val="FFFFFF">
                <a:alpha val="9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"/>
          <p:cNvSpPr txBox="1"/>
          <p:nvPr/>
        </p:nvSpPr>
        <p:spPr>
          <a:xfrm>
            <a:off x="1143000" y="9010650"/>
            <a:ext cx="3816249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zh-CN" sz="1800">
                <a:solidFill>
                  <a:srgbClr val="6E8D83"/>
                </a:solidFill>
                <a:latin typeface="Source Han Sans CN"/>
                <a:ea typeface="Source Han Sans CN"/>
                <a:cs typeface="Source Han Sans CN"/>
              </a:rPr>
              <a:t>WorkBuddy  ·  企业级 AI 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16849725" y="9010650"/>
            <a:ext cx="29222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en-US" sz="1950">
                <a:solidFill>
                  <a:srgbClr val="3DD68C"/>
                </a:solidFill>
                <a:latin typeface="Source Han Sans CN Bold"/>
                <a:ea typeface="Source Han Sans CN Bold"/>
                <a:cs typeface="Source Han Sans CN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BF2F0"/>
              </a:gs>
            </a:gsLst>
            <a:lin ang="1761465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1047750"/>
            <a:ext cx="2258568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en-US" sz="2100" spc="300">
                <a:solidFill>
                  <a:srgbClr val="28B894"/>
                </a:solidFill>
                <a:latin typeface="Source Han Sans CN"/>
                <a:ea typeface="Source Han Sans CN"/>
                <a:cs typeface="Source Han Sans CN"/>
              </a:rPr>
              <a:t>02  · 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695450"/>
            <a:ext cx="5938114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6450"/>
              </a:lnSpc>
            </a:pPr>
            <a:r>
              <a:rPr lang="en-US" sz="5100">
                <a:solidFill>
                  <a:srgbClr val="0E201A"/>
                </a:solidFill>
                <a:latin typeface="Source Han Sans CN"/>
                <a:ea typeface="Source Han Sans CN"/>
                <a:cs typeface="Source Han Sans CN"/>
              </a:rPr>
              <a:t>WorkBuddy 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800350"/>
            <a:ext cx="810072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600"/>
              </a:lnSpc>
            </a:pPr>
            <a:r>
              <a:rPr lang="zh-CN" sz="2250">
                <a:solidFill>
                  <a:srgbClr val="4A5F58"/>
                </a:solidFill>
                <a:latin typeface="Source Han Sans CN"/>
                <a:ea typeface="Source Han Sans CN"/>
                <a:cs typeface="Source Han Sans CN"/>
              </a:rPr>
              <a:t> AI 办公工作台。它不是又一个聊天窗口，而是一个能真正接手任务、交付成果的 AI </a:t>
            </a:r>
          </a:p>
        </p:txBody>
      </p:sp>
      <p:sp>
        <p:nvSpPr>
          <p:cNvPr id="6" name="Ellipse"/>
          <p:cNvSpPr/>
          <p:nvPr/>
        </p:nvSpPr>
        <p:spPr>
          <a:xfrm>
            <a:off x="1152525" y="4057650"/>
            <a:ext cx="304800" cy="304800"/>
          </a:xfrm>
          <a:prstGeom prst="ellipse">
            <a:avLst/>
          </a:prstGeom>
          <a:solidFill>
            <a:srgbClr val="28B894">
              <a:alpha val="1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Path"/>
          <p:cNvSpPr/>
          <p:nvPr/>
        </p:nvSpPr>
        <p:spPr>
          <a:xfrm>
            <a:off x="1226200" y="4155138"/>
            <a:ext cx="157450" cy="114587"/>
          </a:xfrm>
          <a:custGeom>
            <a:avLst/>
            <a:gdLst/>
            <a:ahLst/>
            <a:cxnLst/>
            <a:rect l="0" t="0" r="r" b="b"/>
            <a:pathLst>
              <a:path w="157450" h="114587">
                <a:moveTo>
                  <a:pt x="20469" y="51256"/>
                </a:moveTo>
                <a:lnTo>
                  <a:pt x="54912" y="85699"/>
                </a:lnTo>
                <a:lnTo>
                  <a:pt x="136981" y="3631"/>
                </a:lnTo>
                <a:quadBezTo>
                  <a:pt x="140409" y="0"/>
                  <a:pt x="145400" y="144"/>
                </a:quadBezTo>
                <a:quadBezTo>
                  <a:pt x="150391" y="0"/>
                  <a:pt x="153819" y="3631"/>
                </a:quadBezTo>
                <a:quadBezTo>
                  <a:pt x="157450" y="7059"/>
                  <a:pt x="157306" y="12050"/>
                </a:quadBezTo>
                <a:quadBezTo>
                  <a:pt x="157450" y="17041"/>
                  <a:pt x="153819" y="20469"/>
                </a:quadBezTo>
                <a:lnTo>
                  <a:pt x="63331" y="110956"/>
                </a:lnTo>
                <a:quadBezTo>
                  <a:pt x="59904" y="114587"/>
                  <a:pt x="54912" y="114444"/>
                </a:quadBezTo>
                <a:quadBezTo>
                  <a:pt x="49921" y="114587"/>
                  <a:pt x="46493" y="110956"/>
                </a:quadBezTo>
                <a:lnTo>
                  <a:pt x="3631" y="68094"/>
                </a:lnTo>
                <a:quadBezTo>
                  <a:pt x="0" y="64666"/>
                  <a:pt x="144" y="59675"/>
                </a:quadBezTo>
                <a:quadBezTo>
                  <a:pt x="0" y="54684"/>
                  <a:pt x="3631" y="51256"/>
                </a:quadBezTo>
                <a:quadBezTo>
                  <a:pt x="7059" y="47625"/>
                  <a:pt x="12050" y="47769"/>
                </a:quadBezTo>
                <a:quadBezTo>
                  <a:pt x="17041" y="47625"/>
                  <a:pt x="20469" y="51256"/>
                </a:quadBezTo>
                <a:close/>
              </a:path>
            </a:pathLst>
          </a:custGeom>
          <a:solidFill>
            <a:srgbClr val="28B89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"/>
          <p:cNvSpPr txBox="1"/>
          <p:nvPr/>
        </p:nvSpPr>
        <p:spPr>
          <a:xfrm>
            <a:off x="1638300" y="4000500"/>
            <a:ext cx="51435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300"/>
              </a:lnSpc>
            </a:pPr>
            <a:r>
              <a:rPr lang="zh-CN" sz="2250">
                <a:solidFill>
                  <a:srgbClr val="22352E"/>
                </a:solidFill>
                <a:latin typeface="Source Han Sans CN"/>
                <a:ea typeface="Source Han Sans CN"/>
                <a:cs typeface="Source Han Sans CN"/>
              </a:rPr>
              <a:t>用自然语言下达任务，无需学习操作路径</a:t>
            </a:r>
          </a:p>
        </p:txBody>
      </p:sp>
      <p:sp>
        <p:nvSpPr>
          <p:cNvPr id="9" name="Ellipse"/>
          <p:cNvSpPr/>
          <p:nvPr/>
        </p:nvSpPr>
        <p:spPr>
          <a:xfrm>
            <a:off x="1152525" y="4724400"/>
            <a:ext cx="304800" cy="304800"/>
          </a:xfrm>
          <a:prstGeom prst="ellipse">
            <a:avLst/>
          </a:prstGeom>
          <a:solidFill>
            <a:srgbClr val="28B894">
              <a:alpha val="1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Path"/>
          <p:cNvSpPr/>
          <p:nvPr/>
        </p:nvSpPr>
        <p:spPr>
          <a:xfrm>
            <a:off x="1226200" y="4821888"/>
            <a:ext cx="157450" cy="114587"/>
          </a:xfrm>
          <a:custGeom>
            <a:avLst/>
            <a:gdLst/>
            <a:ahLst/>
            <a:cxnLst/>
            <a:rect l="0" t="0" r="r" b="b"/>
            <a:pathLst>
              <a:path w="157450" h="114587">
                <a:moveTo>
                  <a:pt x="20469" y="51256"/>
                </a:moveTo>
                <a:lnTo>
                  <a:pt x="54912" y="85699"/>
                </a:lnTo>
                <a:lnTo>
                  <a:pt x="136981" y="3631"/>
                </a:lnTo>
                <a:quadBezTo>
                  <a:pt x="140409" y="0"/>
                  <a:pt x="145400" y="144"/>
                </a:quadBezTo>
                <a:quadBezTo>
                  <a:pt x="150391" y="0"/>
                  <a:pt x="153819" y="3631"/>
                </a:quadBezTo>
                <a:quadBezTo>
                  <a:pt x="157450" y="7059"/>
                  <a:pt x="157306" y="12050"/>
                </a:quadBezTo>
                <a:quadBezTo>
                  <a:pt x="157450" y="17041"/>
                  <a:pt x="153819" y="20469"/>
                </a:quadBezTo>
                <a:lnTo>
                  <a:pt x="63331" y="110956"/>
                </a:lnTo>
                <a:quadBezTo>
                  <a:pt x="59904" y="114587"/>
                  <a:pt x="54912" y="114444"/>
                </a:quadBezTo>
                <a:quadBezTo>
                  <a:pt x="49921" y="114587"/>
                  <a:pt x="46493" y="110956"/>
                </a:quadBezTo>
                <a:lnTo>
                  <a:pt x="3631" y="68094"/>
                </a:lnTo>
                <a:quadBezTo>
                  <a:pt x="0" y="64666"/>
                  <a:pt x="144" y="59675"/>
                </a:quadBezTo>
                <a:quadBezTo>
                  <a:pt x="0" y="54684"/>
                  <a:pt x="3631" y="51256"/>
                </a:quadBezTo>
                <a:quadBezTo>
                  <a:pt x="7059" y="47625"/>
                  <a:pt x="12050" y="47769"/>
                </a:quadBezTo>
                <a:quadBezTo>
                  <a:pt x="17041" y="47625"/>
                  <a:pt x="20469" y="51256"/>
                </a:quadBezTo>
                <a:close/>
              </a:path>
            </a:pathLst>
          </a:custGeom>
          <a:solidFill>
            <a:srgbClr val="28B89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"/>
          <p:cNvSpPr txBox="1"/>
          <p:nvPr/>
        </p:nvSpPr>
        <p:spPr>
          <a:xfrm>
            <a:off x="1638300" y="4667250"/>
            <a:ext cx="45720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300"/>
              </a:lnSpc>
            </a:pPr>
            <a:r>
              <a:rPr lang="zh-CN" sz="2250">
                <a:solidFill>
                  <a:srgbClr val="22352E"/>
                </a:solidFill>
                <a:latin typeface="Source Han Sans CN"/>
                <a:ea typeface="Source Han Sans CN"/>
                <a:cs typeface="Source Han Sans CN"/>
              </a:rPr>
              <a:t>自主拆解步骤、调用工具、执行到底</a:t>
            </a:r>
          </a:p>
        </p:txBody>
      </p:sp>
      <p:sp>
        <p:nvSpPr>
          <p:cNvPr id="12" name="Ellipse"/>
          <p:cNvSpPr/>
          <p:nvPr/>
        </p:nvSpPr>
        <p:spPr>
          <a:xfrm>
            <a:off x="1152525" y="5391150"/>
            <a:ext cx="304800" cy="304800"/>
          </a:xfrm>
          <a:prstGeom prst="ellipse">
            <a:avLst/>
          </a:prstGeom>
          <a:solidFill>
            <a:srgbClr val="28B894">
              <a:alpha val="1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ath"/>
          <p:cNvSpPr/>
          <p:nvPr/>
        </p:nvSpPr>
        <p:spPr>
          <a:xfrm>
            <a:off x="1226200" y="5488638"/>
            <a:ext cx="157450" cy="114587"/>
          </a:xfrm>
          <a:custGeom>
            <a:avLst/>
            <a:gdLst/>
            <a:ahLst/>
            <a:cxnLst/>
            <a:rect l="0" t="0" r="r" b="b"/>
            <a:pathLst>
              <a:path w="157450" h="114587">
                <a:moveTo>
                  <a:pt x="20469" y="51256"/>
                </a:moveTo>
                <a:lnTo>
                  <a:pt x="54912" y="85699"/>
                </a:lnTo>
                <a:lnTo>
                  <a:pt x="136981" y="3631"/>
                </a:lnTo>
                <a:quadBezTo>
                  <a:pt x="140409" y="0"/>
                  <a:pt x="145400" y="144"/>
                </a:quadBezTo>
                <a:quadBezTo>
                  <a:pt x="150391" y="0"/>
                  <a:pt x="153819" y="3631"/>
                </a:quadBezTo>
                <a:quadBezTo>
                  <a:pt x="157450" y="7059"/>
                  <a:pt x="157306" y="12050"/>
                </a:quadBezTo>
                <a:quadBezTo>
                  <a:pt x="157450" y="17041"/>
                  <a:pt x="153819" y="20469"/>
                </a:quadBezTo>
                <a:lnTo>
                  <a:pt x="63331" y="110956"/>
                </a:lnTo>
                <a:quadBezTo>
                  <a:pt x="59904" y="114587"/>
                  <a:pt x="54912" y="114444"/>
                </a:quadBezTo>
                <a:quadBezTo>
                  <a:pt x="49921" y="114587"/>
                  <a:pt x="46493" y="110956"/>
                </a:quadBezTo>
                <a:lnTo>
                  <a:pt x="3631" y="68094"/>
                </a:lnTo>
                <a:quadBezTo>
                  <a:pt x="0" y="64666"/>
                  <a:pt x="144" y="59675"/>
                </a:quadBezTo>
                <a:quadBezTo>
                  <a:pt x="0" y="54684"/>
                  <a:pt x="3631" y="51256"/>
                </a:quadBezTo>
                <a:quadBezTo>
                  <a:pt x="7059" y="47625"/>
                  <a:pt x="12050" y="47769"/>
                </a:quadBezTo>
                <a:quadBezTo>
                  <a:pt x="17041" y="47625"/>
                  <a:pt x="20469" y="51256"/>
                </a:quadBezTo>
                <a:close/>
              </a:path>
            </a:pathLst>
          </a:custGeom>
          <a:solidFill>
            <a:srgbClr val="28B89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1638300" y="5334000"/>
            <a:ext cx="4888611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300"/>
              </a:lnSpc>
            </a:pPr>
            <a:r>
              <a:rPr lang="en-US" sz="2250">
                <a:solidFill>
                  <a:srgbClr val="22352E"/>
                </a:solidFill>
                <a:latin typeface="Source Han Sans CN"/>
                <a:ea typeface="Source Han Sans CN"/>
                <a:cs typeface="Source Han Sans CN"/>
              </a:rPr>
              <a:t>PPT </a:t>
            </a:r>
          </a:p>
        </p:txBody>
      </p:sp>
      <p:sp>
        <p:nvSpPr>
          <p:cNvPr id="15" name="Rectangle"/>
          <p:cNvSpPr/>
          <p:nvPr/>
        </p:nvSpPr>
        <p:spPr>
          <a:xfrm>
            <a:off x="9906000" y="2238375"/>
            <a:ext cx="7239000" cy="5810250"/>
          </a:xfrm>
          <a:prstGeom prst="roundRect">
            <a:avLst>
              <a:gd name="adj" fmla="val 5245"/>
            </a:avLst>
          </a:prstGeom>
          <a:solidFill>
            <a:srgbClr val="FFFFFF"/>
          </a:solidFill>
          <a:ln>
            <a:noFill/>
          </a:ln>
          <a:effectLst>
            <a:outerShdw blurRad="228600" dist="228600" dir="5400000" algn="ctr" rotWithShape="0">
              <a:srgbClr val="0F292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10420350" y="2752725"/>
            <a:ext cx="257175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zh-CN" sz="2250">
                <a:solidFill>
                  <a:srgbClr val="0E201A"/>
                </a:solidFill>
                <a:effectLst>
                  <a:outerShdw blurRad="228600" dist="228600" dir="5400000" algn="ctr" rotWithShape="0">
                    <a:srgbClr val="0F2921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一次任务，四步闭环</a:t>
            </a:r>
          </a:p>
        </p:txBody>
      </p:sp>
      <p:sp>
        <p:nvSpPr>
          <p:cNvPr id="17" name="Rectangle"/>
          <p:cNvSpPr/>
          <p:nvPr/>
        </p:nvSpPr>
        <p:spPr>
          <a:xfrm>
            <a:off x="10420350" y="35052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28B894"/>
          </a:solidFill>
          <a:ln>
            <a:noFill/>
          </a:ln>
          <a:effectLst>
            <a:outerShdw blurRad="228600" dist="228600" dir="5400000" algn="ctr" rotWithShape="0">
              <a:srgbClr val="0F292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10658475" y="3638550"/>
            <a:ext cx="179832" cy="352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400">
                <a:solidFill>
                  <a:srgbClr val="FFFFFF"/>
                </a:solidFill>
                <a:effectLst>
                  <a:outerShdw blurRad="228600" dist="228600" dir="5400000" algn="ctr" rotWithShape="0">
                    <a:srgbClr val="0F2921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1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11296650" y="3419475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0E201A"/>
                </a:solidFill>
                <a:effectLst>
                  <a:outerShdw blurRad="228600" dist="228600" dir="5400000" algn="ctr" rotWithShape="0">
                    <a:srgbClr val="0F2921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听懂需求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11296650" y="3876675"/>
            <a:ext cx="396240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zh-CN" sz="1950">
                <a:solidFill>
                  <a:srgbClr val="6E8D83"/>
                </a:solidFill>
                <a:effectLst>
                  <a:outerShdw blurRad="228600" dist="228600" dir="5400000" algn="ctr" rotWithShape="0">
                    <a:srgbClr val="0F2921">
                      <a:alpha val="10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用自然语言描述目标，不必拆解指令</a:t>
            </a:r>
          </a:p>
        </p:txBody>
      </p:sp>
      <p:sp>
        <p:nvSpPr>
          <p:cNvPr id="21" name="Rectangle"/>
          <p:cNvSpPr/>
          <p:nvPr/>
        </p:nvSpPr>
        <p:spPr>
          <a:xfrm>
            <a:off x="10420350" y="46101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28B894"/>
          </a:solidFill>
          <a:ln>
            <a:noFill/>
          </a:ln>
          <a:effectLst>
            <a:outerShdw blurRad="228600" dist="228600" dir="5400000" algn="ctr" rotWithShape="0">
              <a:srgbClr val="0F292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10658475" y="4743450"/>
            <a:ext cx="179832" cy="352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400">
                <a:solidFill>
                  <a:srgbClr val="FFFFFF"/>
                </a:solidFill>
                <a:effectLst>
                  <a:outerShdw blurRad="228600" dist="228600" dir="5400000" algn="ctr" rotWithShape="0">
                    <a:srgbClr val="0F2921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2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1296650" y="4524375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0E201A"/>
                </a:solidFill>
                <a:effectLst>
                  <a:outerShdw blurRad="228600" dist="228600" dir="5400000" algn="ctr" rotWithShape="0">
                    <a:srgbClr val="0F2921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自主规划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11296650" y="4981575"/>
            <a:ext cx="396240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zh-CN" sz="1950">
                <a:solidFill>
                  <a:srgbClr val="6E8D83"/>
                </a:solidFill>
                <a:effectLst>
                  <a:outerShdw blurRad="228600" dist="228600" dir="5400000" algn="ctr" rotWithShape="0">
                    <a:srgbClr val="0F2921">
                      <a:alpha val="10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拆解任务步骤，自动选择模型与工具</a:t>
            </a:r>
          </a:p>
        </p:txBody>
      </p:sp>
      <p:sp>
        <p:nvSpPr>
          <p:cNvPr id="25" name="Rectangle"/>
          <p:cNvSpPr/>
          <p:nvPr/>
        </p:nvSpPr>
        <p:spPr>
          <a:xfrm>
            <a:off x="10420350" y="57150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28B894"/>
          </a:solidFill>
          <a:ln>
            <a:noFill/>
          </a:ln>
          <a:effectLst>
            <a:outerShdw blurRad="228600" dist="228600" dir="5400000" algn="ctr" rotWithShape="0">
              <a:srgbClr val="0F292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10658475" y="5848350"/>
            <a:ext cx="179832" cy="352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400">
                <a:solidFill>
                  <a:srgbClr val="FFFFFF"/>
                </a:solidFill>
                <a:effectLst>
                  <a:outerShdw blurRad="228600" dist="228600" dir="5400000" algn="ctr" rotWithShape="0">
                    <a:srgbClr val="0F2921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3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11296650" y="5629275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0E201A"/>
                </a:solidFill>
                <a:effectLst>
                  <a:outerShdw blurRad="228600" dist="228600" dir="5400000" algn="ctr" rotWithShape="0">
                    <a:srgbClr val="0F2921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执行到底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11296650" y="6086475"/>
            <a:ext cx="396240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zh-CN" sz="1950">
                <a:solidFill>
                  <a:srgbClr val="6E8D83"/>
                </a:solidFill>
                <a:effectLst>
                  <a:outerShdw blurRad="228600" dist="228600" dir="5400000" algn="ctr" rotWithShape="0">
                    <a:srgbClr val="0F2921">
                      <a:alpha val="10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读写本地文件，跨系统调用企业数据</a:t>
            </a:r>
          </a:p>
        </p:txBody>
      </p:sp>
      <p:sp>
        <p:nvSpPr>
          <p:cNvPr id="29" name="Rectangle"/>
          <p:cNvSpPr/>
          <p:nvPr/>
        </p:nvSpPr>
        <p:spPr>
          <a:xfrm>
            <a:off x="10420350" y="68199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18794E"/>
          </a:solidFill>
          <a:ln>
            <a:noFill/>
          </a:ln>
          <a:effectLst>
            <a:outerShdw blurRad="228600" dist="228600" dir="5400000" algn="ctr" rotWithShape="0">
              <a:srgbClr val="0F292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Box"/>
          <p:cNvSpPr txBox="1"/>
          <p:nvPr/>
        </p:nvSpPr>
        <p:spPr>
          <a:xfrm>
            <a:off x="10658475" y="6953250"/>
            <a:ext cx="179832" cy="352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400">
                <a:solidFill>
                  <a:srgbClr val="FFFFFF"/>
                </a:solidFill>
                <a:effectLst>
                  <a:outerShdw blurRad="228600" dist="228600" dir="5400000" algn="ctr" rotWithShape="0">
                    <a:srgbClr val="0F2921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4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11296650" y="6734175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0E201A"/>
                </a:solidFill>
                <a:effectLst>
                  <a:outerShdw blurRad="228600" dist="228600" dir="5400000" algn="ctr" rotWithShape="0">
                    <a:srgbClr val="0F2921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交付成果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11296650" y="7191375"/>
            <a:ext cx="3843033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zh-CN" sz="1950">
                <a:solidFill>
                  <a:srgbClr val="6E8D83"/>
                </a:solidFill>
                <a:effectLst>
                  <a:outerShdw blurRad="228600" dist="228600" dir="5400000" algn="ctr" rotWithShape="0">
                    <a:srgbClr val="0F2921">
                      <a:alpha val="10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 / 表格 / PPT</a:t>
            </a:r>
          </a:p>
        </p:txBody>
      </p:sp>
      <p:sp>
        <p:nvSpPr>
          <p:cNvPr id="33" name="Rectangle"/>
          <p:cNvSpPr/>
          <p:nvPr/>
        </p:nvSpPr>
        <p:spPr>
          <a:xfrm>
            <a:off x="9910763" y="2243138"/>
            <a:ext cx="7229475" cy="5800725"/>
          </a:xfrm>
          <a:prstGeom prst="roundRect">
            <a:avLst>
              <a:gd name="adj" fmla="val 5172"/>
            </a:avLst>
          </a:prstGeom>
          <a:noFill/>
          <a:ln w="9525">
            <a:solidFill>
              <a:srgbClr val="DEEDE6"/>
            </a:solidFill>
            <a:miter lim="400000"/>
          </a:ln>
          <a:effectLst>
            <a:outerShdw blurRad="228600" dist="228600" dir="5400000" algn="ctr" rotWithShape="0">
              <a:srgbClr val="0F292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Box"/>
          <p:cNvSpPr txBox="1"/>
          <p:nvPr/>
        </p:nvSpPr>
        <p:spPr>
          <a:xfrm>
            <a:off x="1143000" y="9010650"/>
            <a:ext cx="3816249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zh-CN" sz="1800">
                <a:solidFill>
                  <a:srgbClr val="8AA39A"/>
                </a:solidFill>
                <a:latin typeface="Source Han Sans CN"/>
                <a:ea typeface="Source Han Sans CN"/>
                <a:cs typeface="Source Han Sans CN"/>
              </a:rPr>
              <a:t>WorkBuddy  ·  企业级 AI 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16849725" y="9010650"/>
            <a:ext cx="29222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en-US" sz="1950">
                <a:solidFill>
                  <a:srgbClr val="28B894"/>
                </a:solidFill>
                <a:latin typeface="Source Han Sans CN Bold"/>
                <a:ea typeface="Source Han Sans CN Bold"/>
                <a:cs typeface="Source Han Sans CN Bol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BF2F0"/>
              </a:gs>
            </a:gsLst>
            <a:lin ang="1761465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952500"/>
            <a:ext cx="2258568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en-US" sz="2100" spc="300">
                <a:solidFill>
                  <a:srgbClr val="28B894"/>
                </a:solidFill>
                <a:latin typeface="Source Han Sans CN"/>
                <a:ea typeface="Source Han Sans CN"/>
                <a:cs typeface="Source Han Sans CN"/>
              </a:rPr>
              <a:t>03  · 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524000"/>
            <a:ext cx="880110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6300"/>
              </a:lnSpc>
            </a:pPr>
            <a:r>
              <a:rPr lang="zh-CN" sz="4950">
                <a:solidFill>
                  <a:srgbClr val="0E201A"/>
                </a:solidFill>
                <a:latin typeface="Source Han Sans CN"/>
                <a:ea typeface="Source Han Sans CN"/>
                <a:cs typeface="Source Han Sans CN"/>
              </a:rPr>
              <a:t>四大核心能力，覆盖任务全链路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533650"/>
            <a:ext cx="61341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450"/>
              </a:lnSpc>
            </a:pPr>
            <a:r>
              <a:rPr lang="en-US" sz="2400">
                <a:solidFill>
                  <a:srgbClr val="5C7169"/>
                </a:solidFill>
                <a:latin typeface="Source Han Sans CN"/>
                <a:ea typeface="Source Han Sans CN"/>
                <a:cs typeface="Source Han Sans CN"/>
              </a:rPr>
              <a:t>AI 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3429000"/>
            <a:ext cx="7810500" cy="2524125"/>
          </a:xfrm>
          <a:prstGeom prst="roundRect">
            <a:avLst>
              <a:gd name="adj" fmla="val 10566"/>
            </a:avLst>
          </a:prstGeom>
          <a:solidFill>
            <a:srgbClr val="FFFFFF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Rectangle"/>
          <p:cNvSpPr/>
          <p:nvPr/>
        </p:nvSpPr>
        <p:spPr>
          <a:xfrm>
            <a:off x="1562100" y="3848100"/>
            <a:ext cx="742950" cy="742950"/>
          </a:xfrm>
          <a:prstGeom prst="roundRect">
            <a:avLst>
              <a:gd name="adj" fmla="val 30769"/>
            </a:avLst>
          </a:prstGeom>
          <a:solidFill>
            <a:srgbClr val="29B894">
              <a:alpha val="13000"/>
            </a:srgbClr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1762125" y="4086225"/>
            <a:ext cx="342900" cy="228600"/>
          </a:xfrm>
          <a:prstGeom prst="roundRect">
            <a:avLst>
              <a:gd name="adj" fmla="val 29166"/>
            </a:avLst>
          </a:prstGeom>
          <a:noFill/>
          <a:ln w="23813">
            <a:solidFill>
              <a:srgbClr val="28B894"/>
            </a:solidFill>
            <a:miter lim="400000"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Path"/>
          <p:cNvSpPr/>
          <p:nvPr/>
        </p:nvSpPr>
        <p:spPr>
          <a:xfrm>
            <a:off x="1845325" y="4301924"/>
            <a:ext cx="120201" cy="82101"/>
          </a:xfrm>
          <a:custGeom>
            <a:avLst/>
            <a:gdLst/>
            <a:ahLst/>
            <a:cxnLst/>
            <a:rect l="0" t="0" r="r" b="b"/>
            <a:pathLst>
              <a:path w="120201" h="82101">
                <a:moveTo>
                  <a:pt x="23956" y="12901"/>
                </a:moveTo>
                <a:lnTo>
                  <a:pt x="23956" y="49022"/>
                </a:lnTo>
                <a:lnTo>
                  <a:pt x="101174" y="2691"/>
                </a:lnTo>
                <a:quadBezTo>
                  <a:pt x="105380" y="0"/>
                  <a:pt x="110188" y="1350"/>
                </a:quadBezTo>
                <a:quadBezTo>
                  <a:pt x="115065" y="2421"/>
                  <a:pt x="117509" y="6775"/>
                </a:quadBezTo>
                <a:quadBezTo>
                  <a:pt x="120201" y="10981"/>
                  <a:pt x="118851" y="15788"/>
                </a:quadBezTo>
                <a:quadBezTo>
                  <a:pt x="117779" y="20665"/>
                  <a:pt x="113426" y="23110"/>
                </a:quadBezTo>
                <a:lnTo>
                  <a:pt x="18176" y="80260"/>
                </a:lnTo>
                <a:quadBezTo>
                  <a:pt x="16789" y="81095"/>
                  <a:pt x="15228" y="81525"/>
                </a:quadBezTo>
                <a:quadBezTo>
                  <a:pt x="13669" y="81959"/>
                  <a:pt x="12050" y="81957"/>
                </a:quadBezTo>
                <a:quadBezTo>
                  <a:pt x="7059" y="82101"/>
                  <a:pt x="3631" y="78470"/>
                </a:quadBezTo>
                <a:quadBezTo>
                  <a:pt x="0" y="75042"/>
                  <a:pt x="144" y="70051"/>
                </a:quadBezTo>
                <a:lnTo>
                  <a:pt x="144" y="12901"/>
                </a:lnTo>
                <a:quadBezTo>
                  <a:pt x="0" y="7909"/>
                  <a:pt x="3631" y="4482"/>
                </a:quadBezTo>
                <a:quadBezTo>
                  <a:pt x="7059" y="851"/>
                  <a:pt x="12050" y="994"/>
                </a:quadBezTo>
                <a:quadBezTo>
                  <a:pt x="17041" y="851"/>
                  <a:pt x="20469" y="4482"/>
                </a:quadBezTo>
                <a:quadBezTo>
                  <a:pt x="24100" y="7909"/>
                  <a:pt x="23956" y="12901"/>
                </a:quadBezTo>
                <a:close/>
              </a:path>
            </a:pathLst>
          </a:custGeom>
          <a:solidFill>
            <a:srgbClr val="28B894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Path"/>
          <p:cNvSpPr/>
          <p:nvPr/>
        </p:nvSpPr>
        <p:spPr>
          <a:xfrm>
            <a:off x="1835800" y="4159900"/>
            <a:ext cx="195550" cy="81250"/>
          </a:xfrm>
          <a:custGeom>
            <a:avLst/>
            <a:gdLst/>
            <a:ahLst/>
            <a:cxnLst/>
            <a:rect l="0" t="0" r="r" b="b"/>
            <a:pathLst>
              <a:path w="195550" h="81250">
                <a:moveTo>
                  <a:pt x="12050" y="144"/>
                </a:moveTo>
                <a:lnTo>
                  <a:pt x="183500" y="144"/>
                </a:lnTo>
                <a:quadBezTo>
                  <a:pt x="188491" y="0"/>
                  <a:pt x="191919" y="3631"/>
                </a:quadBezTo>
                <a:quadBezTo>
                  <a:pt x="195550" y="7059"/>
                  <a:pt x="195406" y="12050"/>
                </a:quadBezTo>
                <a:quadBezTo>
                  <a:pt x="195550" y="17041"/>
                  <a:pt x="191919" y="20469"/>
                </a:quadBezTo>
                <a:quadBezTo>
                  <a:pt x="188491" y="24100"/>
                  <a:pt x="183500" y="23956"/>
                </a:quadBezTo>
                <a:lnTo>
                  <a:pt x="12050" y="23956"/>
                </a:lnTo>
                <a:quadBezTo>
                  <a:pt x="7059" y="24100"/>
                  <a:pt x="3631" y="20469"/>
                </a:quadBezTo>
                <a:quadBezTo>
                  <a:pt x="0" y="17041"/>
                  <a:pt x="144" y="12050"/>
                </a:quadBezTo>
                <a:quadBezTo>
                  <a:pt x="0" y="7059"/>
                  <a:pt x="3631" y="3631"/>
                </a:quadBezTo>
                <a:quadBezTo>
                  <a:pt x="7059" y="0"/>
                  <a:pt x="12050" y="144"/>
                </a:quadBezTo>
                <a:close/>
                <a:moveTo>
                  <a:pt x="12050" y="57294"/>
                </a:moveTo>
                <a:lnTo>
                  <a:pt x="116825" y="57294"/>
                </a:lnTo>
                <a:quadBezTo>
                  <a:pt x="121816" y="57150"/>
                  <a:pt x="125244" y="60781"/>
                </a:quadBezTo>
                <a:quadBezTo>
                  <a:pt x="128875" y="64209"/>
                  <a:pt x="128731" y="69200"/>
                </a:quadBezTo>
                <a:quadBezTo>
                  <a:pt x="128875" y="74191"/>
                  <a:pt x="125244" y="77619"/>
                </a:quadBezTo>
                <a:quadBezTo>
                  <a:pt x="121816" y="81250"/>
                  <a:pt x="116825" y="81106"/>
                </a:quadBezTo>
                <a:lnTo>
                  <a:pt x="12050" y="81106"/>
                </a:lnTo>
                <a:quadBezTo>
                  <a:pt x="7059" y="81250"/>
                  <a:pt x="3631" y="77619"/>
                </a:quadBezTo>
                <a:quadBezTo>
                  <a:pt x="0" y="74191"/>
                  <a:pt x="144" y="69200"/>
                </a:quadBezTo>
                <a:quadBezTo>
                  <a:pt x="0" y="64209"/>
                  <a:pt x="3631" y="60781"/>
                </a:quadBezTo>
                <a:quadBezTo>
                  <a:pt x="7059" y="57150"/>
                  <a:pt x="12050" y="57294"/>
                </a:quadBezTo>
                <a:close/>
              </a:path>
            </a:pathLst>
          </a:custGeom>
          <a:solidFill>
            <a:srgbClr val="28B894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Box"/>
          <p:cNvSpPr txBox="1"/>
          <p:nvPr/>
        </p:nvSpPr>
        <p:spPr>
          <a:xfrm>
            <a:off x="2590800" y="3848100"/>
            <a:ext cx="217170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750"/>
              </a:lnSpc>
            </a:pPr>
            <a:r>
              <a:rPr lang="zh-CN" sz="2850">
                <a:solidFill>
                  <a:srgbClr val="0E201A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理解自然语言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2590800" y="4438650"/>
            <a:ext cx="5759177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150"/>
              </a:lnSpc>
            </a:pPr>
            <a:r>
              <a:rPr lang="en-US" sz="2025">
                <a:solidFill>
                  <a:srgbClr val="5C7169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 @ </a:t>
            </a:r>
          </a:p>
        </p:txBody>
      </p:sp>
      <p:sp>
        <p:nvSpPr>
          <p:cNvPr id="13" name="Rectangle"/>
          <p:cNvSpPr/>
          <p:nvPr/>
        </p:nvSpPr>
        <p:spPr>
          <a:xfrm>
            <a:off x="1147763" y="3433763"/>
            <a:ext cx="7800975" cy="2514600"/>
          </a:xfrm>
          <a:prstGeom prst="roundRect">
            <a:avLst>
              <a:gd name="adj" fmla="val 10416"/>
            </a:avLst>
          </a:prstGeom>
          <a:noFill/>
          <a:ln w="9525">
            <a:solidFill>
              <a:srgbClr val="DEEDE6"/>
            </a:solidFill>
            <a:miter lim="400000"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Rectangle"/>
          <p:cNvSpPr/>
          <p:nvPr/>
        </p:nvSpPr>
        <p:spPr>
          <a:xfrm>
            <a:off x="9334500" y="3429000"/>
            <a:ext cx="7810500" cy="2524125"/>
          </a:xfrm>
          <a:prstGeom prst="roundRect">
            <a:avLst>
              <a:gd name="adj" fmla="val 10566"/>
            </a:avLst>
          </a:prstGeom>
          <a:solidFill>
            <a:srgbClr val="FFFFFF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Rectangle"/>
          <p:cNvSpPr/>
          <p:nvPr/>
        </p:nvSpPr>
        <p:spPr>
          <a:xfrm>
            <a:off x="9753600" y="3848100"/>
            <a:ext cx="742950" cy="742950"/>
          </a:xfrm>
          <a:prstGeom prst="roundRect">
            <a:avLst>
              <a:gd name="adj" fmla="val 30769"/>
            </a:avLst>
          </a:prstGeom>
          <a:solidFill>
            <a:srgbClr val="29B894">
              <a:alpha val="13000"/>
            </a:srgbClr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Path"/>
          <p:cNvSpPr/>
          <p:nvPr/>
        </p:nvSpPr>
        <p:spPr>
          <a:xfrm>
            <a:off x="9960625" y="4112275"/>
            <a:ext cx="328900" cy="214600"/>
          </a:xfrm>
          <a:custGeom>
            <a:avLst/>
            <a:gdLst/>
            <a:ahLst/>
            <a:cxnLst/>
            <a:rect l="0" t="0" r="r" b="b"/>
            <a:pathLst>
              <a:path w="328900" h="214600">
                <a:moveTo>
                  <a:pt x="12050" y="144"/>
                </a:moveTo>
                <a:lnTo>
                  <a:pt x="316850" y="144"/>
                </a:lnTo>
                <a:quadBezTo>
                  <a:pt x="321841" y="0"/>
                  <a:pt x="325269" y="3631"/>
                </a:quadBezTo>
                <a:quadBezTo>
                  <a:pt x="328900" y="7059"/>
                  <a:pt x="328756" y="12050"/>
                </a:quadBezTo>
                <a:quadBezTo>
                  <a:pt x="328900" y="17041"/>
                  <a:pt x="325269" y="20469"/>
                </a:quadBezTo>
                <a:quadBezTo>
                  <a:pt x="321841" y="24100"/>
                  <a:pt x="316850" y="23956"/>
                </a:quadBezTo>
                <a:lnTo>
                  <a:pt x="12050" y="23956"/>
                </a:lnTo>
                <a:quadBezTo>
                  <a:pt x="7059" y="24100"/>
                  <a:pt x="3631" y="20469"/>
                </a:quadBezTo>
                <a:quadBezTo>
                  <a:pt x="0" y="17041"/>
                  <a:pt x="144" y="12050"/>
                </a:quadBezTo>
                <a:quadBezTo>
                  <a:pt x="0" y="7059"/>
                  <a:pt x="3631" y="3631"/>
                </a:quadBezTo>
                <a:quadBezTo>
                  <a:pt x="7059" y="0"/>
                  <a:pt x="12050" y="144"/>
                </a:quadBezTo>
                <a:close/>
                <a:moveTo>
                  <a:pt x="12050" y="95394"/>
                </a:moveTo>
                <a:lnTo>
                  <a:pt x="316850" y="95394"/>
                </a:lnTo>
                <a:quadBezTo>
                  <a:pt x="321841" y="95250"/>
                  <a:pt x="325269" y="98881"/>
                </a:quadBezTo>
                <a:quadBezTo>
                  <a:pt x="328900" y="102309"/>
                  <a:pt x="328756" y="107300"/>
                </a:quadBezTo>
                <a:quadBezTo>
                  <a:pt x="328900" y="112291"/>
                  <a:pt x="325269" y="115719"/>
                </a:quadBezTo>
                <a:quadBezTo>
                  <a:pt x="321841" y="119350"/>
                  <a:pt x="316850" y="119206"/>
                </a:quadBezTo>
                <a:lnTo>
                  <a:pt x="12050" y="119206"/>
                </a:lnTo>
                <a:quadBezTo>
                  <a:pt x="7059" y="119350"/>
                  <a:pt x="3631" y="115719"/>
                </a:quadBezTo>
                <a:quadBezTo>
                  <a:pt x="0" y="112291"/>
                  <a:pt x="144" y="107300"/>
                </a:quadBezTo>
                <a:quadBezTo>
                  <a:pt x="0" y="102309"/>
                  <a:pt x="3631" y="98881"/>
                </a:quadBezTo>
                <a:quadBezTo>
                  <a:pt x="7059" y="95250"/>
                  <a:pt x="12050" y="95394"/>
                </a:quadBezTo>
                <a:close/>
                <a:moveTo>
                  <a:pt x="12050" y="190644"/>
                </a:moveTo>
                <a:lnTo>
                  <a:pt x="202550" y="190644"/>
                </a:lnTo>
                <a:quadBezTo>
                  <a:pt x="207541" y="190500"/>
                  <a:pt x="210969" y="194131"/>
                </a:quadBezTo>
                <a:quadBezTo>
                  <a:pt x="214600" y="197559"/>
                  <a:pt x="214456" y="202550"/>
                </a:quadBezTo>
                <a:quadBezTo>
                  <a:pt x="214600" y="207541"/>
                  <a:pt x="210969" y="210969"/>
                </a:quadBezTo>
                <a:quadBezTo>
                  <a:pt x="207541" y="214600"/>
                  <a:pt x="202550" y="214456"/>
                </a:quadBezTo>
                <a:lnTo>
                  <a:pt x="12050" y="214456"/>
                </a:lnTo>
                <a:quadBezTo>
                  <a:pt x="7059" y="214600"/>
                  <a:pt x="3631" y="210969"/>
                </a:quadBezTo>
                <a:quadBezTo>
                  <a:pt x="0" y="207541"/>
                  <a:pt x="144" y="202550"/>
                </a:quadBezTo>
                <a:quadBezTo>
                  <a:pt x="0" y="197559"/>
                  <a:pt x="3631" y="194131"/>
                </a:quadBezTo>
                <a:quadBezTo>
                  <a:pt x="7059" y="190500"/>
                  <a:pt x="12050" y="190644"/>
                </a:quadBezTo>
                <a:close/>
              </a:path>
            </a:pathLst>
          </a:custGeom>
          <a:solidFill>
            <a:srgbClr val="28B894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Ellipse"/>
          <p:cNvSpPr/>
          <p:nvPr/>
        </p:nvSpPr>
        <p:spPr>
          <a:xfrm>
            <a:off x="10005060" y="4099560"/>
            <a:ext cx="49530" cy="49530"/>
          </a:xfrm>
          <a:prstGeom prst="ellipse">
            <a:avLst/>
          </a:prstGeom>
          <a:solidFill>
            <a:srgbClr val="28B894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Ellipse"/>
          <p:cNvSpPr/>
          <p:nvPr/>
        </p:nvSpPr>
        <p:spPr>
          <a:xfrm>
            <a:off x="10005060" y="4194810"/>
            <a:ext cx="49530" cy="49530"/>
          </a:xfrm>
          <a:prstGeom prst="ellipse">
            <a:avLst/>
          </a:prstGeom>
          <a:solidFill>
            <a:srgbClr val="28B894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Ellipse"/>
          <p:cNvSpPr/>
          <p:nvPr/>
        </p:nvSpPr>
        <p:spPr>
          <a:xfrm>
            <a:off x="10005060" y="4290060"/>
            <a:ext cx="49530" cy="49530"/>
          </a:xfrm>
          <a:prstGeom prst="ellipse">
            <a:avLst/>
          </a:prstGeom>
          <a:solidFill>
            <a:srgbClr val="28B894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Box"/>
          <p:cNvSpPr txBox="1"/>
          <p:nvPr/>
        </p:nvSpPr>
        <p:spPr>
          <a:xfrm>
            <a:off x="10782300" y="3848100"/>
            <a:ext cx="217170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750"/>
              </a:lnSpc>
            </a:pPr>
            <a:r>
              <a:rPr lang="zh-CN" sz="2850">
                <a:solidFill>
                  <a:srgbClr val="0E201A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自主规划执行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10782300" y="4438650"/>
            <a:ext cx="5400675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025">
                <a:solidFill>
                  <a:srgbClr val="5C7169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自动拆解任务、规划步骤，按需选择模型与工具</a:t>
            </a:r>
          </a:p>
        </p:txBody>
      </p:sp>
      <p:sp>
        <p:nvSpPr>
          <p:cNvPr id="22" name="Rectangle"/>
          <p:cNvSpPr/>
          <p:nvPr/>
        </p:nvSpPr>
        <p:spPr>
          <a:xfrm>
            <a:off x="9339263" y="3433763"/>
            <a:ext cx="7800975" cy="2514600"/>
          </a:xfrm>
          <a:prstGeom prst="roundRect">
            <a:avLst>
              <a:gd name="adj" fmla="val 10416"/>
            </a:avLst>
          </a:prstGeom>
          <a:noFill/>
          <a:ln w="9525">
            <a:solidFill>
              <a:srgbClr val="DEEDE6"/>
            </a:solidFill>
            <a:miter lim="400000"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Rectangle"/>
          <p:cNvSpPr/>
          <p:nvPr/>
        </p:nvSpPr>
        <p:spPr>
          <a:xfrm>
            <a:off x="1143000" y="6334125"/>
            <a:ext cx="7810500" cy="2524125"/>
          </a:xfrm>
          <a:prstGeom prst="roundRect">
            <a:avLst>
              <a:gd name="adj" fmla="val 10566"/>
            </a:avLst>
          </a:prstGeom>
          <a:solidFill>
            <a:srgbClr val="FFFFFF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Rectangle"/>
          <p:cNvSpPr/>
          <p:nvPr/>
        </p:nvSpPr>
        <p:spPr>
          <a:xfrm>
            <a:off x="1562100" y="6753225"/>
            <a:ext cx="742950" cy="742950"/>
          </a:xfrm>
          <a:prstGeom prst="roundRect">
            <a:avLst>
              <a:gd name="adj" fmla="val 30769"/>
            </a:avLst>
          </a:prstGeom>
          <a:solidFill>
            <a:srgbClr val="29B894">
              <a:alpha val="13000"/>
            </a:srgbClr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Rectangle"/>
          <p:cNvSpPr/>
          <p:nvPr/>
        </p:nvSpPr>
        <p:spPr>
          <a:xfrm>
            <a:off x="1771650" y="6962775"/>
            <a:ext cx="142875" cy="142875"/>
          </a:xfrm>
          <a:prstGeom prst="roundRect">
            <a:avLst>
              <a:gd name="adj" fmla="val 26666"/>
            </a:avLst>
          </a:prstGeom>
          <a:noFill/>
          <a:ln w="23813">
            <a:solidFill>
              <a:srgbClr val="28B894"/>
            </a:solidFill>
            <a:miter lim="400000"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Ellipse"/>
          <p:cNvSpPr/>
          <p:nvPr/>
        </p:nvSpPr>
        <p:spPr>
          <a:xfrm>
            <a:off x="1952625" y="6962775"/>
            <a:ext cx="142875" cy="142875"/>
          </a:xfrm>
          <a:prstGeom prst="ellipse">
            <a:avLst/>
          </a:prstGeom>
          <a:noFill/>
          <a:ln w="23813">
            <a:solidFill>
              <a:srgbClr val="28B894"/>
            </a:solidFill>
            <a:miter lim="400000"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Path"/>
          <p:cNvSpPr/>
          <p:nvPr/>
        </p:nvSpPr>
        <p:spPr>
          <a:xfrm>
            <a:off x="1759600" y="7160275"/>
            <a:ext cx="166975" cy="138400"/>
          </a:xfrm>
          <a:custGeom>
            <a:avLst/>
            <a:gdLst/>
            <a:ahLst/>
            <a:cxnLst/>
            <a:rect l="0" t="0" r="r" b="b"/>
            <a:pathLst>
              <a:path w="166975" h="138400">
                <a:moveTo>
                  <a:pt x="154925" y="144"/>
                </a:moveTo>
                <a:quadBezTo>
                  <a:pt x="159916" y="0"/>
                  <a:pt x="163344" y="3631"/>
                </a:quadBezTo>
                <a:quadBezTo>
                  <a:pt x="166975" y="7059"/>
                  <a:pt x="166831" y="12050"/>
                </a:quadBezTo>
                <a:lnTo>
                  <a:pt x="166831" y="126350"/>
                </a:lnTo>
                <a:quadBezTo>
                  <a:pt x="166975" y="131341"/>
                  <a:pt x="163344" y="134769"/>
                </a:quadBezTo>
                <a:quadBezTo>
                  <a:pt x="159916" y="138400"/>
                  <a:pt x="154925" y="138256"/>
                </a:quadBezTo>
                <a:lnTo>
                  <a:pt x="12050" y="138256"/>
                </a:lnTo>
                <a:quadBezTo>
                  <a:pt x="7059" y="138400"/>
                  <a:pt x="3631" y="134769"/>
                </a:quadBezTo>
                <a:quadBezTo>
                  <a:pt x="0" y="131341"/>
                  <a:pt x="144" y="126350"/>
                </a:quadBezTo>
                <a:lnTo>
                  <a:pt x="144" y="12050"/>
                </a:lnTo>
                <a:quadBezTo>
                  <a:pt x="0" y="7059"/>
                  <a:pt x="3631" y="3631"/>
                </a:quadBezTo>
                <a:quadBezTo>
                  <a:pt x="7059" y="0"/>
                  <a:pt x="12050" y="144"/>
                </a:quadBezTo>
                <a:lnTo>
                  <a:pt x="154925" y="144"/>
                </a:lnTo>
                <a:close/>
                <a:moveTo>
                  <a:pt x="23956" y="23956"/>
                </a:moveTo>
                <a:lnTo>
                  <a:pt x="23956" y="114444"/>
                </a:lnTo>
                <a:lnTo>
                  <a:pt x="143019" y="114444"/>
                </a:lnTo>
                <a:lnTo>
                  <a:pt x="143019" y="23956"/>
                </a:lnTo>
                <a:lnTo>
                  <a:pt x="23956" y="23956"/>
                </a:lnTo>
                <a:close/>
              </a:path>
            </a:pathLst>
          </a:custGeom>
          <a:solidFill>
            <a:srgbClr val="28B894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Path"/>
          <p:cNvSpPr/>
          <p:nvPr/>
        </p:nvSpPr>
        <p:spPr>
          <a:xfrm>
            <a:off x="1950215" y="7122292"/>
            <a:ext cx="157220" cy="176240"/>
          </a:xfrm>
          <a:custGeom>
            <a:avLst/>
            <a:gdLst/>
            <a:ahLst/>
            <a:cxnLst/>
            <a:rect l="0" t="0" r="r" b="b"/>
            <a:pathLst>
              <a:path w="157220" h="176240">
                <a:moveTo>
                  <a:pt x="72703" y="1596"/>
                </a:moveTo>
                <a:quadBezTo>
                  <a:pt x="75441" y="0"/>
                  <a:pt x="78610" y="27"/>
                </a:quadBezTo>
                <a:quadBezTo>
                  <a:pt x="81779" y="0"/>
                  <a:pt x="84517" y="1596"/>
                </a:quadBezTo>
                <a:lnTo>
                  <a:pt x="151192" y="39696"/>
                </a:lnTo>
                <a:quadBezTo>
                  <a:pt x="153995" y="41265"/>
                  <a:pt x="155583" y="44057"/>
                </a:quadBezTo>
                <a:quadBezTo>
                  <a:pt x="157220" y="46821"/>
                  <a:pt x="157191" y="50033"/>
                </a:quadBezTo>
                <a:lnTo>
                  <a:pt x="157191" y="126233"/>
                </a:lnTo>
                <a:quadBezTo>
                  <a:pt x="157191" y="146947"/>
                  <a:pt x="142545" y="161593"/>
                </a:quadBezTo>
                <a:quadBezTo>
                  <a:pt x="127898" y="176240"/>
                  <a:pt x="107185" y="176240"/>
                </a:quadBezTo>
                <a:lnTo>
                  <a:pt x="50035" y="176240"/>
                </a:lnTo>
                <a:quadBezTo>
                  <a:pt x="29322" y="176240"/>
                  <a:pt x="14675" y="161593"/>
                </a:quadBezTo>
                <a:quadBezTo>
                  <a:pt x="29" y="146947"/>
                  <a:pt x="29" y="126233"/>
                </a:quadBezTo>
                <a:lnTo>
                  <a:pt x="29" y="50033"/>
                </a:lnTo>
                <a:quadBezTo>
                  <a:pt x="0" y="46821"/>
                  <a:pt x="1637" y="44057"/>
                </a:quadBezTo>
                <a:quadBezTo>
                  <a:pt x="3225" y="41265"/>
                  <a:pt x="6028" y="39696"/>
                </a:quadBezTo>
                <a:lnTo>
                  <a:pt x="72703" y="1596"/>
                </a:lnTo>
                <a:close/>
                <a:moveTo>
                  <a:pt x="23841" y="56943"/>
                </a:moveTo>
                <a:lnTo>
                  <a:pt x="23841" y="126233"/>
                </a:lnTo>
                <a:quadBezTo>
                  <a:pt x="23841" y="137083"/>
                  <a:pt x="31513" y="144755"/>
                </a:quadBezTo>
                <a:quadBezTo>
                  <a:pt x="39185" y="152427"/>
                  <a:pt x="50035" y="152427"/>
                </a:quadBezTo>
                <a:lnTo>
                  <a:pt x="107185" y="152427"/>
                </a:lnTo>
                <a:quadBezTo>
                  <a:pt x="118035" y="152427"/>
                  <a:pt x="125707" y="144755"/>
                </a:quadBezTo>
                <a:quadBezTo>
                  <a:pt x="133379" y="137083"/>
                  <a:pt x="133379" y="126233"/>
                </a:quadBezTo>
                <a:lnTo>
                  <a:pt x="133379" y="56943"/>
                </a:lnTo>
                <a:lnTo>
                  <a:pt x="78610" y="25646"/>
                </a:lnTo>
                <a:lnTo>
                  <a:pt x="23841" y="56943"/>
                </a:lnTo>
                <a:close/>
              </a:path>
            </a:pathLst>
          </a:custGeom>
          <a:solidFill>
            <a:srgbClr val="28B894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Box"/>
          <p:cNvSpPr txBox="1"/>
          <p:nvPr/>
        </p:nvSpPr>
        <p:spPr>
          <a:xfrm>
            <a:off x="2590800" y="6753225"/>
            <a:ext cx="253365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750"/>
              </a:lnSpc>
            </a:pPr>
            <a:r>
              <a:rPr lang="zh-CN" sz="2850">
                <a:solidFill>
                  <a:srgbClr val="0E201A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多模态任务处理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2590800" y="7343775"/>
            <a:ext cx="5873362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150"/>
              </a:lnSpc>
            </a:pPr>
            <a:r>
              <a:rPr lang="en-US" sz="2025">
                <a:solidFill>
                  <a:srgbClr val="5C7169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PPT</a:t>
            </a:r>
          </a:p>
        </p:txBody>
      </p:sp>
      <p:sp>
        <p:nvSpPr>
          <p:cNvPr id="31" name="Rectangle"/>
          <p:cNvSpPr/>
          <p:nvPr/>
        </p:nvSpPr>
        <p:spPr>
          <a:xfrm>
            <a:off x="1147763" y="6338888"/>
            <a:ext cx="7800975" cy="2514600"/>
          </a:xfrm>
          <a:prstGeom prst="roundRect">
            <a:avLst>
              <a:gd name="adj" fmla="val 10416"/>
            </a:avLst>
          </a:prstGeom>
          <a:noFill/>
          <a:ln w="9525">
            <a:solidFill>
              <a:srgbClr val="DEEDE6"/>
            </a:solidFill>
            <a:miter lim="400000"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Rectangle"/>
          <p:cNvSpPr/>
          <p:nvPr/>
        </p:nvSpPr>
        <p:spPr>
          <a:xfrm>
            <a:off x="9334500" y="6334125"/>
            <a:ext cx="7810500" cy="2524125"/>
          </a:xfrm>
          <a:prstGeom prst="roundRect">
            <a:avLst>
              <a:gd name="adj" fmla="val 10566"/>
            </a:avLst>
          </a:prstGeom>
          <a:solidFill>
            <a:srgbClr val="FFFFFF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Rectangle"/>
          <p:cNvSpPr/>
          <p:nvPr/>
        </p:nvSpPr>
        <p:spPr>
          <a:xfrm>
            <a:off x="9753600" y="6753225"/>
            <a:ext cx="742950" cy="742950"/>
          </a:xfrm>
          <a:prstGeom prst="roundRect">
            <a:avLst>
              <a:gd name="adj" fmla="val 30769"/>
            </a:avLst>
          </a:prstGeom>
          <a:solidFill>
            <a:srgbClr val="29B894">
              <a:alpha val="13000"/>
            </a:srgbClr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Path"/>
          <p:cNvSpPr/>
          <p:nvPr/>
        </p:nvSpPr>
        <p:spPr>
          <a:xfrm>
            <a:off x="9951244" y="6979429"/>
            <a:ext cx="347663" cy="309578"/>
          </a:xfrm>
          <a:custGeom>
            <a:avLst/>
            <a:gdLst/>
            <a:ahLst/>
            <a:cxnLst/>
            <a:rect l="0" t="0" r="r" b="b"/>
            <a:pathLst>
              <a:path w="347663" h="309578">
                <a:moveTo>
                  <a:pt x="14646" y="14662"/>
                </a:moveTo>
                <a:quadBezTo>
                  <a:pt x="29293" y="15"/>
                  <a:pt x="50006" y="15"/>
                </a:quadBezTo>
                <a:lnTo>
                  <a:pt x="126206" y="15"/>
                </a:lnTo>
                <a:quadBezTo>
                  <a:pt x="128922" y="0"/>
                  <a:pt x="131364" y="1190"/>
                </a:quadBezTo>
                <a:quadBezTo>
                  <a:pt x="133818" y="2353"/>
                  <a:pt x="135503" y="4484"/>
                </a:quadBezTo>
                <a:lnTo>
                  <a:pt x="170029" y="47640"/>
                </a:lnTo>
                <a:lnTo>
                  <a:pt x="297656" y="47640"/>
                </a:lnTo>
                <a:quadBezTo>
                  <a:pt x="318370" y="47640"/>
                  <a:pt x="333016" y="62287"/>
                </a:quadBezTo>
                <a:quadBezTo>
                  <a:pt x="347663" y="76933"/>
                  <a:pt x="347663" y="97646"/>
                </a:quadBezTo>
                <a:lnTo>
                  <a:pt x="347663" y="259571"/>
                </a:lnTo>
                <a:quadBezTo>
                  <a:pt x="347663" y="280285"/>
                  <a:pt x="333016" y="294931"/>
                </a:quadBezTo>
                <a:quadBezTo>
                  <a:pt x="318370" y="309578"/>
                  <a:pt x="297656" y="309578"/>
                </a:quadBezTo>
                <a:lnTo>
                  <a:pt x="50006" y="309578"/>
                </a:lnTo>
                <a:quadBezTo>
                  <a:pt x="29293" y="309578"/>
                  <a:pt x="14647" y="294931"/>
                </a:quadBezTo>
                <a:quadBezTo>
                  <a:pt x="0" y="280285"/>
                  <a:pt x="0" y="259571"/>
                </a:quadBezTo>
                <a:lnTo>
                  <a:pt x="0" y="50021"/>
                </a:lnTo>
                <a:quadBezTo>
                  <a:pt x="0" y="29308"/>
                  <a:pt x="14646" y="14662"/>
                </a:quadBezTo>
                <a:close/>
                <a:moveTo>
                  <a:pt x="31484" y="31500"/>
                </a:moveTo>
                <a:quadBezTo>
                  <a:pt x="23813" y="39172"/>
                  <a:pt x="23813" y="50021"/>
                </a:quadBezTo>
                <a:lnTo>
                  <a:pt x="23813" y="259571"/>
                </a:lnTo>
                <a:quadBezTo>
                  <a:pt x="23813" y="270421"/>
                  <a:pt x="31484" y="278093"/>
                </a:quadBezTo>
                <a:quadBezTo>
                  <a:pt x="39156" y="285765"/>
                  <a:pt x="50006" y="285765"/>
                </a:quadBezTo>
                <a:lnTo>
                  <a:pt x="297656" y="285765"/>
                </a:lnTo>
                <a:quadBezTo>
                  <a:pt x="308506" y="285765"/>
                  <a:pt x="316178" y="278093"/>
                </a:quadBezTo>
                <a:quadBezTo>
                  <a:pt x="323850" y="270421"/>
                  <a:pt x="323850" y="259571"/>
                </a:quadBezTo>
                <a:lnTo>
                  <a:pt x="323850" y="97646"/>
                </a:lnTo>
                <a:quadBezTo>
                  <a:pt x="323850" y="86797"/>
                  <a:pt x="316178" y="79125"/>
                </a:quadBezTo>
                <a:quadBezTo>
                  <a:pt x="308506" y="71453"/>
                  <a:pt x="297656" y="71453"/>
                </a:quadBezTo>
                <a:lnTo>
                  <a:pt x="164306" y="71453"/>
                </a:lnTo>
                <a:quadBezTo>
                  <a:pt x="161590" y="71468"/>
                  <a:pt x="159149" y="70277"/>
                </a:quadBezTo>
                <a:quadBezTo>
                  <a:pt x="156694" y="69114"/>
                  <a:pt x="155009" y="66984"/>
                </a:quadBezTo>
                <a:lnTo>
                  <a:pt x="120484" y="23828"/>
                </a:lnTo>
                <a:lnTo>
                  <a:pt x="50006" y="23828"/>
                </a:lnTo>
                <a:quadBezTo>
                  <a:pt x="39156" y="23828"/>
                  <a:pt x="31484" y="31500"/>
                </a:quadBezTo>
                <a:close/>
              </a:path>
            </a:pathLst>
          </a:custGeom>
          <a:solidFill>
            <a:srgbClr val="28B894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Path"/>
          <p:cNvSpPr/>
          <p:nvPr/>
        </p:nvSpPr>
        <p:spPr>
          <a:xfrm>
            <a:off x="9963150" y="7093744"/>
            <a:ext cx="323850" cy="23813"/>
          </a:xfrm>
          <a:custGeom>
            <a:avLst/>
            <a:gdLst/>
            <a:ahLst/>
            <a:cxnLst/>
            <a:rect l="0" t="0" r="r" b="b"/>
            <a:pathLst>
              <a:path w="323850" h="23813">
                <a:moveTo>
                  <a:pt x="323850" y="0"/>
                </a:moveTo>
                <a:lnTo>
                  <a:pt x="323850" y="23813"/>
                </a:lnTo>
                <a:lnTo>
                  <a:pt x="0" y="23813"/>
                </a:lnTo>
                <a:lnTo>
                  <a:pt x="0" y="0"/>
                </a:lnTo>
                <a:lnTo>
                  <a:pt x="323850" y="0"/>
                </a:lnTo>
                <a:close/>
              </a:path>
            </a:pathLst>
          </a:custGeom>
          <a:solidFill>
            <a:srgbClr val="28B894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Box"/>
          <p:cNvSpPr txBox="1"/>
          <p:nvPr/>
        </p:nvSpPr>
        <p:spPr>
          <a:xfrm>
            <a:off x="10782300" y="6753225"/>
            <a:ext cx="217170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750"/>
              </a:lnSpc>
            </a:pPr>
            <a:r>
              <a:rPr lang="zh-CN" sz="2850">
                <a:solidFill>
                  <a:srgbClr val="0E201A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本地文件操作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10782300" y="7343775"/>
            <a:ext cx="5915025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150"/>
              </a:lnSpc>
            </a:pPr>
            <a:r>
              <a:rPr lang="zh-CN" sz="2025">
                <a:solidFill>
                  <a:srgbClr val="5C7169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授权目录内批量读写与整理，过程可追溯、结果可验收</a:t>
            </a:r>
          </a:p>
        </p:txBody>
      </p:sp>
      <p:sp>
        <p:nvSpPr>
          <p:cNvPr id="38" name="Rectangle"/>
          <p:cNvSpPr/>
          <p:nvPr/>
        </p:nvSpPr>
        <p:spPr>
          <a:xfrm>
            <a:off x="9339263" y="6338888"/>
            <a:ext cx="7800975" cy="2514600"/>
          </a:xfrm>
          <a:prstGeom prst="roundRect">
            <a:avLst>
              <a:gd name="adj" fmla="val 10416"/>
            </a:avLst>
          </a:prstGeom>
          <a:noFill/>
          <a:ln w="9525">
            <a:solidFill>
              <a:srgbClr val="DEEDE6"/>
            </a:solidFill>
            <a:miter lim="400000"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Box"/>
          <p:cNvSpPr txBox="1"/>
          <p:nvPr/>
        </p:nvSpPr>
        <p:spPr>
          <a:xfrm>
            <a:off x="1143000" y="9010650"/>
            <a:ext cx="3816249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zh-CN" sz="1800">
                <a:solidFill>
                  <a:srgbClr val="8AA39A"/>
                </a:solidFill>
                <a:latin typeface="Source Han Sans CN"/>
                <a:ea typeface="Source Han Sans CN"/>
                <a:cs typeface="Source Han Sans CN"/>
              </a:rPr>
              <a:t>WorkBuddy  ·  企业级 AI </a:t>
            </a:r>
          </a:p>
        </p:txBody>
      </p:sp>
      <p:sp>
        <p:nvSpPr>
          <p:cNvPr id="40" name="TextBox"/>
          <p:cNvSpPr txBox="1"/>
          <p:nvPr/>
        </p:nvSpPr>
        <p:spPr>
          <a:xfrm>
            <a:off x="16849725" y="9010650"/>
            <a:ext cx="29222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en-US" sz="1950">
                <a:solidFill>
                  <a:srgbClr val="28B894"/>
                </a:solidFill>
                <a:latin typeface="Source Han Sans CN Bold"/>
                <a:ea typeface="Source Han Sans CN Bold"/>
                <a:cs typeface="Source Han Sans CN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BF2F0"/>
              </a:gs>
            </a:gsLst>
            <a:lin ang="1761465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952500"/>
            <a:ext cx="2258568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en-US" sz="2100" spc="300">
                <a:solidFill>
                  <a:srgbClr val="28B894"/>
                </a:solidFill>
                <a:latin typeface="Source Han Sans CN"/>
                <a:ea typeface="Source Han Sans CN"/>
                <a:cs typeface="Source Han Sans CN"/>
              </a:rPr>
              <a:t>04  · 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524000"/>
            <a:ext cx="817245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6300"/>
              </a:lnSpc>
            </a:pPr>
            <a:r>
              <a:rPr lang="zh-CN" sz="4950">
                <a:solidFill>
                  <a:srgbClr val="0E201A"/>
                </a:solidFill>
                <a:latin typeface="Source Han Sans CN"/>
                <a:ea typeface="Source Han Sans CN"/>
                <a:cs typeface="Source Han Sans CN"/>
              </a:rPr>
              <a:t>三层架构：内核、能力与生态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533650"/>
            <a:ext cx="54864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450"/>
              </a:lnSpc>
            </a:pPr>
            <a:r>
              <a:rPr lang="zh-CN" sz="2400">
                <a:solidFill>
                  <a:srgbClr val="5C7169"/>
                </a:solidFill>
                <a:latin typeface="Source Han Sans CN"/>
                <a:ea typeface="Source Han Sans CN"/>
                <a:cs typeface="Source Han Sans CN"/>
              </a:rPr>
              <a:t>从底座到生态，能力可生长、资产可沉淀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3390900"/>
            <a:ext cx="16002000" cy="1638300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>
            <a:noFill/>
          </a:ln>
          <a:effectLst>
            <a:outerShdw blurRad="152400" dist="133350" dir="5400000" algn="ctr" rotWithShape="0">
              <a:srgbClr val="0F2921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Rectangle"/>
          <p:cNvSpPr/>
          <p:nvPr/>
        </p:nvSpPr>
        <p:spPr>
          <a:xfrm>
            <a:off x="1562100" y="3752850"/>
            <a:ext cx="914400" cy="914400"/>
          </a:xfrm>
          <a:prstGeom prst="roundRect">
            <a:avLst>
              <a:gd name="adj" fmla="val 25000"/>
            </a:avLst>
          </a:prstGeom>
          <a:solidFill>
            <a:srgbClr val="29B894">
              <a:alpha val="13000"/>
            </a:srgbClr>
          </a:solidFill>
          <a:ln>
            <a:noFill/>
          </a:ln>
          <a:effectLst>
            <a:outerShdw blurRad="152400" dist="133350" dir="5400000" algn="ctr" rotWithShape="0">
              <a:srgbClr val="0F2921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Box"/>
          <p:cNvSpPr txBox="1"/>
          <p:nvPr/>
        </p:nvSpPr>
        <p:spPr>
          <a:xfrm>
            <a:off x="1828800" y="4000500"/>
            <a:ext cx="378257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300"/>
              </a:lnSpc>
            </a:pPr>
            <a:r>
              <a:rPr lang="en-US" sz="2550">
                <a:solidFill>
                  <a:srgbClr val="18794E"/>
                </a:solidFill>
                <a:effectLst>
                  <a:outerShdw blurRad="152400" dist="133350" dir="5400000" algn="ctr" rotWithShape="0">
                    <a:srgbClr val="0F2921">
                      <a:alpha val="6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L3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2781300" y="3733800"/>
            <a:ext cx="5522995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750"/>
              </a:lnSpc>
            </a:pPr>
            <a:r>
              <a:rPr lang="en-US" sz="2850">
                <a:solidFill>
                  <a:srgbClr val="0E201A"/>
                </a:solidFill>
                <a:effectLst>
                  <a:outerShdw blurRad="152400" dist="133350" dir="5400000" algn="ctr" rotWithShape="0">
                    <a:srgbClr val="0F2921">
                      <a:alpha val="6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  ·  Connector 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2781300" y="4305300"/>
            <a:ext cx="7880871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zh-CN" sz="2025">
                <a:solidFill>
                  <a:srgbClr val="5C7169"/>
                </a:solidFill>
                <a:effectLst>
                  <a:outerShdw blurRad="152400" dist="133350" dir="5400000" algn="ctr" rotWithShape="0">
                    <a:srgbClr val="0F2921">
                      <a:alpha val="6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 MCP 协议接入 30+ </a:t>
            </a:r>
          </a:p>
        </p:txBody>
      </p:sp>
      <p:sp>
        <p:nvSpPr>
          <p:cNvPr id="11" name="Rectangle"/>
          <p:cNvSpPr/>
          <p:nvPr/>
        </p:nvSpPr>
        <p:spPr>
          <a:xfrm>
            <a:off x="1147763" y="3395663"/>
            <a:ext cx="15992475" cy="1628775"/>
          </a:xfrm>
          <a:prstGeom prst="roundRect">
            <a:avLst>
              <a:gd name="adj" fmla="val 16081"/>
            </a:avLst>
          </a:prstGeom>
          <a:noFill/>
          <a:ln w="9525">
            <a:solidFill>
              <a:srgbClr val="DEEDE6"/>
            </a:solidFill>
            <a:miter lim="400000"/>
          </a:ln>
          <a:effectLst>
            <a:outerShdw blurRad="152400" dist="133350" dir="5400000" algn="ctr" rotWithShape="0">
              <a:srgbClr val="0F2921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Rectangle"/>
          <p:cNvSpPr/>
          <p:nvPr/>
        </p:nvSpPr>
        <p:spPr>
          <a:xfrm>
            <a:off x="1143000" y="5314950"/>
            <a:ext cx="16002000" cy="1638300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>
            <a:noFill/>
          </a:ln>
          <a:effectLst>
            <a:outerShdw blurRad="152400" dist="133350" dir="5400000" algn="ctr" rotWithShape="0">
              <a:srgbClr val="0F2921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Rectangle"/>
          <p:cNvSpPr/>
          <p:nvPr/>
        </p:nvSpPr>
        <p:spPr>
          <a:xfrm>
            <a:off x="1562100" y="5676900"/>
            <a:ext cx="914400" cy="914400"/>
          </a:xfrm>
          <a:prstGeom prst="roundRect">
            <a:avLst>
              <a:gd name="adj" fmla="val 25000"/>
            </a:avLst>
          </a:prstGeom>
          <a:solidFill>
            <a:srgbClr val="29B894">
              <a:alpha val="13000"/>
            </a:srgbClr>
          </a:solidFill>
          <a:ln>
            <a:noFill/>
          </a:ln>
          <a:effectLst>
            <a:outerShdw blurRad="152400" dist="133350" dir="5400000" algn="ctr" rotWithShape="0">
              <a:srgbClr val="0F2921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1828800" y="5924550"/>
            <a:ext cx="378257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300"/>
              </a:lnSpc>
            </a:pPr>
            <a:r>
              <a:rPr lang="en-US" sz="2550">
                <a:solidFill>
                  <a:srgbClr val="18794E"/>
                </a:solidFill>
                <a:effectLst>
                  <a:outerShdw blurRad="152400" dist="133350" dir="5400000" algn="ctr" rotWithShape="0">
                    <a:srgbClr val="0F2921">
                      <a:alpha val="6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L2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781300" y="5657850"/>
            <a:ext cx="5049927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750"/>
              </a:lnSpc>
            </a:pPr>
            <a:r>
              <a:rPr lang="zh-CN" sz="2850">
                <a:solidFill>
                  <a:srgbClr val="0E201A"/>
                </a:solidFill>
                <a:effectLst>
                  <a:outerShdw blurRad="152400" dist="133350" dir="5400000" algn="ctr" rotWithShape="0">
                    <a:srgbClr val="0F2921">
                      <a:alpha val="6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  ·  专家中心 + 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2781300" y="6229350"/>
            <a:ext cx="7609551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zh-CN" sz="2025">
                <a:solidFill>
                  <a:srgbClr val="5C7169"/>
                </a:solidFill>
                <a:effectLst>
                  <a:outerShdw blurRad="152400" dist="133350" dir="5400000" algn="ctr" rotWithShape="0">
                    <a:srgbClr val="0F2921">
                      <a:alpha val="6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140+ 领域专家、SkillHub 7 万+ 技能，把团队 SOP </a:t>
            </a:r>
          </a:p>
        </p:txBody>
      </p:sp>
      <p:sp>
        <p:nvSpPr>
          <p:cNvPr id="17" name="Rectangle"/>
          <p:cNvSpPr/>
          <p:nvPr/>
        </p:nvSpPr>
        <p:spPr>
          <a:xfrm>
            <a:off x="1147763" y="5319713"/>
            <a:ext cx="15992475" cy="1628775"/>
          </a:xfrm>
          <a:prstGeom prst="roundRect">
            <a:avLst>
              <a:gd name="adj" fmla="val 16081"/>
            </a:avLst>
          </a:prstGeom>
          <a:noFill/>
          <a:ln w="9525">
            <a:solidFill>
              <a:srgbClr val="DEEDE6"/>
            </a:solidFill>
            <a:miter lim="400000"/>
          </a:ln>
          <a:effectLst>
            <a:outerShdw blurRad="152400" dist="133350" dir="5400000" algn="ctr" rotWithShape="0">
              <a:srgbClr val="0F2921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Rectangle"/>
          <p:cNvSpPr/>
          <p:nvPr/>
        </p:nvSpPr>
        <p:spPr>
          <a:xfrm>
            <a:off x="1143000" y="7239000"/>
            <a:ext cx="16002000" cy="1638300"/>
          </a:xfrm>
          <a:prstGeom prst="roundRect">
            <a:avLst>
              <a:gd name="adj" fmla="val 16279"/>
            </a:avLst>
          </a:prstGeom>
          <a:solidFill>
            <a:srgbClr val="0E201A"/>
          </a:solidFill>
          <a:ln>
            <a:noFill/>
          </a:ln>
          <a:effectLst>
            <a:outerShdw blurRad="209550" dist="190500" dir="5400000" algn="ctr" rotWithShape="0">
              <a:srgbClr val="081F1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Rectangle"/>
          <p:cNvSpPr/>
          <p:nvPr/>
        </p:nvSpPr>
        <p:spPr>
          <a:xfrm>
            <a:off x="1562100" y="7600950"/>
            <a:ext cx="914400" cy="914400"/>
          </a:xfrm>
          <a:prstGeom prst="roundRect">
            <a:avLst>
              <a:gd name="adj" fmla="val 25000"/>
            </a:avLst>
          </a:prstGeom>
          <a:solidFill>
            <a:srgbClr val="3DD68C"/>
          </a:solidFill>
          <a:ln>
            <a:noFill/>
          </a:ln>
          <a:effectLst>
            <a:outerShdw blurRad="209550" dist="190500" dir="5400000" algn="ctr" rotWithShape="0">
              <a:srgbClr val="081F1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Box"/>
          <p:cNvSpPr txBox="1"/>
          <p:nvPr/>
        </p:nvSpPr>
        <p:spPr>
          <a:xfrm>
            <a:off x="1828800" y="7848600"/>
            <a:ext cx="378257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300"/>
              </a:lnSpc>
            </a:pPr>
            <a:r>
              <a:rPr lang="en-US" sz="2550">
                <a:solidFill>
                  <a:srgbClr val="06251C"/>
                </a:solidFill>
                <a:effectLst>
                  <a:outerShdw blurRad="209550" dist="190500" dir="5400000" algn="ctr" rotWithShape="0">
                    <a:srgbClr val="081F17">
                      <a:alpha val="25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L1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2781300" y="7581900"/>
            <a:ext cx="4342314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750"/>
              </a:lnSpc>
            </a:pPr>
            <a:r>
              <a:rPr lang="en-US" sz="2850">
                <a:solidFill>
                  <a:srgbClr val="FFFFFF"/>
                </a:solidFill>
                <a:effectLst>
                  <a:outerShdw blurRad="209550" dist="190500" dir="5400000" algn="ctr" rotWithShape="0">
                    <a:srgbClr val="081F17">
                      <a:alpha val="25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  ·  Agent 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2781300" y="8153400"/>
            <a:ext cx="72009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zh-CN" sz="2025">
                <a:solidFill>
                  <a:srgbClr val="A9C2B9"/>
                </a:solidFill>
                <a:effectLst>
                  <a:outerShdw blurRad="209550" dist="190500" dir="5400000" algn="ctr" rotWithShape="0">
                    <a:srgbClr val="081F17">
                      <a:alpha val="25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自然语言理解、自主任务规划、本地文件操作与多模态成果产出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143000" y="9010650"/>
            <a:ext cx="3816249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zh-CN" sz="1800">
                <a:solidFill>
                  <a:srgbClr val="8AA39A"/>
                </a:solidFill>
                <a:latin typeface="Source Han Sans CN"/>
                <a:ea typeface="Source Han Sans CN"/>
                <a:cs typeface="Source Han Sans CN"/>
              </a:rPr>
              <a:t>WorkBuddy  ·  企业级 AI 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16849725" y="9010650"/>
            <a:ext cx="29222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en-US" sz="1950">
                <a:solidFill>
                  <a:srgbClr val="28B894"/>
                </a:solidFill>
                <a:latin typeface="Source Han Sans CN Bold"/>
                <a:ea typeface="Source Han Sans CN Bold"/>
                <a:cs typeface="Source Han Sans CN Bol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BF2F0"/>
              </a:gs>
            </a:gsLst>
            <a:lin ang="1761465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952500"/>
            <a:ext cx="1953768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en-US" sz="2100" spc="300">
                <a:solidFill>
                  <a:srgbClr val="28B894"/>
                </a:solidFill>
                <a:latin typeface="Source Han Sans CN"/>
                <a:ea typeface="Source Han Sans CN"/>
                <a:cs typeface="Source Han Sans CN"/>
              </a:rPr>
              <a:t>05  · 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524000"/>
            <a:ext cx="9880492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6300"/>
              </a:lnSpc>
            </a:pPr>
            <a:r>
              <a:rPr lang="en-US" sz="4950">
                <a:solidFill>
                  <a:srgbClr val="0E201A"/>
                </a:solidFill>
                <a:latin typeface="Source Han Sans CN"/>
                <a:ea typeface="Source Han Sans CN"/>
                <a:cs typeface="Source Han Sans CN"/>
              </a:rPr>
              <a:t>WorkBuddy Enterprise 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533650"/>
            <a:ext cx="5897575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450"/>
              </a:lnSpc>
            </a:pPr>
            <a:r>
              <a:rPr lang="en-US" sz="2400">
                <a:solidFill>
                  <a:srgbClr val="5C7169"/>
                </a:solidFill>
                <a:latin typeface="Source Han Sans CN"/>
                <a:ea typeface="Source Han Sans CN"/>
                <a:cs typeface="Source Han Sans CN"/>
              </a:rPr>
              <a:t> AI 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4095750"/>
            <a:ext cx="5076825" cy="428625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Rectangle"/>
          <p:cNvSpPr/>
          <p:nvPr/>
        </p:nvSpPr>
        <p:spPr>
          <a:xfrm>
            <a:off x="1581150" y="4533900"/>
            <a:ext cx="552450" cy="57150"/>
          </a:xfrm>
          <a:prstGeom prst="roundRect">
            <a:avLst>
              <a:gd name="adj" fmla="val 50000"/>
            </a:avLst>
          </a:prstGeom>
          <a:solidFill>
            <a:srgbClr val="28B894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1581150" y="4819650"/>
            <a:ext cx="742950" cy="742950"/>
          </a:xfrm>
          <a:prstGeom prst="roundRect">
            <a:avLst>
              <a:gd name="adj" fmla="val 30769"/>
            </a:avLst>
          </a:prstGeom>
          <a:solidFill>
            <a:srgbClr val="29B894">
              <a:alpha val="13000"/>
            </a:srgbClr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Ellipse"/>
          <p:cNvSpPr/>
          <p:nvPr/>
        </p:nvSpPr>
        <p:spPr>
          <a:xfrm>
            <a:off x="1824038" y="5062538"/>
            <a:ext cx="104775" cy="104775"/>
          </a:xfrm>
          <a:prstGeom prst="ellipse">
            <a:avLst/>
          </a:prstGeom>
          <a:noFill/>
          <a:ln w="23813">
            <a:solidFill>
              <a:srgbClr val="28B894"/>
            </a:solidFill>
            <a:miter lim="400000"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Ellipse"/>
          <p:cNvSpPr/>
          <p:nvPr/>
        </p:nvSpPr>
        <p:spPr>
          <a:xfrm>
            <a:off x="1976438" y="5062538"/>
            <a:ext cx="104775" cy="104775"/>
          </a:xfrm>
          <a:prstGeom prst="ellipse">
            <a:avLst/>
          </a:prstGeom>
          <a:noFill/>
          <a:ln w="23813">
            <a:solidFill>
              <a:srgbClr val="28B894"/>
            </a:solidFill>
            <a:miter lim="400000"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Path"/>
          <p:cNvSpPr/>
          <p:nvPr/>
        </p:nvSpPr>
        <p:spPr>
          <a:xfrm>
            <a:off x="1768274" y="5226844"/>
            <a:ext cx="216301" cy="110532"/>
          </a:xfrm>
          <a:custGeom>
            <a:avLst/>
            <a:gdLst/>
            <a:ahLst/>
            <a:cxnLst/>
            <a:rect l="0" t="0" r="r" b="b"/>
            <a:pathLst>
              <a:path w="216301" h="110532">
                <a:moveTo>
                  <a:pt x="1350" y="94744"/>
                </a:moveTo>
                <a:quadBezTo>
                  <a:pt x="12661" y="49498"/>
                  <a:pt x="42062" y="24298"/>
                </a:quadBezTo>
                <a:quadBezTo>
                  <a:pt x="70409" y="0"/>
                  <a:pt x="108151" y="0"/>
                </a:quadBezTo>
                <a:quadBezTo>
                  <a:pt x="145893" y="0"/>
                  <a:pt x="174240" y="24298"/>
                </a:quadBezTo>
                <a:quadBezTo>
                  <a:pt x="203640" y="49498"/>
                  <a:pt x="214951" y="94744"/>
                </a:quadBezTo>
                <a:quadBezTo>
                  <a:pt x="216301" y="99551"/>
                  <a:pt x="213610" y="103757"/>
                </a:quadBezTo>
                <a:quadBezTo>
                  <a:pt x="211165" y="108111"/>
                  <a:pt x="206288" y="109182"/>
                </a:quadBezTo>
                <a:quadBezTo>
                  <a:pt x="201481" y="110532"/>
                  <a:pt x="197275" y="107841"/>
                </a:quadBezTo>
                <a:quadBezTo>
                  <a:pt x="192921" y="105396"/>
                  <a:pt x="191850" y="100519"/>
                </a:quadBezTo>
                <a:quadBezTo>
                  <a:pt x="182380" y="62637"/>
                  <a:pt x="158743" y="42377"/>
                </a:quadBezTo>
                <a:quadBezTo>
                  <a:pt x="137084" y="23813"/>
                  <a:pt x="108151" y="23813"/>
                </a:quadBezTo>
                <a:quadBezTo>
                  <a:pt x="79218" y="23813"/>
                  <a:pt x="57559" y="42377"/>
                </a:quadBezTo>
                <a:quadBezTo>
                  <a:pt x="33922" y="62637"/>
                  <a:pt x="24451" y="100519"/>
                </a:quadBezTo>
                <a:quadBezTo>
                  <a:pt x="23380" y="105396"/>
                  <a:pt x="19026" y="107841"/>
                </a:quadBezTo>
                <a:quadBezTo>
                  <a:pt x="14820" y="110532"/>
                  <a:pt x="10013" y="109182"/>
                </a:quadBezTo>
                <a:quadBezTo>
                  <a:pt x="5136" y="108111"/>
                  <a:pt x="2691" y="103757"/>
                </a:quadBezTo>
                <a:quadBezTo>
                  <a:pt x="0" y="99551"/>
                  <a:pt x="1350" y="94744"/>
                </a:quadBezTo>
                <a:close/>
              </a:path>
            </a:pathLst>
          </a:custGeom>
          <a:solidFill>
            <a:srgbClr val="28B894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Path"/>
          <p:cNvSpPr/>
          <p:nvPr/>
        </p:nvSpPr>
        <p:spPr>
          <a:xfrm>
            <a:off x="1978675" y="5226700"/>
            <a:ext cx="120201" cy="110676"/>
          </a:xfrm>
          <a:custGeom>
            <a:avLst/>
            <a:gdLst/>
            <a:ahLst/>
            <a:cxnLst/>
            <a:rect l="0" t="0" r="r" b="b"/>
            <a:pathLst>
              <a:path w="120201" h="110676">
                <a:moveTo>
                  <a:pt x="12050" y="144"/>
                </a:moveTo>
                <a:quadBezTo>
                  <a:pt x="49792" y="144"/>
                  <a:pt x="78139" y="24441"/>
                </a:quadBezTo>
                <a:quadBezTo>
                  <a:pt x="107539" y="49641"/>
                  <a:pt x="118851" y="94887"/>
                </a:quadBezTo>
                <a:quadBezTo>
                  <a:pt x="120201" y="99695"/>
                  <a:pt x="117509" y="103901"/>
                </a:quadBezTo>
                <a:quadBezTo>
                  <a:pt x="115065" y="108254"/>
                  <a:pt x="110188" y="109326"/>
                </a:quadBezTo>
                <a:quadBezTo>
                  <a:pt x="105380" y="110676"/>
                  <a:pt x="101174" y="107984"/>
                </a:quadBezTo>
                <a:quadBezTo>
                  <a:pt x="96820" y="105540"/>
                  <a:pt x="95749" y="100663"/>
                </a:quadBezTo>
                <a:quadBezTo>
                  <a:pt x="86279" y="62781"/>
                  <a:pt x="62642" y="42521"/>
                </a:quadBezTo>
                <a:quadBezTo>
                  <a:pt x="40983" y="23956"/>
                  <a:pt x="12050" y="23956"/>
                </a:quadBezTo>
                <a:quadBezTo>
                  <a:pt x="7059" y="24100"/>
                  <a:pt x="3631" y="20469"/>
                </a:quadBezTo>
                <a:quadBezTo>
                  <a:pt x="0" y="17041"/>
                  <a:pt x="144" y="12050"/>
                </a:quadBezTo>
                <a:quadBezTo>
                  <a:pt x="0" y="7059"/>
                  <a:pt x="3631" y="3631"/>
                </a:quadBezTo>
                <a:quadBezTo>
                  <a:pt x="7059" y="0"/>
                  <a:pt x="12050" y="144"/>
                </a:quadBezTo>
                <a:close/>
              </a:path>
            </a:pathLst>
          </a:custGeom>
          <a:solidFill>
            <a:srgbClr val="28B894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Box"/>
          <p:cNvSpPr txBox="1"/>
          <p:nvPr/>
        </p:nvSpPr>
        <p:spPr>
          <a:xfrm>
            <a:off x="1581150" y="5791200"/>
            <a:ext cx="2759202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900"/>
              </a:lnSpc>
            </a:pPr>
            <a:r>
              <a:rPr lang="en-US" sz="3000">
                <a:solidFill>
                  <a:srgbClr val="0E201A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 + AI 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581150" y="6400800"/>
            <a:ext cx="41148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300"/>
              </a:lnSpc>
            </a:pPr>
            <a:r>
              <a:rPr lang="zh-CN" sz="2025">
                <a:solidFill>
                  <a:srgbClr val="5C7169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以「项目」为单位组织协作，上下文共享、进度可追踪、成果可复用</a:t>
            </a:r>
          </a:p>
        </p:txBody>
      </p:sp>
      <p:sp>
        <p:nvSpPr>
          <p:cNvPr id="15" name="Rectangle"/>
          <p:cNvSpPr/>
          <p:nvPr/>
        </p:nvSpPr>
        <p:spPr>
          <a:xfrm>
            <a:off x="1147763" y="4100513"/>
            <a:ext cx="5067300" cy="4276725"/>
          </a:xfrm>
          <a:prstGeom prst="roundRect">
            <a:avLst>
              <a:gd name="adj" fmla="val 6124"/>
            </a:avLst>
          </a:prstGeom>
          <a:noFill/>
          <a:ln w="9525">
            <a:solidFill>
              <a:srgbClr val="DEEDE6"/>
            </a:solidFill>
            <a:miter lim="400000"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Rectangle"/>
          <p:cNvSpPr/>
          <p:nvPr/>
        </p:nvSpPr>
        <p:spPr>
          <a:xfrm>
            <a:off x="6600825" y="4095750"/>
            <a:ext cx="5076825" cy="4286250"/>
          </a:xfrm>
          <a:prstGeom prst="roundRect">
            <a:avLst>
              <a:gd name="adj" fmla="val 6222"/>
            </a:avLst>
          </a:prstGeom>
          <a:gradFill>
            <a:gsLst>
              <a:gs pos="0">
                <a:srgbClr val="08211A"/>
              </a:gs>
              <a:gs pos="100000">
                <a:srgbClr val="0D382B"/>
              </a:gs>
            </a:gsLst>
            <a:lin ang="2410419" scaled="1"/>
          </a:gradFill>
          <a:ln>
            <a:noFill/>
          </a:ln>
          <a:effectLst>
            <a:outerShdw blurRad="209550" dist="209550" dir="5400000" algn="ctr" rotWithShape="0">
              <a:srgbClr val="081F17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Rectangle"/>
          <p:cNvSpPr/>
          <p:nvPr/>
        </p:nvSpPr>
        <p:spPr>
          <a:xfrm>
            <a:off x="7038975" y="4533900"/>
            <a:ext cx="552450" cy="57150"/>
          </a:xfrm>
          <a:prstGeom prst="roundRect">
            <a:avLst>
              <a:gd name="adj" fmla="val 50000"/>
            </a:avLst>
          </a:prstGeom>
          <a:solidFill>
            <a:srgbClr val="3DD68C"/>
          </a:solidFill>
          <a:ln>
            <a:noFill/>
          </a:ln>
          <a:effectLst>
            <a:outerShdw blurRad="209550" dist="209550" dir="5400000" algn="ctr" rotWithShape="0">
              <a:srgbClr val="081F17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Rectangle"/>
          <p:cNvSpPr/>
          <p:nvPr/>
        </p:nvSpPr>
        <p:spPr>
          <a:xfrm>
            <a:off x="7038975" y="4819650"/>
            <a:ext cx="742950" cy="742950"/>
          </a:xfrm>
          <a:prstGeom prst="roundRect">
            <a:avLst>
              <a:gd name="adj" fmla="val 30769"/>
            </a:avLst>
          </a:prstGeom>
          <a:solidFill>
            <a:srgbClr val="FFFFFF">
              <a:alpha val="12000"/>
            </a:srgbClr>
          </a:solidFill>
          <a:ln>
            <a:noFill/>
          </a:ln>
          <a:effectLst>
            <a:outerShdw blurRad="209550" dist="209550" dir="5400000" algn="ctr" rotWithShape="0">
              <a:srgbClr val="081F17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Rectangle"/>
          <p:cNvSpPr/>
          <p:nvPr/>
        </p:nvSpPr>
        <p:spPr>
          <a:xfrm>
            <a:off x="7267575" y="5105400"/>
            <a:ext cx="285750" cy="228600"/>
          </a:xfrm>
          <a:prstGeom prst="roundRect">
            <a:avLst>
              <a:gd name="adj" fmla="val 29166"/>
            </a:avLst>
          </a:prstGeom>
          <a:noFill/>
          <a:ln w="23813">
            <a:solidFill>
              <a:srgbClr val="3DD68C"/>
            </a:solidFill>
            <a:miter lim="400000"/>
          </a:ln>
          <a:effectLst>
            <a:outerShdw blurRad="209550" dist="209550" dir="5400000" algn="ctr" rotWithShape="0">
              <a:srgbClr val="081F17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Path"/>
          <p:cNvSpPr/>
          <p:nvPr/>
        </p:nvSpPr>
        <p:spPr>
          <a:xfrm>
            <a:off x="7398400" y="5026675"/>
            <a:ext cx="24100" cy="90775"/>
          </a:xfrm>
          <a:custGeom>
            <a:avLst/>
            <a:gdLst/>
            <a:ahLst/>
            <a:cxnLst/>
            <a:rect l="0" t="0" r="r" b="b"/>
            <a:pathLst>
              <a:path w="24100" h="90775">
                <a:moveTo>
                  <a:pt x="23956" y="12050"/>
                </a:moveTo>
                <a:lnTo>
                  <a:pt x="23956" y="78725"/>
                </a:lnTo>
                <a:quadBezTo>
                  <a:pt x="24100" y="83716"/>
                  <a:pt x="20469" y="87144"/>
                </a:quadBezTo>
                <a:quadBezTo>
                  <a:pt x="17041" y="90775"/>
                  <a:pt x="12050" y="90631"/>
                </a:quadBezTo>
                <a:quadBezTo>
                  <a:pt x="7059" y="90775"/>
                  <a:pt x="3631" y="87144"/>
                </a:quadBezTo>
                <a:quadBezTo>
                  <a:pt x="0" y="83716"/>
                  <a:pt x="144" y="78725"/>
                </a:quadBezTo>
                <a:lnTo>
                  <a:pt x="144" y="12050"/>
                </a:lnTo>
                <a:quadBezTo>
                  <a:pt x="0" y="7059"/>
                  <a:pt x="3631" y="3631"/>
                </a:quadBezTo>
                <a:quadBezTo>
                  <a:pt x="7059" y="0"/>
                  <a:pt x="12050" y="144"/>
                </a:quadBezTo>
                <a:quadBezTo>
                  <a:pt x="17041" y="0"/>
                  <a:pt x="20469" y="3631"/>
                </a:quadBezTo>
                <a:quadBezTo>
                  <a:pt x="24100" y="7059"/>
                  <a:pt x="23956" y="12050"/>
                </a:quadBezTo>
                <a:close/>
              </a:path>
            </a:pathLst>
          </a:custGeom>
          <a:solidFill>
            <a:srgbClr val="3DD68C"/>
          </a:solidFill>
          <a:ln>
            <a:noFill/>
          </a:ln>
          <a:effectLst>
            <a:outerShdw blurRad="209550" dist="209550" dir="5400000" algn="ctr" rotWithShape="0">
              <a:srgbClr val="081F17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Ellipse"/>
          <p:cNvSpPr/>
          <p:nvPr/>
        </p:nvSpPr>
        <p:spPr>
          <a:xfrm>
            <a:off x="7386638" y="5014913"/>
            <a:ext cx="47625" cy="47625"/>
          </a:xfrm>
          <a:prstGeom prst="ellipse">
            <a:avLst/>
          </a:prstGeom>
          <a:solidFill>
            <a:srgbClr val="3DD68C"/>
          </a:solidFill>
          <a:ln>
            <a:noFill/>
          </a:ln>
          <a:effectLst>
            <a:outerShdw blurRad="209550" dist="209550" dir="5400000" algn="ctr" rotWithShape="0">
              <a:srgbClr val="081F17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Ellipse"/>
          <p:cNvSpPr/>
          <p:nvPr/>
        </p:nvSpPr>
        <p:spPr>
          <a:xfrm>
            <a:off x="7328535" y="5185410"/>
            <a:ext cx="49530" cy="49530"/>
          </a:xfrm>
          <a:prstGeom prst="ellipse">
            <a:avLst/>
          </a:prstGeom>
          <a:solidFill>
            <a:srgbClr val="3DD68C"/>
          </a:solidFill>
          <a:ln>
            <a:noFill/>
          </a:ln>
          <a:effectLst>
            <a:outerShdw blurRad="209550" dist="209550" dir="5400000" algn="ctr" rotWithShape="0">
              <a:srgbClr val="081F17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Ellipse"/>
          <p:cNvSpPr/>
          <p:nvPr/>
        </p:nvSpPr>
        <p:spPr>
          <a:xfrm>
            <a:off x="7442835" y="5185410"/>
            <a:ext cx="49530" cy="49530"/>
          </a:xfrm>
          <a:prstGeom prst="ellipse">
            <a:avLst/>
          </a:prstGeom>
          <a:solidFill>
            <a:srgbClr val="3DD68C"/>
          </a:solidFill>
          <a:ln>
            <a:noFill/>
          </a:ln>
          <a:effectLst>
            <a:outerShdw blurRad="209550" dist="209550" dir="5400000" algn="ctr" rotWithShape="0">
              <a:srgbClr val="081F17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Path"/>
          <p:cNvSpPr/>
          <p:nvPr/>
        </p:nvSpPr>
        <p:spPr>
          <a:xfrm>
            <a:off x="7350775" y="5264800"/>
            <a:ext cx="119350" cy="24100"/>
          </a:xfrm>
          <a:custGeom>
            <a:avLst/>
            <a:gdLst/>
            <a:ahLst/>
            <a:cxnLst/>
            <a:rect l="0" t="0" r="r" b="b"/>
            <a:pathLst>
              <a:path w="119350" h="24100">
                <a:moveTo>
                  <a:pt x="12050" y="144"/>
                </a:moveTo>
                <a:lnTo>
                  <a:pt x="107300" y="144"/>
                </a:lnTo>
                <a:quadBezTo>
                  <a:pt x="112291" y="0"/>
                  <a:pt x="115719" y="3631"/>
                </a:quadBezTo>
                <a:quadBezTo>
                  <a:pt x="119350" y="7059"/>
                  <a:pt x="119206" y="12050"/>
                </a:quadBezTo>
                <a:quadBezTo>
                  <a:pt x="119350" y="17041"/>
                  <a:pt x="115719" y="20469"/>
                </a:quadBezTo>
                <a:quadBezTo>
                  <a:pt x="112291" y="24100"/>
                  <a:pt x="107300" y="23956"/>
                </a:quadBezTo>
                <a:lnTo>
                  <a:pt x="12050" y="23956"/>
                </a:lnTo>
                <a:quadBezTo>
                  <a:pt x="7059" y="24100"/>
                  <a:pt x="3631" y="20469"/>
                </a:quadBezTo>
                <a:quadBezTo>
                  <a:pt x="0" y="17041"/>
                  <a:pt x="144" y="12050"/>
                </a:quadBezTo>
                <a:quadBezTo>
                  <a:pt x="0" y="7059"/>
                  <a:pt x="3631" y="3631"/>
                </a:quadBezTo>
                <a:quadBezTo>
                  <a:pt x="7059" y="0"/>
                  <a:pt x="12050" y="144"/>
                </a:quadBezTo>
                <a:close/>
              </a:path>
            </a:pathLst>
          </a:custGeom>
          <a:solidFill>
            <a:srgbClr val="3DD68C"/>
          </a:solidFill>
          <a:ln>
            <a:noFill/>
          </a:ln>
          <a:effectLst>
            <a:outerShdw blurRad="209550" dist="209550" dir="5400000" algn="ctr" rotWithShape="0">
              <a:srgbClr val="081F17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7038975" y="5791200"/>
            <a:ext cx="2286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900"/>
              </a:lnSpc>
            </a:pPr>
            <a:r>
              <a:rPr lang="zh-CN" sz="3000">
                <a:solidFill>
                  <a:srgbClr val="FFFFFF"/>
                </a:solidFill>
                <a:effectLst>
                  <a:outerShdw blurRad="209550" dist="209550" dir="5400000" algn="ctr" rotWithShape="0">
                    <a:srgbClr val="081F17">
                      <a:alpha val="28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云端数字员工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7038975" y="6400800"/>
            <a:ext cx="4086253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300"/>
              </a:lnSpc>
            </a:pPr>
            <a:r>
              <a:rPr lang="en-US" sz="2025">
                <a:solidFill>
                  <a:srgbClr val="A9C2B9"/>
                </a:solidFill>
                <a:effectLst>
                  <a:outerShdw blurRad="209550" dist="209550" dir="5400000" algn="ctr" rotWithShape="0">
                    <a:srgbClr val="081F17">
                      <a:alpha val="28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7×24 </a:t>
            </a:r>
          </a:p>
        </p:txBody>
      </p:sp>
      <p:sp>
        <p:nvSpPr>
          <p:cNvPr id="27" name="Rectangle"/>
          <p:cNvSpPr/>
          <p:nvPr/>
        </p:nvSpPr>
        <p:spPr>
          <a:xfrm>
            <a:off x="12058650" y="4095750"/>
            <a:ext cx="5076825" cy="428625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Rectangle"/>
          <p:cNvSpPr/>
          <p:nvPr/>
        </p:nvSpPr>
        <p:spPr>
          <a:xfrm>
            <a:off x="12496800" y="4533900"/>
            <a:ext cx="552450" cy="57150"/>
          </a:xfrm>
          <a:prstGeom prst="roundRect">
            <a:avLst>
              <a:gd name="adj" fmla="val 50000"/>
            </a:avLst>
          </a:prstGeom>
          <a:solidFill>
            <a:srgbClr val="28B894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Rectangle"/>
          <p:cNvSpPr/>
          <p:nvPr/>
        </p:nvSpPr>
        <p:spPr>
          <a:xfrm>
            <a:off x="12496800" y="4819650"/>
            <a:ext cx="742950" cy="742950"/>
          </a:xfrm>
          <a:prstGeom prst="roundRect">
            <a:avLst>
              <a:gd name="adj" fmla="val 30769"/>
            </a:avLst>
          </a:prstGeom>
          <a:solidFill>
            <a:srgbClr val="29B894">
              <a:alpha val="13000"/>
            </a:srgbClr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Path"/>
          <p:cNvSpPr/>
          <p:nvPr/>
        </p:nvSpPr>
        <p:spPr>
          <a:xfrm>
            <a:off x="12713447" y="5017286"/>
            <a:ext cx="309657" cy="347673"/>
          </a:xfrm>
          <a:custGeom>
            <a:avLst/>
            <a:gdLst/>
            <a:ahLst/>
            <a:cxnLst/>
            <a:rect l="0" t="0" r="r" b="b"/>
            <a:pathLst>
              <a:path w="309657" h="347673">
                <a:moveTo>
                  <a:pt x="302125" y="58009"/>
                </a:moveTo>
                <a:quadBezTo>
                  <a:pt x="305546" y="59327"/>
                  <a:pt x="307562" y="62389"/>
                </a:quadBezTo>
                <a:quadBezTo>
                  <a:pt x="309657" y="65398"/>
                  <a:pt x="309610" y="69064"/>
                </a:quadBezTo>
                <a:lnTo>
                  <a:pt x="309610" y="164314"/>
                </a:lnTo>
                <a:quadBezTo>
                  <a:pt x="309609" y="231106"/>
                  <a:pt x="265951" y="281089"/>
                </a:quadBezTo>
                <a:quadBezTo>
                  <a:pt x="225243" y="327694"/>
                  <a:pt x="158152" y="347197"/>
                </a:quadBezTo>
                <a:quadBezTo>
                  <a:pt x="156524" y="347673"/>
                  <a:pt x="154828" y="347670"/>
                </a:quadBezTo>
                <a:quadBezTo>
                  <a:pt x="153132" y="347673"/>
                  <a:pt x="151505" y="347197"/>
                </a:quadBezTo>
                <a:quadBezTo>
                  <a:pt x="84414" y="327694"/>
                  <a:pt x="43706" y="281089"/>
                </a:quadBezTo>
                <a:quadBezTo>
                  <a:pt x="47" y="231106"/>
                  <a:pt x="47" y="164314"/>
                </a:quadBezTo>
                <a:lnTo>
                  <a:pt x="47" y="69064"/>
                </a:lnTo>
                <a:quadBezTo>
                  <a:pt x="0" y="65398"/>
                  <a:pt x="2094" y="62389"/>
                </a:quadBezTo>
                <a:quadBezTo>
                  <a:pt x="4110" y="59327"/>
                  <a:pt x="7531" y="58009"/>
                </a:quadBezTo>
                <a:lnTo>
                  <a:pt x="150406" y="859"/>
                </a:lnTo>
                <a:quadBezTo>
                  <a:pt x="152534" y="0"/>
                  <a:pt x="154828" y="8"/>
                </a:quadBezTo>
                <a:quadBezTo>
                  <a:pt x="157123" y="0"/>
                  <a:pt x="159250" y="859"/>
                </a:quadBezTo>
                <a:lnTo>
                  <a:pt x="302125" y="58009"/>
                </a:lnTo>
                <a:close/>
                <a:moveTo>
                  <a:pt x="154828" y="24737"/>
                </a:moveTo>
                <a:lnTo>
                  <a:pt x="23860" y="77125"/>
                </a:lnTo>
                <a:lnTo>
                  <a:pt x="23860" y="164314"/>
                </a:lnTo>
                <a:quadBezTo>
                  <a:pt x="23860" y="222171"/>
                  <a:pt x="61640" y="265424"/>
                </a:quadBezTo>
                <a:quadBezTo>
                  <a:pt x="96760" y="305631"/>
                  <a:pt x="154828" y="323341"/>
                </a:quadBezTo>
                <a:quadBezTo>
                  <a:pt x="212897" y="305631"/>
                  <a:pt x="248017" y="265424"/>
                </a:quadBezTo>
                <a:quadBezTo>
                  <a:pt x="285797" y="222171"/>
                  <a:pt x="285797" y="164314"/>
                </a:quadBezTo>
                <a:lnTo>
                  <a:pt x="285797" y="77125"/>
                </a:lnTo>
                <a:lnTo>
                  <a:pt x="154828" y="24737"/>
                </a:lnTo>
                <a:close/>
              </a:path>
            </a:pathLst>
          </a:custGeom>
          <a:solidFill>
            <a:srgbClr val="28B894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Path"/>
          <p:cNvSpPr/>
          <p:nvPr/>
        </p:nvSpPr>
        <p:spPr>
          <a:xfrm>
            <a:off x="12794312" y="5140975"/>
            <a:ext cx="147925" cy="105062"/>
          </a:xfrm>
          <a:custGeom>
            <a:avLst/>
            <a:gdLst/>
            <a:ahLst/>
            <a:cxnLst/>
            <a:rect l="0" t="0" r="r" b="b"/>
            <a:pathLst>
              <a:path w="147925" h="105062">
                <a:moveTo>
                  <a:pt x="20469" y="41731"/>
                </a:moveTo>
                <a:lnTo>
                  <a:pt x="54912" y="76174"/>
                </a:lnTo>
                <a:lnTo>
                  <a:pt x="127456" y="3631"/>
                </a:lnTo>
                <a:quadBezTo>
                  <a:pt x="130884" y="0"/>
                  <a:pt x="135875" y="144"/>
                </a:quadBezTo>
                <a:quadBezTo>
                  <a:pt x="140866" y="0"/>
                  <a:pt x="144294" y="3631"/>
                </a:quadBezTo>
                <a:quadBezTo>
                  <a:pt x="147925" y="7059"/>
                  <a:pt x="147781" y="12050"/>
                </a:quadBezTo>
                <a:quadBezTo>
                  <a:pt x="147925" y="17041"/>
                  <a:pt x="144294" y="20469"/>
                </a:quadBezTo>
                <a:lnTo>
                  <a:pt x="63331" y="101431"/>
                </a:lnTo>
                <a:quadBezTo>
                  <a:pt x="59904" y="105062"/>
                  <a:pt x="54912" y="104919"/>
                </a:quadBezTo>
                <a:quadBezTo>
                  <a:pt x="49921" y="105062"/>
                  <a:pt x="46493" y="101431"/>
                </a:quadBezTo>
                <a:lnTo>
                  <a:pt x="3631" y="58569"/>
                </a:lnTo>
                <a:quadBezTo>
                  <a:pt x="0" y="55141"/>
                  <a:pt x="144" y="50150"/>
                </a:quadBezTo>
                <a:quadBezTo>
                  <a:pt x="0" y="45159"/>
                  <a:pt x="3631" y="41731"/>
                </a:quadBezTo>
                <a:quadBezTo>
                  <a:pt x="7059" y="38100"/>
                  <a:pt x="12050" y="38244"/>
                </a:quadBezTo>
                <a:quadBezTo>
                  <a:pt x="17041" y="38100"/>
                  <a:pt x="20469" y="41731"/>
                </a:quadBezTo>
                <a:close/>
              </a:path>
            </a:pathLst>
          </a:custGeom>
          <a:solidFill>
            <a:srgbClr val="28B894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Box"/>
          <p:cNvSpPr txBox="1"/>
          <p:nvPr/>
        </p:nvSpPr>
        <p:spPr>
          <a:xfrm>
            <a:off x="12496800" y="5791200"/>
            <a:ext cx="2667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900"/>
              </a:lnSpc>
            </a:pPr>
            <a:r>
              <a:rPr lang="zh-CN" sz="3000">
                <a:solidFill>
                  <a:srgbClr val="0E201A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企业级管理后台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12496800" y="6400800"/>
            <a:ext cx="4139746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300"/>
              </a:lnSpc>
            </a:pPr>
            <a:r>
              <a:rPr lang="en-US" sz="2025">
                <a:solidFill>
                  <a:srgbClr val="5C7169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Connector </a:t>
            </a:r>
          </a:p>
        </p:txBody>
      </p:sp>
      <p:sp>
        <p:nvSpPr>
          <p:cNvPr id="34" name="Rectangle"/>
          <p:cNvSpPr/>
          <p:nvPr/>
        </p:nvSpPr>
        <p:spPr>
          <a:xfrm>
            <a:off x="12063413" y="4100513"/>
            <a:ext cx="5067300" cy="4276725"/>
          </a:xfrm>
          <a:prstGeom prst="roundRect">
            <a:avLst>
              <a:gd name="adj" fmla="val 6124"/>
            </a:avLst>
          </a:prstGeom>
          <a:noFill/>
          <a:ln w="9525">
            <a:solidFill>
              <a:srgbClr val="DEEDE6"/>
            </a:solidFill>
            <a:miter lim="400000"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Box"/>
          <p:cNvSpPr txBox="1"/>
          <p:nvPr/>
        </p:nvSpPr>
        <p:spPr>
          <a:xfrm>
            <a:off x="1143000" y="9010650"/>
            <a:ext cx="3816249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zh-CN" sz="1800">
                <a:solidFill>
                  <a:srgbClr val="8AA39A"/>
                </a:solidFill>
                <a:latin typeface="Source Han Sans CN"/>
                <a:ea typeface="Source Han Sans CN"/>
                <a:cs typeface="Source Han Sans CN"/>
              </a:rPr>
              <a:t>WorkBuddy  ·  企业级 AI 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16849725" y="9010650"/>
            <a:ext cx="29222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en-US" sz="1950">
                <a:solidFill>
                  <a:srgbClr val="28B894"/>
                </a:solidFill>
                <a:latin typeface="Source Han Sans CN Bold"/>
                <a:ea typeface="Source Han Sans CN Bold"/>
                <a:cs typeface="Source Han Sans CN Bol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BF2F0"/>
              </a:gs>
            </a:gsLst>
            <a:lin ang="1761465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952500"/>
            <a:ext cx="2258568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en-US" sz="2100" spc="300">
                <a:solidFill>
                  <a:srgbClr val="28B894"/>
                </a:solidFill>
                <a:latin typeface="Source Han Sans CN"/>
                <a:ea typeface="Source Han Sans CN"/>
                <a:cs typeface="Source Han Sans CN"/>
              </a:rPr>
              <a:t>06  · 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524000"/>
            <a:ext cx="9996831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6000"/>
              </a:lnSpc>
            </a:pPr>
            <a:r>
              <a:rPr lang="zh-CN" sz="4650">
                <a:solidFill>
                  <a:srgbClr val="0E201A"/>
                </a:solidFill>
                <a:latin typeface="Source Han Sans CN"/>
                <a:ea typeface="Source Han Sans CN"/>
                <a:cs typeface="Source Han Sans CN"/>
              </a:rPr>
              <a:t>MCP 连接器：把 AI 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495550"/>
            <a:ext cx="73533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450"/>
              </a:lnSpc>
            </a:pPr>
            <a:r>
              <a:rPr lang="en-US" sz="2400">
                <a:solidFill>
                  <a:srgbClr val="5C7169"/>
                </a:solidFill>
                <a:latin typeface="Source Han Sans CN"/>
                <a:ea typeface="Source Han Sans CN"/>
                <a:cs typeface="Source Han Sans CN"/>
              </a:rPr>
              <a:t>AI 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3524250"/>
            <a:ext cx="16002000" cy="41910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Rectangle"/>
          <p:cNvSpPr/>
          <p:nvPr/>
        </p:nvSpPr>
        <p:spPr>
          <a:xfrm>
            <a:off x="1600200" y="3981450"/>
            <a:ext cx="571500" cy="571500"/>
          </a:xfrm>
          <a:prstGeom prst="roundRect">
            <a:avLst>
              <a:gd name="adj" fmla="val 30000"/>
            </a:avLst>
          </a:prstGeom>
          <a:solidFill>
            <a:srgbClr val="29B894">
              <a:alpha val="13000"/>
            </a:srgbClr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Path"/>
          <p:cNvSpPr/>
          <p:nvPr/>
        </p:nvSpPr>
        <p:spPr>
          <a:xfrm>
            <a:off x="1744950" y="4154948"/>
            <a:ext cx="282797" cy="199884"/>
          </a:xfrm>
          <a:custGeom>
            <a:avLst/>
            <a:gdLst/>
            <a:ahLst/>
            <a:cxnLst/>
            <a:rect l="0" t="0" r="r" b="b"/>
            <a:pathLst>
              <a:path w="282797" h="199884">
                <a:moveTo>
                  <a:pt x="20319" y="176859"/>
                </a:moveTo>
                <a:quadBezTo>
                  <a:pt x="0" y="154960"/>
                  <a:pt x="1120" y="125109"/>
                </a:quadBezTo>
                <a:quadBezTo>
                  <a:pt x="2239" y="95258"/>
                  <a:pt x="24142" y="74942"/>
                </a:quadBezTo>
                <a:quadBezTo>
                  <a:pt x="43568" y="56923"/>
                  <a:pt x="69251" y="55767"/>
                </a:quadBezTo>
                <a:quadBezTo>
                  <a:pt x="81663" y="30623"/>
                  <a:pt x="106309" y="16149"/>
                </a:quadBezTo>
                <a:quadBezTo>
                  <a:pt x="133808" y="0"/>
                  <a:pt x="165494" y="3621"/>
                </a:quadBezTo>
                <a:quadBezTo>
                  <a:pt x="197180" y="7241"/>
                  <a:pt x="220326" y="29178"/>
                </a:quadBezTo>
                <a:quadBezTo>
                  <a:pt x="241669" y="49406"/>
                  <a:pt x="247847" y="77717"/>
                </a:quadBezTo>
                <a:quadBezTo>
                  <a:pt x="263362" y="86512"/>
                  <a:pt x="272443" y="102267"/>
                </a:quadBezTo>
                <a:quadBezTo>
                  <a:pt x="282797" y="120233"/>
                  <a:pt x="281125" y="140901"/>
                </a:quadBezTo>
                <a:quadBezTo>
                  <a:pt x="279453" y="161569"/>
                  <a:pt x="266346" y="177637"/>
                </a:quadBezTo>
                <a:quadBezTo>
                  <a:pt x="253238" y="193705"/>
                  <a:pt x="233326" y="199497"/>
                </a:quadBezTo>
                <a:quadBezTo>
                  <a:pt x="232663" y="199690"/>
                  <a:pt x="231979" y="199787"/>
                </a:quadBezTo>
                <a:quadBezTo>
                  <a:pt x="231296" y="199884"/>
                  <a:pt x="230605" y="199884"/>
                </a:quadBezTo>
                <a:lnTo>
                  <a:pt x="70857" y="199884"/>
                </a:lnTo>
                <a:quadBezTo>
                  <a:pt x="70766" y="199884"/>
                  <a:pt x="70675" y="199883"/>
                </a:quadBezTo>
                <a:quadBezTo>
                  <a:pt x="70583" y="199881"/>
                  <a:pt x="70492" y="199877"/>
                </a:quadBezTo>
                <a:quadBezTo>
                  <a:pt x="40638" y="198758"/>
                  <a:pt x="20319" y="176859"/>
                </a:quadBezTo>
                <a:close/>
                <a:moveTo>
                  <a:pt x="34601" y="163608"/>
                </a:moveTo>
                <a:quadBezTo>
                  <a:pt x="49372" y="179527"/>
                  <a:pt x="71046" y="180401"/>
                </a:quadBezTo>
                <a:lnTo>
                  <a:pt x="229155" y="180401"/>
                </a:lnTo>
                <a:quadBezTo>
                  <a:pt x="242396" y="176174"/>
                  <a:pt x="251249" y="165321"/>
                </a:quadBezTo>
                <a:quadBezTo>
                  <a:pt x="260523" y="153953"/>
                  <a:pt x="261706" y="139330"/>
                </a:quadBezTo>
                <a:quadBezTo>
                  <a:pt x="262889" y="124707"/>
                  <a:pt x="255563" y="111996"/>
                </a:quadBezTo>
                <a:quadBezTo>
                  <a:pt x="248236" y="99284"/>
                  <a:pt x="234988" y="92975"/>
                </a:quadBezTo>
                <a:quadBezTo>
                  <a:pt x="232828" y="91964"/>
                  <a:pt x="231403" y="90051"/>
                </a:quadBezTo>
                <a:quadBezTo>
                  <a:pt x="229953" y="88157"/>
                  <a:pt x="229571" y="85802"/>
                </a:quadBezTo>
                <a:quadBezTo>
                  <a:pt x="225345" y="60778"/>
                  <a:pt x="206924" y="43319"/>
                </a:quadBezTo>
                <a:quadBezTo>
                  <a:pt x="188501" y="25859"/>
                  <a:pt x="163282" y="22978"/>
                </a:quadBezTo>
                <a:quadBezTo>
                  <a:pt x="138063" y="20096"/>
                  <a:pt x="116175" y="32949"/>
                </a:quadBezTo>
                <a:quadBezTo>
                  <a:pt x="94289" y="45803"/>
                  <a:pt x="84524" y="69229"/>
                </a:quadBezTo>
                <a:quadBezTo>
                  <a:pt x="83385" y="72071"/>
                  <a:pt x="80783" y="73686"/>
                </a:quadBezTo>
                <a:quadBezTo>
                  <a:pt x="78226" y="75372"/>
                  <a:pt x="75168" y="75215"/>
                </a:quadBezTo>
                <a:quadBezTo>
                  <a:pt x="53377" y="74398"/>
                  <a:pt x="37391" y="89226"/>
                </a:quadBezTo>
                <a:quadBezTo>
                  <a:pt x="21406" y="104054"/>
                  <a:pt x="20589" y="125839"/>
                </a:quadBezTo>
                <a:quadBezTo>
                  <a:pt x="19772" y="147625"/>
                  <a:pt x="34601" y="163608"/>
                </a:quadBezTo>
                <a:close/>
              </a:path>
            </a:pathLst>
          </a:custGeom>
          <a:solidFill>
            <a:srgbClr val="28B894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Box"/>
          <p:cNvSpPr txBox="1"/>
          <p:nvPr/>
        </p:nvSpPr>
        <p:spPr>
          <a:xfrm>
            <a:off x="2324100" y="4067175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0E201A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腾讯生态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600200" y="4743450"/>
            <a:ext cx="3543300" cy="2190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450"/>
              </a:lnSpc>
            </a:pPr>
            <a:r>
              <a:rPr lang="en-US" sz="1950">
                <a:solidFill>
                  <a:srgbClr val="4A5F58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·  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en-US" sz="1950">
                <a:solidFill>
                  <a:srgbClr val="4A5F58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·  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en-US" sz="1950">
                <a:solidFill>
                  <a:srgbClr val="4A5F58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·  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zh-CN" sz="1950">
                <a:solidFill>
                  <a:srgbClr val="4A5F58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·  企业微信  /  QQ 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zh-CN" sz="1950">
                <a:solidFill>
                  <a:srgbClr val="4A5F58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·  腾讯网盘  /  ima </a:t>
            </a:r>
          </a:p>
        </p:txBody>
      </p:sp>
      <p:sp>
        <p:nvSpPr>
          <p:cNvPr id="11" name="Rectangle"/>
          <p:cNvSpPr/>
          <p:nvPr/>
        </p:nvSpPr>
        <p:spPr>
          <a:xfrm>
            <a:off x="5448300" y="3981450"/>
            <a:ext cx="571500" cy="571500"/>
          </a:xfrm>
          <a:prstGeom prst="roundRect">
            <a:avLst>
              <a:gd name="adj" fmla="val 30000"/>
            </a:avLst>
          </a:prstGeom>
          <a:solidFill>
            <a:srgbClr val="29B894">
              <a:alpha val="13000"/>
            </a:srgbClr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Rectangle"/>
          <p:cNvSpPr/>
          <p:nvPr/>
        </p:nvSpPr>
        <p:spPr>
          <a:xfrm>
            <a:off x="5601566" y="4134716"/>
            <a:ext cx="116898" cy="116898"/>
          </a:xfrm>
          <a:prstGeom prst="roundRect">
            <a:avLst>
              <a:gd name="adj" fmla="val 26666"/>
            </a:avLst>
          </a:prstGeom>
          <a:noFill/>
          <a:ln w="19483">
            <a:solidFill>
              <a:srgbClr val="28B894"/>
            </a:solidFill>
            <a:miter lim="400000"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Rectangle"/>
          <p:cNvSpPr/>
          <p:nvPr/>
        </p:nvSpPr>
        <p:spPr>
          <a:xfrm>
            <a:off x="5749636" y="4134716"/>
            <a:ext cx="116898" cy="116898"/>
          </a:xfrm>
          <a:prstGeom prst="roundRect">
            <a:avLst>
              <a:gd name="adj" fmla="val 26666"/>
            </a:avLst>
          </a:prstGeom>
          <a:noFill/>
          <a:ln w="19483">
            <a:solidFill>
              <a:srgbClr val="28B894"/>
            </a:solidFill>
            <a:miter lim="400000"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Rectangle"/>
          <p:cNvSpPr/>
          <p:nvPr/>
        </p:nvSpPr>
        <p:spPr>
          <a:xfrm>
            <a:off x="5601566" y="4282786"/>
            <a:ext cx="116898" cy="116898"/>
          </a:xfrm>
          <a:prstGeom prst="roundRect">
            <a:avLst>
              <a:gd name="adj" fmla="val 26666"/>
            </a:avLst>
          </a:prstGeom>
          <a:noFill/>
          <a:ln w="19483">
            <a:solidFill>
              <a:srgbClr val="28B894"/>
            </a:solidFill>
            <a:miter lim="400000"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Rectangle"/>
          <p:cNvSpPr/>
          <p:nvPr/>
        </p:nvSpPr>
        <p:spPr>
          <a:xfrm>
            <a:off x="5749636" y="4282786"/>
            <a:ext cx="116898" cy="116898"/>
          </a:xfrm>
          <a:prstGeom prst="roundRect">
            <a:avLst>
              <a:gd name="adj" fmla="val 26666"/>
            </a:avLst>
          </a:prstGeom>
          <a:noFill/>
          <a:ln w="19483">
            <a:solidFill>
              <a:srgbClr val="28B894"/>
            </a:solidFill>
            <a:miter lim="400000"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6172200" y="4067175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0E201A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办公协作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5448300" y="4743450"/>
            <a:ext cx="3543300" cy="175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450"/>
              </a:lnSpc>
            </a:pPr>
            <a:r>
              <a:rPr lang="zh-CN" sz="1950">
                <a:solidFill>
                  <a:srgbClr val="4A5F58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·  飞书  /  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en-US" sz="1950">
                <a:solidFill>
                  <a:srgbClr val="4A5F58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·  Notion  /  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en-US" sz="1950">
                <a:solidFill>
                  <a:srgbClr val="4A5F58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·  GitHub  /  TAPD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zh-CN" sz="1950">
                <a:solidFill>
                  <a:srgbClr val="4A5F58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·  腾讯会议 / </a:t>
            </a:r>
          </a:p>
        </p:txBody>
      </p:sp>
      <p:sp>
        <p:nvSpPr>
          <p:cNvPr id="18" name="Rectangle"/>
          <p:cNvSpPr/>
          <p:nvPr/>
        </p:nvSpPr>
        <p:spPr>
          <a:xfrm>
            <a:off x="9296400" y="3981450"/>
            <a:ext cx="571500" cy="571500"/>
          </a:xfrm>
          <a:prstGeom prst="roundRect">
            <a:avLst>
              <a:gd name="adj" fmla="val 30000"/>
            </a:avLst>
          </a:prstGeom>
          <a:solidFill>
            <a:srgbClr val="29B894">
              <a:alpha val="13000"/>
            </a:srgbClr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Path"/>
          <p:cNvSpPr/>
          <p:nvPr/>
        </p:nvSpPr>
        <p:spPr>
          <a:xfrm>
            <a:off x="9455393" y="4156030"/>
            <a:ext cx="253513" cy="237927"/>
          </a:xfrm>
          <a:custGeom>
            <a:avLst/>
            <a:gdLst/>
            <a:ahLst/>
            <a:cxnLst/>
            <a:rect l="0" t="0" r="r" b="b"/>
            <a:pathLst>
              <a:path w="253513" h="237927">
                <a:moveTo>
                  <a:pt x="233913" y="228068"/>
                </a:moveTo>
                <a:lnTo>
                  <a:pt x="233913" y="9859"/>
                </a:lnTo>
                <a:quadBezTo>
                  <a:pt x="233795" y="5775"/>
                  <a:pt x="236766" y="2971"/>
                </a:quadBezTo>
                <a:quadBezTo>
                  <a:pt x="239571" y="0"/>
                  <a:pt x="243654" y="118"/>
                </a:quadBezTo>
                <a:quadBezTo>
                  <a:pt x="247738" y="0"/>
                  <a:pt x="250543" y="2971"/>
                </a:quadBezTo>
                <a:quadBezTo>
                  <a:pt x="253513" y="5775"/>
                  <a:pt x="253396" y="9859"/>
                </a:quadBezTo>
                <a:lnTo>
                  <a:pt x="253396" y="228068"/>
                </a:lnTo>
                <a:quadBezTo>
                  <a:pt x="253513" y="232152"/>
                  <a:pt x="250543" y="234956"/>
                </a:quadBezTo>
                <a:quadBezTo>
                  <a:pt x="247738" y="237927"/>
                  <a:pt x="243654" y="237810"/>
                </a:quadBezTo>
                <a:quadBezTo>
                  <a:pt x="239571" y="237927"/>
                  <a:pt x="236766" y="234956"/>
                </a:quadBezTo>
                <a:quadBezTo>
                  <a:pt x="233795" y="232152"/>
                  <a:pt x="233913" y="228068"/>
                </a:quadBezTo>
                <a:close/>
                <a:moveTo>
                  <a:pt x="78049" y="228068"/>
                </a:moveTo>
                <a:lnTo>
                  <a:pt x="78049" y="56618"/>
                </a:lnTo>
                <a:quadBezTo>
                  <a:pt x="77932" y="52534"/>
                  <a:pt x="80903" y="49730"/>
                </a:quadBezTo>
                <a:quadBezTo>
                  <a:pt x="83707" y="46759"/>
                  <a:pt x="87791" y="46877"/>
                </a:quadBezTo>
                <a:quadBezTo>
                  <a:pt x="91875" y="46759"/>
                  <a:pt x="94679" y="49730"/>
                </a:quadBezTo>
                <a:quadBezTo>
                  <a:pt x="97650" y="52534"/>
                  <a:pt x="97532" y="56618"/>
                </a:quadBezTo>
                <a:lnTo>
                  <a:pt x="97532" y="228068"/>
                </a:lnTo>
                <a:quadBezTo>
                  <a:pt x="97650" y="232152"/>
                  <a:pt x="94679" y="234956"/>
                </a:quadBezTo>
                <a:quadBezTo>
                  <a:pt x="91875" y="237927"/>
                  <a:pt x="87791" y="237810"/>
                </a:quadBezTo>
                <a:quadBezTo>
                  <a:pt x="83707" y="237927"/>
                  <a:pt x="80903" y="234956"/>
                </a:quadBezTo>
                <a:quadBezTo>
                  <a:pt x="77932" y="232152"/>
                  <a:pt x="78049" y="228068"/>
                </a:quadBezTo>
                <a:close/>
                <a:moveTo>
                  <a:pt x="155981" y="228068"/>
                </a:moveTo>
                <a:lnTo>
                  <a:pt x="155981" y="103377"/>
                </a:lnTo>
                <a:quadBezTo>
                  <a:pt x="155864" y="99293"/>
                  <a:pt x="158834" y="96489"/>
                </a:quadBezTo>
                <a:quadBezTo>
                  <a:pt x="161639" y="93518"/>
                  <a:pt x="165723" y="93636"/>
                </a:quadBezTo>
                <a:quadBezTo>
                  <a:pt x="169806" y="93518"/>
                  <a:pt x="172611" y="96489"/>
                </a:quadBezTo>
                <a:quadBezTo>
                  <a:pt x="175582" y="99293"/>
                  <a:pt x="175464" y="103377"/>
                </a:quadBezTo>
                <a:lnTo>
                  <a:pt x="175464" y="228068"/>
                </a:lnTo>
                <a:quadBezTo>
                  <a:pt x="175582" y="232152"/>
                  <a:pt x="172611" y="234956"/>
                </a:quadBezTo>
                <a:quadBezTo>
                  <a:pt x="169806" y="237927"/>
                  <a:pt x="165723" y="237810"/>
                </a:quadBezTo>
                <a:quadBezTo>
                  <a:pt x="161639" y="237927"/>
                  <a:pt x="158834" y="234956"/>
                </a:quadBezTo>
                <a:quadBezTo>
                  <a:pt x="155864" y="232152"/>
                  <a:pt x="155981" y="228068"/>
                </a:quadBezTo>
                <a:close/>
                <a:moveTo>
                  <a:pt x="118" y="228068"/>
                </a:moveTo>
                <a:lnTo>
                  <a:pt x="118" y="134550"/>
                </a:lnTo>
                <a:quadBezTo>
                  <a:pt x="0" y="130466"/>
                  <a:pt x="2971" y="127662"/>
                </a:quadBezTo>
                <a:quadBezTo>
                  <a:pt x="5775" y="124691"/>
                  <a:pt x="9859" y="124808"/>
                </a:quadBezTo>
                <a:quadBezTo>
                  <a:pt x="13943" y="124691"/>
                  <a:pt x="16747" y="127662"/>
                </a:quadBezTo>
                <a:quadBezTo>
                  <a:pt x="19718" y="130466"/>
                  <a:pt x="19600" y="134550"/>
                </a:quadBezTo>
                <a:lnTo>
                  <a:pt x="19600" y="228068"/>
                </a:lnTo>
                <a:quadBezTo>
                  <a:pt x="19718" y="232152"/>
                  <a:pt x="16747" y="234956"/>
                </a:quadBezTo>
                <a:quadBezTo>
                  <a:pt x="13943" y="237927"/>
                  <a:pt x="9859" y="237810"/>
                </a:quadBezTo>
                <a:quadBezTo>
                  <a:pt x="5775" y="237927"/>
                  <a:pt x="2971" y="234956"/>
                </a:quadBezTo>
                <a:quadBezTo>
                  <a:pt x="0" y="232152"/>
                  <a:pt x="118" y="228068"/>
                </a:quadBezTo>
                <a:close/>
              </a:path>
            </a:pathLst>
          </a:custGeom>
          <a:solidFill>
            <a:srgbClr val="28B894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Box"/>
          <p:cNvSpPr txBox="1"/>
          <p:nvPr/>
        </p:nvSpPr>
        <p:spPr>
          <a:xfrm>
            <a:off x="10020300" y="4067175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0E201A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商业数据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9296400" y="4743450"/>
            <a:ext cx="3543300" cy="175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450"/>
              </a:lnSpc>
            </a:pPr>
            <a:r>
              <a:rPr lang="zh-CN" sz="1950">
                <a:solidFill>
                  <a:srgbClr val="4A5F58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·  企查查 / 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en-US" sz="1950">
                <a:solidFill>
                  <a:srgbClr val="4A5F58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·  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en-US" sz="1950">
                <a:solidFill>
                  <a:srgbClr val="4A5F58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·  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zh-CN" sz="1950">
                <a:solidFill>
                  <a:srgbClr val="4A5F58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·  东方财富 / </a:t>
            </a:r>
          </a:p>
        </p:txBody>
      </p:sp>
      <p:sp>
        <p:nvSpPr>
          <p:cNvPr id="22" name="Rectangle"/>
          <p:cNvSpPr/>
          <p:nvPr/>
        </p:nvSpPr>
        <p:spPr>
          <a:xfrm>
            <a:off x="13144500" y="3981450"/>
            <a:ext cx="571500" cy="571500"/>
          </a:xfrm>
          <a:prstGeom prst="roundRect">
            <a:avLst>
              <a:gd name="adj" fmla="val 30000"/>
            </a:avLst>
          </a:prstGeom>
          <a:solidFill>
            <a:srgbClr val="0E201A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Path"/>
          <p:cNvSpPr/>
          <p:nvPr/>
        </p:nvSpPr>
        <p:spPr>
          <a:xfrm>
            <a:off x="13381425" y="4132650"/>
            <a:ext cx="97650" cy="82063"/>
          </a:xfrm>
          <a:custGeom>
            <a:avLst/>
            <a:gdLst/>
            <a:ahLst/>
            <a:cxnLst/>
            <a:rect l="0" t="0" r="r" b="b"/>
            <a:pathLst>
              <a:path w="97650" h="82063">
                <a:moveTo>
                  <a:pt x="19600" y="9859"/>
                </a:moveTo>
                <a:lnTo>
                  <a:pt x="19600" y="72204"/>
                </a:lnTo>
                <a:quadBezTo>
                  <a:pt x="19718" y="76288"/>
                  <a:pt x="16747" y="79093"/>
                </a:quadBezTo>
                <a:quadBezTo>
                  <a:pt x="13943" y="82063"/>
                  <a:pt x="9859" y="81946"/>
                </a:quadBezTo>
                <a:quadBezTo>
                  <a:pt x="5775" y="82063"/>
                  <a:pt x="2971" y="79093"/>
                </a:quadBezTo>
                <a:quadBezTo>
                  <a:pt x="0" y="76288"/>
                  <a:pt x="118" y="72204"/>
                </a:quadBezTo>
                <a:lnTo>
                  <a:pt x="118" y="9859"/>
                </a:lnTo>
                <a:quadBezTo>
                  <a:pt x="0" y="5775"/>
                  <a:pt x="2971" y="2971"/>
                </a:quadBezTo>
                <a:quadBezTo>
                  <a:pt x="5775" y="0"/>
                  <a:pt x="9859" y="118"/>
                </a:quadBezTo>
                <a:quadBezTo>
                  <a:pt x="13943" y="0"/>
                  <a:pt x="16747" y="2971"/>
                </a:quadBezTo>
                <a:quadBezTo>
                  <a:pt x="19718" y="5775"/>
                  <a:pt x="19600" y="9859"/>
                </a:quadBezTo>
                <a:close/>
                <a:moveTo>
                  <a:pt x="97532" y="9859"/>
                </a:moveTo>
                <a:lnTo>
                  <a:pt x="97532" y="72204"/>
                </a:lnTo>
                <a:quadBezTo>
                  <a:pt x="97650" y="76288"/>
                  <a:pt x="94679" y="79093"/>
                </a:quadBezTo>
                <a:quadBezTo>
                  <a:pt x="91875" y="82063"/>
                  <a:pt x="87791" y="81946"/>
                </a:quadBezTo>
                <a:quadBezTo>
                  <a:pt x="83707" y="82063"/>
                  <a:pt x="80903" y="79093"/>
                </a:quadBezTo>
                <a:quadBezTo>
                  <a:pt x="77932" y="76288"/>
                  <a:pt x="78049" y="72204"/>
                </a:quadBezTo>
                <a:lnTo>
                  <a:pt x="78049" y="9859"/>
                </a:lnTo>
                <a:quadBezTo>
                  <a:pt x="77932" y="5775"/>
                  <a:pt x="80903" y="2971"/>
                </a:quadBezTo>
                <a:quadBezTo>
                  <a:pt x="83707" y="0"/>
                  <a:pt x="87791" y="118"/>
                </a:quadBezTo>
                <a:quadBezTo>
                  <a:pt x="91875" y="0"/>
                  <a:pt x="94679" y="2971"/>
                </a:quadBezTo>
                <a:quadBezTo>
                  <a:pt x="97650" y="5775"/>
                  <a:pt x="97532" y="9859"/>
                </a:quadBezTo>
                <a:close/>
              </a:path>
            </a:pathLst>
          </a:custGeom>
          <a:solidFill>
            <a:srgbClr val="3DD68C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Path"/>
          <p:cNvSpPr/>
          <p:nvPr/>
        </p:nvSpPr>
        <p:spPr>
          <a:xfrm>
            <a:off x="13358045" y="4194996"/>
            <a:ext cx="144409" cy="136498"/>
          </a:xfrm>
          <a:custGeom>
            <a:avLst/>
            <a:gdLst/>
            <a:ahLst/>
            <a:cxnLst/>
            <a:rect l="0" t="0" r="r" b="b"/>
            <a:pathLst>
              <a:path w="144409" h="136498">
                <a:moveTo>
                  <a:pt x="134550" y="118"/>
                </a:moveTo>
                <a:quadBezTo>
                  <a:pt x="138634" y="0"/>
                  <a:pt x="141438" y="2971"/>
                </a:quadBezTo>
                <a:quadBezTo>
                  <a:pt x="144409" y="5775"/>
                  <a:pt x="144291" y="9859"/>
                </a:quadBezTo>
                <a:lnTo>
                  <a:pt x="144291" y="64411"/>
                </a:lnTo>
                <a:quadBezTo>
                  <a:pt x="144291" y="94271"/>
                  <a:pt x="123178" y="115384"/>
                </a:quadBezTo>
                <a:quadBezTo>
                  <a:pt x="102064" y="136498"/>
                  <a:pt x="72204" y="136498"/>
                </a:quadBezTo>
                <a:quadBezTo>
                  <a:pt x="42345" y="136498"/>
                  <a:pt x="21231" y="115384"/>
                </a:quadBezTo>
                <a:quadBezTo>
                  <a:pt x="118" y="94271"/>
                  <a:pt x="118" y="64411"/>
                </a:quadBezTo>
                <a:lnTo>
                  <a:pt x="118" y="9859"/>
                </a:lnTo>
                <a:quadBezTo>
                  <a:pt x="0" y="5775"/>
                  <a:pt x="2971" y="2971"/>
                </a:quadBezTo>
                <a:quadBezTo>
                  <a:pt x="5775" y="0"/>
                  <a:pt x="9859" y="118"/>
                </a:quadBezTo>
                <a:lnTo>
                  <a:pt x="134550" y="118"/>
                </a:lnTo>
                <a:close/>
                <a:moveTo>
                  <a:pt x="19600" y="19600"/>
                </a:moveTo>
                <a:lnTo>
                  <a:pt x="19600" y="64411"/>
                </a:lnTo>
                <a:quadBezTo>
                  <a:pt x="19600" y="86201"/>
                  <a:pt x="35008" y="101608"/>
                </a:quadBezTo>
                <a:quadBezTo>
                  <a:pt x="50415" y="117015"/>
                  <a:pt x="72204" y="117015"/>
                </a:quadBezTo>
                <a:quadBezTo>
                  <a:pt x="93994" y="117015"/>
                  <a:pt x="109401" y="101608"/>
                </a:quadBezTo>
                <a:quadBezTo>
                  <a:pt x="124808" y="86201"/>
                  <a:pt x="124808" y="64411"/>
                </a:quadBezTo>
                <a:lnTo>
                  <a:pt x="124808" y="19600"/>
                </a:lnTo>
                <a:lnTo>
                  <a:pt x="19600" y="19600"/>
                </a:lnTo>
                <a:close/>
              </a:path>
            </a:pathLst>
          </a:custGeom>
          <a:solidFill>
            <a:srgbClr val="3DD68C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Path"/>
          <p:cNvSpPr/>
          <p:nvPr/>
        </p:nvSpPr>
        <p:spPr>
          <a:xfrm>
            <a:off x="13420391" y="4311893"/>
            <a:ext cx="19718" cy="89857"/>
          </a:xfrm>
          <a:custGeom>
            <a:avLst/>
            <a:gdLst/>
            <a:ahLst/>
            <a:cxnLst/>
            <a:rect l="0" t="0" r="r" b="b"/>
            <a:pathLst>
              <a:path w="19718" h="89857">
                <a:moveTo>
                  <a:pt x="19600" y="9859"/>
                </a:moveTo>
                <a:lnTo>
                  <a:pt x="19600" y="79998"/>
                </a:lnTo>
                <a:quadBezTo>
                  <a:pt x="19718" y="84081"/>
                  <a:pt x="16747" y="86886"/>
                </a:quadBezTo>
                <a:quadBezTo>
                  <a:pt x="13943" y="89857"/>
                  <a:pt x="9859" y="89739"/>
                </a:quadBezTo>
                <a:quadBezTo>
                  <a:pt x="5775" y="89857"/>
                  <a:pt x="2971" y="86886"/>
                </a:quadBezTo>
                <a:quadBezTo>
                  <a:pt x="0" y="84081"/>
                  <a:pt x="118" y="79998"/>
                </a:quadBezTo>
                <a:lnTo>
                  <a:pt x="118" y="9859"/>
                </a:lnTo>
                <a:quadBezTo>
                  <a:pt x="0" y="5775"/>
                  <a:pt x="2971" y="2971"/>
                </a:quadBezTo>
                <a:quadBezTo>
                  <a:pt x="5775" y="0"/>
                  <a:pt x="9859" y="118"/>
                </a:quadBezTo>
                <a:quadBezTo>
                  <a:pt x="13943" y="0"/>
                  <a:pt x="16747" y="2971"/>
                </a:quadBezTo>
                <a:quadBezTo>
                  <a:pt x="19718" y="5775"/>
                  <a:pt x="19600" y="9859"/>
                </a:quadBezTo>
                <a:close/>
              </a:path>
            </a:pathLst>
          </a:custGeom>
          <a:solidFill>
            <a:srgbClr val="3DD68C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13868400" y="4067175"/>
            <a:ext cx="1524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0E201A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自定义接入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13144500" y="4743450"/>
            <a:ext cx="3543300" cy="175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450"/>
              </a:lnSpc>
            </a:pPr>
            <a:r>
              <a:rPr lang="zh-CN" sz="1950">
                <a:solidFill>
                  <a:srgbClr val="4A5F58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·  内部 OA / CRM / ERP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en-US" sz="1950">
                <a:solidFill>
                  <a:srgbClr val="4A5F58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·  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zh-CN" sz="1950">
                <a:solidFill>
                  <a:srgbClr val="4A5F58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·  内部 API </a:t>
            </a:r>
            <a:br>
              <a:rPr lang="en-US" sz="1950">
                <a:latin typeface="Source Han Sans CN"/>
                <a:ea typeface="Source Han Sans CN"/>
                <a:cs typeface="Source Han Sans CN"/>
              </a:rPr>
            </a:br>
            <a:r>
              <a:rPr lang="zh-CN" sz="1950">
                <a:solidFill>
                  <a:srgbClr val="4A5F58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·  任意标准 MCP Server</a:t>
            </a:r>
          </a:p>
        </p:txBody>
      </p:sp>
      <p:sp>
        <p:nvSpPr>
          <p:cNvPr id="28" name="Rectangle"/>
          <p:cNvSpPr/>
          <p:nvPr/>
        </p:nvSpPr>
        <p:spPr>
          <a:xfrm>
            <a:off x="1147763" y="3529013"/>
            <a:ext cx="15992475" cy="4181475"/>
          </a:xfrm>
          <a:prstGeom prst="roundRect">
            <a:avLst>
              <a:gd name="adj" fmla="val 6719"/>
            </a:avLst>
          </a:prstGeom>
          <a:noFill/>
          <a:ln w="9525">
            <a:solidFill>
              <a:srgbClr val="DEEDE6"/>
            </a:solidFill>
            <a:miter lim="400000"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Rectangle"/>
          <p:cNvSpPr/>
          <p:nvPr/>
        </p:nvSpPr>
        <p:spPr>
          <a:xfrm>
            <a:off x="1143000" y="7962900"/>
            <a:ext cx="16002000" cy="819150"/>
          </a:xfrm>
          <a:prstGeom prst="roundRect">
            <a:avLst>
              <a:gd name="adj" fmla="val 25581"/>
            </a:avLst>
          </a:prstGeom>
          <a:solidFill>
            <a:srgbClr val="29B894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Ellipse"/>
          <p:cNvSpPr/>
          <p:nvPr/>
        </p:nvSpPr>
        <p:spPr>
          <a:xfrm>
            <a:off x="1457325" y="8239125"/>
            <a:ext cx="266700" cy="266700"/>
          </a:xfrm>
          <a:prstGeom prst="ellipse">
            <a:avLst/>
          </a:prstGeom>
          <a:solidFill>
            <a:srgbClr val="28B894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Path"/>
          <p:cNvSpPr/>
          <p:nvPr/>
        </p:nvSpPr>
        <p:spPr>
          <a:xfrm>
            <a:off x="1521475" y="8322180"/>
            <a:ext cx="138545" cy="105208"/>
          </a:xfrm>
          <a:custGeom>
            <a:avLst/>
            <a:gdLst/>
            <a:ahLst/>
            <a:cxnLst/>
            <a:rect l="0" t="0" r="r" b="b"/>
            <a:pathLst>
              <a:path w="138545" h="105208">
                <a:moveTo>
                  <a:pt x="20469" y="46639"/>
                </a:moveTo>
                <a:lnTo>
                  <a:pt x="49891" y="76061"/>
                </a:lnTo>
                <a:lnTo>
                  <a:pt x="117680" y="4035"/>
                </a:lnTo>
                <a:quadBezTo>
                  <a:pt x="120996" y="302"/>
                  <a:pt x="125989" y="295"/>
                </a:quadBezTo>
                <a:quadBezTo>
                  <a:pt x="130974" y="0"/>
                  <a:pt x="134510" y="3525"/>
                </a:quadBezTo>
                <a:quadBezTo>
                  <a:pt x="138243" y="6842"/>
                  <a:pt x="138251" y="11835"/>
                </a:quadBezTo>
                <a:quadBezTo>
                  <a:pt x="138545" y="16820"/>
                  <a:pt x="135020" y="20356"/>
                </a:quadBezTo>
                <a:lnTo>
                  <a:pt x="58820" y="101318"/>
                </a:lnTo>
                <a:quadBezTo>
                  <a:pt x="58758" y="101384"/>
                  <a:pt x="58695" y="101449"/>
                </a:quadBezTo>
                <a:quadBezTo>
                  <a:pt x="58633" y="101513"/>
                  <a:pt x="58569" y="101577"/>
                </a:quadBezTo>
                <a:quadBezTo>
                  <a:pt x="55141" y="105208"/>
                  <a:pt x="50150" y="105064"/>
                </a:quadBezTo>
                <a:quadBezTo>
                  <a:pt x="45159" y="105208"/>
                  <a:pt x="41731" y="101577"/>
                </a:quadBezTo>
                <a:lnTo>
                  <a:pt x="3631" y="63477"/>
                </a:lnTo>
                <a:quadBezTo>
                  <a:pt x="0" y="60049"/>
                  <a:pt x="144" y="55058"/>
                </a:quadBezTo>
                <a:quadBezTo>
                  <a:pt x="0" y="50067"/>
                  <a:pt x="3631" y="46639"/>
                </a:quadBezTo>
                <a:quadBezTo>
                  <a:pt x="7059" y="43008"/>
                  <a:pt x="12050" y="43152"/>
                </a:quadBezTo>
                <a:quadBezTo>
                  <a:pt x="17041" y="43008"/>
                  <a:pt x="20469" y="46639"/>
                </a:quadBezTo>
                <a:close/>
              </a:path>
            </a:pathLst>
          </a:custGeom>
          <a:solidFill>
            <a:srgbClr val="18794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"/>
          <p:cNvSpPr txBox="1"/>
          <p:nvPr/>
        </p:nvSpPr>
        <p:spPr>
          <a:xfrm>
            <a:off x="1905000" y="8191500"/>
            <a:ext cx="977265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zh-CN" sz="2025">
                <a:solidFill>
                  <a:srgbClr val="18794E"/>
                </a:solidFill>
                <a:latin typeface="Source Han Sans CN"/>
                <a:ea typeface="Source Han Sans CN"/>
                <a:cs typeface="Source Han Sans CN"/>
              </a:rPr>
              <a:t>凭证、权限、超时策略由企业统一配置，一次接入、全组织可用；读取数据不额外计费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1143000" y="9010650"/>
            <a:ext cx="3816249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zh-CN" sz="1800">
                <a:solidFill>
                  <a:srgbClr val="8AA39A"/>
                </a:solidFill>
                <a:latin typeface="Source Han Sans CN"/>
                <a:ea typeface="Source Han Sans CN"/>
                <a:cs typeface="Source Han Sans CN"/>
              </a:rPr>
              <a:t>WorkBuddy  ·  企业级 AI </a:t>
            </a:r>
          </a:p>
        </p:txBody>
      </p:sp>
      <p:sp>
        <p:nvSpPr>
          <p:cNvPr id="34" name="TextBox"/>
          <p:cNvSpPr txBox="1"/>
          <p:nvPr/>
        </p:nvSpPr>
        <p:spPr>
          <a:xfrm>
            <a:off x="16849725" y="9010650"/>
            <a:ext cx="29222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en-US" sz="1950">
                <a:solidFill>
                  <a:srgbClr val="28B894"/>
                </a:solidFill>
                <a:latin typeface="Source Han Sans CN Bold"/>
                <a:ea typeface="Source Han Sans CN Bold"/>
                <a:cs typeface="Source Han Sans CN Bol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BF2F0"/>
              </a:gs>
            </a:gsLst>
            <a:lin ang="1761465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952500"/>
            <a:ext cx="2258568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en-US" sz="2100" spc="300">
                <a:solidFill>
                  <a:srgbClr val="28B894"/>
                </a:solidFill>
                <a:latin typeface="Source Han Sans CN"/>
                <a:ea typeface="Source Han Sans CN"/>
                <a:cs typeface="Source Han Sans CN"/>
              </a:rPr>
              <a:t>07  · 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524000"/>
            <a:ext cx="880110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6300"/>
              </a:lnSpc>
            </a:pPr>
            <a:r>
              <a:rPr lang="zh-CN" sz="4950">
                <a:solidFill>
                  <a:srgbClr val="0E201A"/>
                </a:solidFill>
                <a:latin typeface="Source Han Sans CN"/>
                <a:ea typeface="Source Han Sans CN"/>
                <a:cs typeface="Source Han Sans CN"/>
              </a:rPr>
              <a:t>五大高频场景，覆盖业务全链路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533650"/>
            <a:ext cx="79248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450"/>
              </a:lnSpc>
            </a:pPr>
            <a:r>
              <a:rPr lang="zh-CN" sz="2400">
                <a:solidFill>
                  <a:srgbClr val="5C7169"/>
                </a:solidFill>
                <a:latin typeface="Source Han Sans CN"/>
                <a:ea typeface="Source Han Sans CN"/>
                <a:cs typeface="Source Han Sans CN"/>
              </a:rPr>
              <a:t>把重复、繁琐、跨工具的活交出去，把判断和创造留给自己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3238500"/>
            <a:ext cx="16002000" cy="9144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"/>
          <p:cNvSpPr/>
          <p:nvPr/>
        </p:nvSpPr>
        <p:spPr>
          <a:xfrm>
            <a:off x="1409700" y="3438525"/>
            <a:ext cx="57150" cy="514350"/>
          </a:xfrm>
          <a:prstGeom prst="roundRect">
            <a:avLst>
              <a:gd name="adj" fmla="val 50000"/>
            </a:avLst>
          </a:prstGeom>
          <a:solidFill>
            <a:srgbClr val="28B89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"/>
          <p:cNvSpPr txBox="1"/>
          <p:nvPr/>
        </p:nvSpPr>
        <p:spPr>
          <a:xfrm>
            <a:off x="1714500" y="3486150"/>
            <a:ext cx="22669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300"/>
              </a:lnSpc>
            </a:pPr>
            <a:r>
              <a:rPr lang="zh-CN" sz="2550">
                <a:solidFill>
                  <a:srgbClr val="0E201A"/>
                </a:solidFill>
                <a:latin typeface="Source Han Sans CN Bold"/>
                <a:ea typeface="Source Han Sans CN Bold"/>
                <a:cs typeface="Source Han Sans CN Bold"/>
              </a:rPr>
              <a:t>文档与报告生成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5391150" y="3505200"/>
            <a:ext cx="72009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zh-CN" sz="2025">
                <a:solidFill>
                  <a:srgbClr val="5C7169"/>
                </a:solidFill>
                <a:latin typeface="Source Han Sans CN"/>
                <a:ea typeface="Source Han Sans CN"/>
                <a:cs typeface="Source Han Sans CN"/>
              </a:rPr>
              <a:t>会议纪要、周报、技术文档、投标书，按企业模板直接成稿交付</a:t>
            </a:r>
          </a:p>
        </p:txBody>
      </p:sp>
      <p:sp>
        <p:nvSpPr>
          <p:cNvPr id="10" name="Rectangle"/>
          <p:cNvSpPr/>
          <p:nvPr/>
        </p:nvSpPr>
        <p:spPr>
          <a:xfrm>
            <a:off x="1147763" y="3243263"/>
            <a:ext cx="15992475" cy="904875"/>
          </a:xfrm>
          <a:prstGeom prst="roundRect">
            <a:avLst>
              <a:gd name="adj" fmla="val 22631"/>
            </a:avLst>
          </a:prstGeom>
          <a:noFill/>
          <a:ln w="9525">
            <a:solidFill>
              <a:srgbClr val="E3F0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"/>
          <p:cNvSpPr/>
          <p:nvPr/>
        </p:nvSpPr>
        <p:spPr>
          <a:xfrm>
            <a:off x="1143000" y="4305300"/>
            <a:ext cx="16002000" cy="9144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"/>
          <p:cNvSpPr/>
          <p:nvPr/>
        </p:nvSpPr>
        <p:spPr>
          <a:xfrm>
            <a:off x="1409700" y="4505325"/>
            <a:ext cx="57150" cy="514350"/>
          </a:xfrm>
          <a:prstGeom prst="roundRect">
            <a:avLst>
              <a:gd name="adj" fmla="val 50000"/>
            </a:avLst>
          </a:prstGeom>
          <a:solidFill>
            <a:srgbClr val="28B89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"/>
          <p:cNvSpPr txBox="1"/>
          <p:nvPr/>
        </p:nvSpPr>
        <p:spPr>
          <a:xfrm>
            <a:off x="1714500" y="4552950"/>
            <a:ext cx="25908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300"/>
              </a:lnSpc>
            </a:pPr>
            <a:r>
              <a:rPr lang="zh-CN" sz="2550">
                <a:solidFill>
                  <a:srgbClr val="0E201A"/>
                </a:solidFill>
                <a:latin typeface="Source Han Sans CN Bold"/>
                <a:ea typeface="Source Han Sans CN Bold"/>
                <a:cs typeface="Source Han Sans CN Bold"/>
              </a:rPr>
              <a:t>数据分析与可视化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5391150" y="4572000"/>
            <a:ext cx="668655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zh-CN" sz="2025">
                <a:solidFill>
                  <a:srgbClr val="5C7169"/>
                </a:solidFill>
                <a:latin typeface="Source Han Sans CN"/>
                <a:ea typeface="Source Han Sans CN"/>
                <a:cs typeface="Source Han Sans CN"/>
              </a:rPr>
              <a:t>上传表格自动建模、透视、出图，并给出可执行的结论建议</a:t>
            </a:r>
          </a:p>
        </p:txBody>
      </p:sp>
      <p:sp>
        <p:nvSpPr>
          <p:cNvPr id="15" name="Rectangle"/>
          <p:cNvSpPr/>
          <p:nvPr/>
        </p:nvSpPr>
        <p:spPr>
          <a:xfrm>
            <a:off x="1147763" y="4310063"/>
            <a:ext cx="15992475" cy="904875"/>
          </a:xfrm>
          <a:prstGeom prst="roundRect">
            <a:avLst>
              <a:gd name="adj" fmla="val 22631"/>
            </a:avLst>
          </a:prstGeom>
          <a:noFill/>
          <a:ln w="9525">
            <a:solidFill>
              <a:srgbClr val="E3F0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"/>
          <p:cNvSpPr/>
          <p:nvPr/>
        </p:nvSpPr>
        <p:spPr>
          <a:xfrm>
            <a:off x="1143000" y="5372100"/>
            <a:ext cx="16002000" cy="914400"/>
          </a:xfrm>
          <a:prstGeom prst="roundRect">
            <a:avLst>
              <a:gd name="adj" fmla="val 22916"/>
            </a:avLst>
          </a:prstGeom>
          <a:solidFill>
            <a:srgbClr val="0E201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"/>
          <p:cNvSpPr/>
          <p:nvPr/>
        </p:nvSpPr>
        <p:spPr>
          <a:xfrm>
            <a:off x="1409700" y="5572125"/>
            <a:ext cx="57150" cy="514350"/>
          </a:xfrm>
          <a:prstGeom prst="roundRect">
            <a:avLst>
              <a:gd name="adj" fmla="val 50000"/>
            </a:avLst>
          </a:prstGeom>
          <a:solidFill>
            <a:srgbClr val="3DD6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1714500" y="5619750"/>
            <a:ext cx="29146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300"/>
              </a:lnSpc>
            </a:pPr>
            <a:r>
              <a:rPr lang="zh-CN" sz="25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深度调研与竞品研究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5391150" y="5638800"/>
            <a:ext cx="7029621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025">
                <a:solidFill>
                  <a:srgbClr val="A9C2B9"/>
                </a:solidFill>
                <a:latin typeface="Source Han Sans CN"/>
                <a:ea typeface="Source Han Sans CN"/>
                <a:cs typeface="Source Han Sans CN"/>
              </a:rPr>
              <a:t>15 </a:t>
            </a:r>
          </a:p>
        </p:txBody>
      </p:sp>
      <p:sp>
        <p:nvSpPr>
          <p:cNvPr id="20" name="Rectangle"/>
          <p:cNvSpPr/>
          <p:nvPr/>
        </p:nvSpPr>
        <p:spPr>
          <a:xfrm>
            <a:off x="1143000" y="6438900"/>
            <a:ext cx="16002000" cy="9144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"/>
          <p:cNvSpPr/>
          <p:nvPr/>
        </p:nvSpPr>
        <p:spPr>
          <a:xfrm>
            <a:off x="1409700" y="6638925"/>
            <a:ext cx="57150" cy="514350"/>
          </a:xfrm>
          <a:prstGeom prst="roundRect">
            <a:avLst>
              <a:gd name="adj" fmla="val 50000"/>
            </a:avLst>
          </a:prstGeom>
          <a:solidFill>
            <a:srgbClr val="28B89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1714500" y="6686550"/>
            <a:ext cx="22669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300"/>
              </a:lnSpc>
            </a:pPr>
            <a:r>
              <a:rPr lang="zh-CN" sz="2550">
                <a:solidFill>
                  <a:srgbClr val="0E201A"/>
                </a:solidFill>
                <a:latin typeface="Source Han Sans CN Bold"/>
                <a:ea typeface="Source Han Sans CN Bold"/>
                <a:cs typeface="Source Han Sans CN Bold"/>
              </a:rPr>
              <a:t>营销内容与素材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5391150" y="6705600"/>
            <a:ext cx="642937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zh-CN" sz="2025">
                <a:solidFill>
                  <a:srgbClr val="5C7169"/>
                </a:solidFill>
                <a:latin typeface="Source Han Sans CN"/>
                <a:ea typeface="Source Han Sans CN"/>
                <a:cs typeface="Source Han Sans CN"/>
              </a:rPr>
              <a:t>图文卡片、短视频脚本、多平台文案，一套素材多端分发</a:t>
            </a:r>
          </a:p>
        </p:txBody>
      </p:sp>
      <p:sp>
        <p:nvSpPr>
          <p:cNvPr id="24" name="Rectangle"/>
          <p:cNvSpPr/>
          <p:nvPr/>
        </p:nvSpPr>
        <p:spPr>
          <a:xfrm>
            <a:off x="1147763" y="6443663"/>
            <a:ext cx="15992475" cy="904875"/>
          </a:xfrm>
          <a:prstGeom prst="roundRect">
            <a:avLst>
              <a:gd name="adj" fmla="val 22631"/>
            </a:avLst>
          </a:prstGeom>
          <a:noFill/>
          <a:ln w="9525">
            <a:solidFill>
              <a:srgbClr val="E3F0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"/>
          <p:cNvSpPr/>
          <p:nvPr/>
        </p:nvSpPr>
        <p:spPr>
          <a:xfrm>
            <a:off x="1143000" y="7505700"/>
            <a:ext cx="16002000" cy="9144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"/>
          <p:cNvSpPr/>
          <p:nvPr/>
        </p:nvSpPr>
        <p:spPr>
          <a:xfrm>
            <a:off x="1409700" y="7705725"/>
            <a:ext cx="57150" cy="514350"/>
          </a:xfrm>
          <a:prstGeom prst="roundRect">
            <a:avLst>
              <a:gd name="adj" fmla="val 50000"/>
            </a:avLst>
          </a:prstGeom>
          <a:solidFill>
            <a:srgbClr val="28B89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"/>
          <p:cNvSpPr txBox="1"/>
          <p:nvPr/>
        </p:nvSpPr>
        <p:spPr>
          <a:xfrm>
            <a:off x="1714500" y="7753350"/>
            <a:ext cx="22669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300"/>
              </a:lnSpc>
            </a:pPr>
            <a:r>
              <a:rPr lang="zh-CN" sz="2550">
                <a:solidFill>
                  <a:srgbClr val="0E201A"/>
                </a:solidFill>
                <a:latin typeface="Source Han Sans CN Bold"/>
                <a:ea typeface="Source Han Sans CN Bold"/>
                <a:cs typeface="Source Han Sans CN Bold"/>
              </a:rPr>
              <a:t>代码与研发辅助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5391150" y="7772400"/>
            <a:ext cx="592839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025">
                <a:solidFill>
                  <a:srgbClr val="5C7169"/>
                </a:solidFill>
                <a:latin typeface="Source Han Sans CN"/>
                <a:ea typeface="Source Han Sans CN"/>
                <a:cs typeface="Source Han Sans CN"/>
              </a:rPr>
              <a:t>Bug </a:t>
            </a:r>
          </a:p>
        </p:txBody>
      </p:sp>
      <p:sp>
        <p:nvSpPr>
          <p:cNvPr id="29" name="Rectangle"/>
          <p:cNvSpPr/>
          <p:nvPr/>
        </p:nvSpPr>
        <p:spPr>
          <a:xfrm>
            <a:off x="1147763" y="7510463"/>
            <a:ext cx="15992475" cy="904875"/>
          </a:xfrm>
          <a:prstGeom prst="roundRect">
            <a:avLst>
              <a:gd name="adj" fmla="val 22631"/>
            </a:avLst>
          </a:prstGeom>
          <a:noFill/>
          <a:ln w="9525">
            <a:solidFill>
              <a:srgbClr val="E3F0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"/>
          <p:cNvSpPr txBox="1"/>
          <p:nvPr/>
        </p:nvSpPr>
        <p:spPr>
          <a:xfrm>
            <a:off x="1143000" y="9010650"/>
            <a:ext cx="3816249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zh-CN" sz="1800">
                <a:solidFill>
                  <a:srgbClr val="8AA39A"/>
                </a:solidFill>
                <a:latin typeface="Source Han Sans CN"/>
                <a:ea typeface="Source Han Sans CN"/>
                <a:cs typeface="Source Han Sans CN"/>
              </a:rPr>
              <a:t>WorkBuddy  ·  企业级 AI 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16849725" y="9010650"/>
            <a:ext cx="29222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en-US" sz="1950">
                <a:solidFill>
                  <a:srgbClr val="28B894"/>
                </a:solidFill>
                <a:latin typeface="Source Han Sans CN Bold"/>
                <a:ea typeface="Source Han Sans CN Bold"/>
                <a:cs typeface="Source Han Sans CN Bold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5120D"/>
              </a:gs>
              <a:gs pos="100000">
                <a:srgbClr val="0A291F"/>
              </a:gs>
            </a:gsLst>
            <a:lin ang="1761465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12382500" y="-3333750"/>
            <a:ext cx="9525000" cy="9525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9B894">
                  <a:alpha val="25000"/>
                </a:srgbClr>
              </a:gs>
              <a:gs pos="100000">
                <a:srgbClr val="29B89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"/>
          <p:cNvSpPr txBox="1"/>
          <p:nvPr/>
        </p:nvSpPr>
        <p:spPr>
          <a:xfrm>
            <a:off x="1143000" y="952500"/>
            <a:ext cx="2258568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en-US" sz="2100" spc="300">
                <a:solidFill>
                  <a:srgbClr val="3DD68C"/>
                </a:solidFill>
                <a:latin typeface="Source Han Sans CN"/>
                <a:ea typeface="Source Han Sans CN"/>
                <a:cs typeface="Source Han Sans CN"/>
              </a:rPr>
              <a:t>08  ·  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1524000"/>
            <a:ext cx="94488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6000"/>
              </a:lnSpc>
            </a:pPr>
            <a:r>
              <a:rPr lang="zh-CN" sz="465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上线即见效：性能与落地效果可量化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143000" y="2495550"/>
            <a:ext cx="9178443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450"/>
              </a:lnSpc>
            </a:pPr>
            <a:r>
              <a:rPr lang="en-US" sz="2400">
                <a:solidFill>
                  <a:srgbClr val="A9C2B9"/>
                </a:solidFill>
                <a:latin typeface="Source Han Sans CN"/>
                <a:ea typeface="Source Han Sans CN"/>
                <a:cs typeface="Source Han Sans CN"/>
              </a:rPr>
              <a:t> 20+ </a:t>
            </a:r>
          </a:p>
        </p:txBody>
      </p:sp>
      <p:sp>
        <p:nvSpPr>
          <p:cNvPr id="7" name="Rectangle"/>
          <p:cNvSpPr/>
          <p:nvPr/>
        </p:nvSpPr>
        <p:spPr>
          <a:xfrm>
            <a:off x="1143000" y="3143250"/>
            <a:ext cx="3771900" cy="16002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"/>
          <p:cNvSpPr txBox="1"/>
          <p:nvPr/>
        </p:nvSpPr>
        <p:spPr>
          <a:xfrm>
            <a:off x="1447800" y="3448050"/>
            <a:ext cx="1385544" cy="733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850"/>
              </a:lnSpc>
            </a:pPr>
            <a:r>
              <a:rPr lang="en-US" sz="4950">
                <a:solidFill>
                  <a:srgbClr val="3DD68C"/>
                </a:solidFill>
                <a:latin typeface="Source Han Sans CN"/>
                <a:ea typeface="Source Han Sans CN"/>
                <a:cs typeface="Source Han Sans CN"/>
              </a:rPr>
              <a:t>54%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447800" y="42862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700"/>
              </a:lnSpc>
            </a:pPr>
            <a:r>
              <a:rPr lang="zh-CN" sz="1950">
                <a:solidFill>
                  <a:srgbClr val="A9C2B9"/>
                </a:solidFill>
                <a:latin typeface="Source Han Sans CN"/>
                <a:ea typeface="Source Han Sans CN"/>
                <a:cs typeface="Source Han Sans CN"/>
              </a:rPr>
              <a:t>首次响应速度提升</a:t>
            </a:r>
          </a:p>
        </p:txBody>
      </p:sp>
      <p:sp>
        <p:nvSpPr>
          <p:cNvPr id="10" name="Rectangle"/>
          <p:cNvSpPr/>
          <p:nvPr/>
        </p:nvSpPr>
        <p:spPr>
          <a:xfrm>
            <a:off x="1147763" y="3148013"/>
            <a:ext cx="3762375" cy="1590675"/>
          </a:xfrm>
          <a:prstGeom prst="roundRect">
            <a:avLst>
              <a:gd name="adj" fmla="val 14071"/>
            </a:avLst>
          </a:prstGeom>
          <a:noFill/>
          <a:ln w="9525">
            <a:solidFill>
              <a:srgbClr val="FFFFFF">
                <a:alpha val="9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"/>
          <p:cNvSpPr/>
          <p:nvPr/>
        </p:nvSpPr>
        <p:spPr>
          <a:xfrm>
            <a:off x="5219700" y="3143250"/>
            <a:ext cx="3771900" cy="16002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"/>
          <p:cNvSpPr txBox="1"/>
          <p:nvPr/>
        </p:nvSpPr>
        <p:spPr>
          <a:xfrm>
            <a:off x="5524500" y="3448050"/>
            <a:ext cx="1385544" cy="733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850"/>
              </a:lnSpc>
            </a:pPr>
            <a:r>
              <a:rPr lang="en-US" sz="4950">
                <a:solidFill>
                  <a:srgbClr val="3DD68C"/>
                </a:solidFill>
                <a:latin typeface="Source Han Sans CN"/>
                <a:ea typeface="Source Han Sans CN"/>
                <a:cs typeface="Source Han Sans CN"/>
              </a:rPr>
              <a:t>47%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5524500" y="4286250"/>
            <a:ext cx="24765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700"/>
              </a:lnSpc>
            </a:pPr>
            <a:r>
              <a:rPr lang="zh-CN" sz="1950">
                <a:solidFill>
                  <a:srgbClr val="A9C2B9"/>
                </a:solidFill>
                <a:latin typeface="Source Han Sans CN"/>
                <a:ea typeface="Source Han Sans CN"/>
                <a:cs typeface="Source Han Sans CN"/>
              </a:rPr>
              <a:t>平均任务完成时间缩短</a:t>
            </a:r>
          </a:p>
        </p:txBody>
      </p:sp>
      <p:sp>
        <p:nvSpPr>
          <p:cNvPr id="14" name="Rectangle"/>
          <p:cNvSpPr/>
          <p:nvPr/>
        </p:nvSpPr>
        <p:spPr>
          <a:xfrm>
            <a:off x="5224463" y="3148013"/>
            <a:ext cx="3762375" cy="1590675"/>
          </a:xfrm>
          <a:prstGeom prst="roundRect">
            <a:avLst>
              <a:gd name="adj" fmla="val 14071"/>
            </a:avLst>
          </a:prstGeom>
          <a:noFill/>
          <a:ln w="9525">
            <a:solidFill>
              <a:srgbClr val="FFFFFF">
                <a:alpha val="9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"/>
          <p:cNvSpPr/>
          <p:nvPr/>
        </p:nvSpPr>
        <p:spPr>
          <a:xfrm>
            <a:off x="9296400" y="3143250"/>
            <a:ext cx="3771900" cy="16002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9601200" y="3448050"/>
            <a:ext cx="2371897" cy="733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850"/>
              </a:lnSpc>
            </a:pPr>
            <a:r>
              <a:rPr lang="en-US" sz="4950">
                <a:solidFill>
                  <a:srgbClr val="3DD68C"/>
                </a:solidFill>
                <a:latin typeface="Source Han Sans CN"/>
                <a:ea typeface="Source Han Sans CN"/>
                <a:cs typeface="Source Han Sans CN"/>
              </a:rPr>
              <a:t>99.99%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9601200" y="4286250"/>
            <a:ext cx="123825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700"/>
              </a:lnSpc>
            </a:pPr>
            <a:r>
              <a:rPr lang="zh-CN" sz="1950">
                <a:solidFill>
                  <a:srgbClr val="A9C2B9"/>
                </a:solidFill>
                <a:latin typeface="Source Han Sans CN"/>
                <a:ea typeface="Source Han Sans CN"/>
                <a:cs typeface="Source Han Sans CN"/>
              </a:rPr>
              <a:t>任务成功率</a:t>
            </a:r>
          </a:p>
        </p:txBody>
      </p:sp>
      <p:sp>
        <p:nvSpPr>
          <p:cNvPr id="18" name="Rectangle"/>
          <p:cNvSpPr/>
          <p:nvPr/>
        </p:nvSpPr>
        <p:spPr>
          <a:xfrm>
            <a:off x="9301163" y="3148013"/>
            <a:ext cx="3762375" cy="1590675"/>
          </a:xfrm>
          <a:prstGeom prst="roundRect">
            <a:avLst>
              <a:gd name="adj" fmla="val 14071"/>
            </a:avLst>
          </a:prstGeom>
          <a:noFill/>
          <a:ln w="9525">
            <a:solidFill>
              <a:srgbClr val="FFFFFF">
                <a:alpha val="9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"/>
          <p:cNvSpPr/>
          <p:nvPr/>
        </p:nvSpPr>
        <p:spPr>
          <a:xfrm>
            <a:off x="13373100" y="3143250"/>
            <a:ext cx="3771900" cy="16002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"/>
          <p:cNvSpPr txBox="1"/>
          <p:nvPr/>
        </p:nvSpPr>
        <p:spPr>
          <a:xfrm>
            <a:off x="13677900" y="3448050"/>
            <a:ext cx="1385544" cy="733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850"/>
              </a:lnSpc>
            </a:pPr>
            <a:r>
              <a:rPr lang="en-US" sz="4950">
                <a:solidFill>
                  <a:srgbClr val="3DD68C"/>
                </a:solidFill>
                <a:latin typeface="Source Han Sans CN"/>
                <a:ea typeface="Source Han Sans CN"/>
                <a:cs typeface="Source Han Sans CN"/>
              </a:rPr>
              <a:t>40%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13677900" y="4286250"/>
            <a:ext cx="222885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700"/>
              </a:lnSpc>
            </a:pPr>
            <a:r>
              <a:rPr lang="zh-CN" sz="1950">
                <a:solidFill>
                  <a:srgbClr val="A9C2B9"/>
                </a:solidFill>
                <a:latin typeface="Source Han Sans CN"/>
                <a:ea typeface="Source Han Sans CN"/>
                <a:cs typeface="Source Han Sans CN"/>
              </a:rPr>
              <a:t>整体算力利用率提升</a:t>
            </a:r>
          </a:p>
        </p:txBody>
      </p:sp>
      <p:sp>
        <p:nvSpPr>
          <p:cNvPr id="22" name="Rectangle"/>
          <p:cNvSpPr/>
          <p:nvPr/>
        </p:nvSpPr>
        <p:spPr>
          <a:xfrm>
            <a:off x="13377863" y="3148013"/>
            <a:ext cx="3762375" cy="1590675"/>
          </a:xfrm>
          <a:prstGeom prst="roundRect">
            <a:avLst>
              <a:gd name="adj" fmla="val 14071"/>
            </a:avLst>
          </a:prstGeom>
          <a:noFill/>
          <a:ln w="9525">
            <a:solidFill>
              <a:srgbClr val="FFFFFF">
                <a:alpha val="9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"/>
          <p:cNvSpPr txBox="1"/>
          <p:nvPr/>
        </p:nvSpPr>
        <p:spPr>
          <a:xfrm>
            <a:off x="1143000" y="52197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zh-CN" sz="22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标杆客户落地效果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1143000" y="5924550"/>
            <a:ext cx="3110979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950">
                <a:solidFill>
                  <a:srgbClr val="A9C2B9"/>
                </a:solidFill>
                <a:latin typeface="Sarasa Gothic SC"/>
                <a:ea typeface="Sarasa Gothic SC"/>
                <a:cs typeface="Sarasa Gothic SC"/>
              </a:rPr>
              <a:t> · </a:t>
            </a:r>
          </a:p>
        </p:txBody>
      </p:sp>
      <p:sp>
        <p:nvSpPr>
          <p:cNvPr id="25" name="Rectangle"/>
          <p:cNvSpPr/>
          <p:nvPr/>
        </p:nvSpPr>
        <p:spPr>
          <a:xfrm>
            <a:off x="6477000" y="5905500"/>
            <a:ext cx="857250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"/>
          <p:cNvSpPr/>
          <p:nvPr/>
        </p:nvSpPr>
        <p:spPr>
          <a:xfrm>
            <a:off x="6477000" y="5905500"/>
            <a:ext cx="4286250" cy="3238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8794E"/>
              </a:gs>
              <a:gs pos="100000">
                <a:srgbClr val="3DD68C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"/>
          <p:cNvSpPr txBox="1"/>
          <p:nvPr/>
        </p:nvSpPr>
        <p:spPr>
          <a:xfrm>
            <a:off x="10972800" y="5905500"/>
            <a:ext cx="61661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3DD68C"/>
                </a:solidFill>
                <a:latin typeface="Sarasa Gothic SC Bold"/>
                <a:ea typeface="Sarasa Gothic SC Bold"/>
                <a:cs typeface="Sarasa Gothic SC Bold"/>
              </a:rPr>
              <a:t>50%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1143000" y="7067550"/>
            <a:ext cx="3110979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950">
                <a:solidFill>
                  <a:srgbClr val="A9C2B9"/>
                </a:solidFill>
                <a:latin typeface="Sarasa Gothic SC"/>
                <a:ea typeface="Sarasa Gothic SC"/>
                <a:cs typeface="Sarasa Gothic SC"/>
              </a:rPr>
              <a:t> · </a:t>
            </a:r>
          </a:p>
        </p:txBody>
      </p:sp>
      <p:sp>
        <p:nvSpPr>
          <p:cNvPr id="29" name="Rectangle"/>
          <p:cNvSpPr/>
          <p:nvPr/>
        </p:nvSpPr>
        <p:spPr>
          <a:xfrm>
            <a:off x="6477000" y="7048500"/>
            <a:ext cx="857250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"/>
          <p:cNvSpPr/>
          <p:nvPr/>
        </p:nvSpPr>
        <p:spPr>
          <a:xfrm>
            <a:off x="6477000" y="7048500"/>
            <a:ext cx="5143500" cy="3238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8794E"/>
              </a:gs>
              <a:gs pos="100000">
                <a:srgbClr val="3DD68C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11830050" y="7048500"/>
            <a:ext cx="623811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3DD68C"/>
                </a:solidFill>
                <a:latin typeface="Sarasa Gothic SC Bold"/>
                <a:ea typeface="Sarasa Gothic SC Bold"/>
                <a:cs typeface="Sarasa Gothic SC Bold"/>
              </a:rPr>
              <a:t>60%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1143000" y="8210550"/>
            <a:ext cx="3358629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950">
                <a:solidFill>
                  <a:srgbClr val="A9C2B9"/>
                </a:solidFill>
                <a:latin typeface="Sarasa Gothic SC"/>
                <a:ea typeface="Sarasa Gothic SC"/>
                <a:cs typeface="Sarasa Gothic SC"/>
              </a:rPr>
              <a:t> · </a:t>
            </a:r>
          </a:p>
        </p:txBody>
      </p:sp>
      <p:sp>
        <p:nvSpPr>
          <p:cNvPr id="33" name="Rectangle"/>
          <p:cNvSpPr/>
          <p:nvPr/>
        </p:nvSpPr>
        <p:spPr>
          <a:xfrm>
            <a:off x="6477000" y="8191500"/>
            <a:ext cx="857250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"/>
          <p:cNvSpPr/>
          <p:nvPr/>
        </p:nvSpPr>
        <p:spPr>
          <a:xfrm>
            <a:off x="6477000" y="8191500"/>
            <a:ext cx="5143500" cy="3238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8794E"/>
              </a:gs>
              <a:gs pos="100000">
                <a:srgbClr val="3DD68C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"/>
          <p:cNvSpPr txBox="1"/>
          <p:nvPr/>
        </p:nvSpPr>
        <p:spPr>
          <a:xfrm>
            <a:off x="11830050" y="8191500"/>
            <a:ext cx="623811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3DD68C"/>
                </a:solidFill>
                <a:latin typeface="Sarasa Gothic SC Bold"/>
                <a:ea typeface="Sarasa Gothic SC Bold"/>
                <a:cs typeface="Sarasa Gothic SC Bold"/>
              </a:rPr>
              <a:t>60%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1143000" y="9010650"/>
            <a:ext cx="3816249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zh-CN" sz="1800">
                <a:solidFill>
                  <a:srgbClr val="6E8D83"/>
                </a:solidFill>
                <a:latin typeface="Source Han Sans CN"/>
                <a:ea typeface="Source Han Sans CN"/>
                <a:cs typeface="Source Han Sans CN"/>
              </a:rPr>
              <a:t>WorkBuddy  ·  企业级 AI 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16849725" y="9010650"/>
            <a:ext cx="29222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en-US" sz="1950">
                <a:solidFill>
                  <a:srgbClr val="3DD68C"/>
                </a:solidFill>
                <a:latin typeface="Source Han Sans CN Bold"/>
                <a:ea typeface="Source Han Sans CN Bold"/>
                <a:cs typeface="Source Han Sans CN Bold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BF2F0"/>
              </a:gs>
            </a:gsLst>
            <a:lin ang="1761465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952500"/>
            <a:ext cx="2258568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en-US" sz="2100" spc="300">
                <a:solidFill>
                  <a:srgbClr val="28B894"/>
                </a:solidFill>
                <a:latin typeface="Source Han Sans CN"/>
                <a:ea typeface="Source Han Sans CN"/>
                <a:cs typeface="Source Han Sans CN"/>
              </a:rPr>
              <a:t>09  · 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524000"/>
            <a:ext cx="817245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6300"/>
              </a:lnSpc>
            </a:pPr>
            <a:r>
              <a:rPr lang="zh-CN" sz="4950">
                <a:solidFill>
                  <a:srgbClr val="0E201A"/>
                </a:solidFill>
                <a:latin typeface="Source Han Sans CN"/>
                <a:ea typeface="Source Han Sans CN"/>
                <a:cs typeface="Source Han Sans CN"/>
              </a:rPr>
              <a:t>三家标杆客户，三种落地路径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533650"/>
            <a:ext cx="73152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450"/>
              </a:lnSpc>
            </a:pPr>
            <a:r>
              <a:rPr lang="zh-CN" sz="2400">
                <a:solidFill>
                  <a:srgbClr val="5C7169"/>
                </a:solidFill>
                <a:latin typeface="Source Han Sans CN"/>
                <a:ea typeface="Source Han Sans CN"/>
                <a:cs typeface="Source Han Sans CN"/>
              </a:rPr>
              <a:t>从单点提效到全链路重构，路径不同，收益同样可量化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3524250"/>
            <a:ext cx="5076825" cy="447675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Rectangle"/>
          <p:cNvSpPr/>
          <p:nvPr/>
        </p:nvSpPr>
        <p:spPr>
          <a:xfrm>
            <a:off x="1581150" y="3962400"/>
            <a:ext cx="1371600" cy="533400"/>
          </a:xfrm>
          <a:prstGeom prst="roundRect">
            <a:avLst>
              <a:gd name="adj" fmla="val 50000"/>
            </a:avLst>
          </a:prstGeom>
          <a:solidFill>
            <a:srgbClr val="29B894">
              <a:alpha val="12000"/>
            </a:srgbClr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Box"/>
          <p:cNvSpPr txBox="1"/>
          <p:nvPr/>
        </p:nvSpPr>
        <p:spPr>
          <a:xfrm>
            <a:off x="1809750" y="40767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zh-CN" sz="1800">
                <a:solidFill>
                  <a:srgbClr val="18794E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医疗健康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581150" y="4686300"/>
            <a:ext cx="16764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4200"/>
              </a:lnSpc>
            </a:pPr>
            <a:r>
              <a:rPr lang="zh-CN" sz="3300">
                <a:solidFill>
                  <a:srgbClr val="0E201A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叮当健康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581150" y="5410200"/>
            <a:ext cx="3947379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300"/>
              </a:lnSpc>
            </a:pPr>
            <a:r>
              <a:rPr lang="en-US" sz="2025">
                <a:solidFill>
                  <a:srgbClr val="5C7169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 AI </a:t>
            </a:r>
          </a:p>
        </p:txBody>
      </p:sp>
      <p:sp>
        <p:nvSpPr>
          <p:cNvPr id="11" name="Rectangle"/>
          <p:cNvSpPr/>
          <p:nvPr/>
        </p:nvSpPr>
        <p:spPr>
          <a:xfrm>
            <a:off x="1581150" y="6438900"/>
            <a:ext cx="4200525" cy="9525"/>
          </a:xfrm>
          <a:prstGeom prst="rect">
            <a:avLst/>
          </a:prstGeom>
          <a:solidFill>
            <a:srgbClr val="E6EFEA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Box"/>
          <p:cNvSpPr txBox="1"/>
          <p:nvPr/>
        </p:nvSpPr>
        <p:spPr>
          <a:xfrm>
            <a:off x="1581150" y="6638925"/>
            <a:ext cx="1896561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100"/>
              </a:lnSpc>
            </a:pPr>
            <a:r>
              <a:rPr lang="en-US" sz="4350">
                <a:solidFill>
                  <a:srgbClr val="18794E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 50%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581150" y="7477125"/>
            <a:ext cx="222885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700"/>
              </a:lnSpc>
            </a:pPr>
            <a:r>
              <a:rPr lang="zh-CN" sz="1950">
                <a:solidFill>
                  <a:srgbClr val="8AA39A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研发全链路整体提效</a:t>
            </a:r>
          </a:p>
        </p:txBody>
      </p:sp>
      <p:sp>
        <p:nvSpPr>
          <p:cNvPr id="14" name="Rectangle"/>
          <p:cNvSpPr/>
          <p:nvPr/>
        </p:nvSpPr>
        <p:spPr>
          <a:xfrm>
            <a:off x="1147763" y="3529013"/>
            <a:ext cx="5067300" cy="4467225"/>
          </a:xfrm>
          <a:prstGeom prst="roundRect">
            <a:avLst>
              <a:gd name="adj" fmla="val 5863"/>
            </a:avLst>
          </a:prstGeom>
          <a:noFill/>
          <a:ln w="9525">
            <a:solidFill>
              <a:srgbClr val="DEEDE6"/>
            </a:solidFill>
            <a:miter lim="400000"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Rectangle"/>
          <p:cNvSpPr/>
          <p:nvPr/>
        </p:nvSpPr>
        <p:spPr>
          <a:xfrm>
            <a:off x="6600825" y="3524250"/>
            <a:ext cx="5076825" cy="4476750"/>
          </a:xfrm>
          <a:prstGeom prst="roundRect">
            <a:avLst>
              <a:gd name="adj" fmla="val 5957"/>
            </a:avLst>
          </a:prstGeom>
          <a:gradFill>
            <a:gsLst>
              <a:gs pos="0">
                <a:srgbClr val="08211A"/>
              </a:gs>
              <a:gs pos="100000">
                <a:srgbClr val="0D382B"/>
              </a:gs>
            </a:gsLst>
            <a:lin ang="2484353" scaled="1"/>
          </a:gradFill>
          <a:ln>
            <a:noFill/>
          </a:ln>
          <a:effectLst>
            <a:outerShdw blurRad="209550" dist="209550" dir="5400000" algn="ctr" rotWithShape="0">
              <a:srgbClr val="081F17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Rectangle"/>
          <p:cNvSpPr/>
          <p:nvPr/>
        </p:nvSpPr>
        <p:spPr>
          <a:xfrm>
            <a:off x="7038975" y="3962400"/>
            <a:ext cx="1143000" cy="5334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>
            <a:noFill/>
          </a:ln>
          <a:effectLst>
            <a:outerShdw blurRad="209550" dist="209550" dir="5400000" algn="ctr" rotWithShape="0">
              <a:srgbClr val="081F17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7267575" y="4076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zh-CN" sz="1800">
                <a:solidFill>
                  <a:srgbClr val="3DD68C"/>
                </a:solidFill>
                <a:effectLst>
                  <a:outerShdw blurRad="209550" dist="209550" dir="5400000" algn="ctr" rotWithShape="0">
                    <a:srgbClr val="081F17">
                      <a:alpha val="28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供应链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038975" y="4686300"/>
            <a:ext cx="12573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4200"/>
              </a:lnSpc>
            </a:pPr>
            <a:r>
              <a:rPr lang="zh-CN" sz="3300">
                <a:solidFill>
                  <a:srgbClr val="FFFFFF"/>
                </a:solidFill>
                <a:effectLst>
                  <a:outerShdw blurRad="209550" dist="209550" dir="5400000" algn="ctr" rotWithShape="0">
                    <a:srgbClr val="081F17">
                      <a:alpha val="28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鑫方盛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7038975" y="5410200"/>
            <a:ext cx="4029418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300"/>
              </a:lnSpc>
            </a:pPr>
            <a:r>
              <a:rPr lang="zh-CN" sz="2025">
                <a:solidFill>
                  <a:srgbClr val="A9C2B9"/>
                </a:solidFill>
                <a:effectLst>
                  <a:outerShdw blurRad="209550" dist="209550" dir="5400000" algn="ctr" rotWithShape="0">
                    <a:srgbClr val="081F17">
                      <a:alpha val="28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 200+ 深入业务节点的智能体，覆盖供应链 20%—30% </a:t>
            </a:r>
          </a:p>
        </p:txBody>
      </p:sp>
      <p:sp>
        <p:nvSpPr>
          <p:cNvPr id="20" name="Rectangle"/>
          <p:cNvSpPr/>
          <p:nvPr/>
        </p:nvSpPr>
        <p:spPr>
          <a:xfrm>
            <a:off x="7038975" y="6438900"/>
            <a:ext cx="4200525" cy="9525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>
            <a:outerShdw blurRad="209550" dist="209550" dir="5400000" algn="ctr" rotWithShape="0">
              <a:srgbClr val="081F17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Box"/>
          <p:cNvSpPr txBox="1"/>
          <p:nvPr/>
        </p:nvSpPr>
        <p:spPr>
          <a:xfrm>
            <a:off x="7038975" y="6638925"/>
            <a:ext cx="1554042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100"/>
              </a:lnSpc>
            </a:pPr>
            <a:r>
              <a:rPr lang="en-US" sz="4350">
                <a:solidFill>
                  <a:srgbClr val="3DD68C"/>
                </a:solidFill>
                <a:effectLst>
                  <a:outerShdw blurRad="209550" dist="209550" dir="5400000" algn="ctr" rotWithShape="0">
                    <a:srgbClr val="081F17">
                      <a:alpha val="28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60%+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7038975" y="7477125"/>
            <a:ext cx="3558978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700"/>
              </a:lnSpc>
            </a:pPr>
            <a:r>
              <a:rPr lang="zh-CN" sz="1950">
                <a:solidFill>
                  <a:srgbClr val="A9C2B9"/>
                </a:solidFill>
                <a:effectLst>
                  <a:outerShdw blurRad="209550" dist="209550" dir="5400000" algn="ctr" rotWithShape="0">
                    <a:srgbClr val="081F17">
                      <a:alpha val="28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IT 成本下降 30%</a:t>
            </a:r>
          </a:p>
        </p:txBody>
      </p:sp>
      <p:sp>
        <p:nvSpPr>
          <p:cNvPr id="23" name="Rectangle"/>
          <p:cNvSpPr/>
          <p:nvPr/>
        </p:nvSpPr>
        <p:spPr>
          <a:xfrm>
            <a:off x="12058650" y="3524250"/>
            <a:ext cx="5076825" cy="447675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Rectangle"/>
          <p:cNvSpPr/>
          <p:nvPr/>
        </p:nvSpPr>
        <p:spPr>
          <a:xfrm>
            <a:off x="12496800" y="3962400"/>
            <a:ext cx="1371600" cy="533400"/>
          </a:xfrm>
          <a:prstGeom prst="roundRect">
            <a:avLst>
              <a:gd name="adj" fmla="val 50000"/>
            </a:avLst>
          </a:prstGeom>
          <a:solidFill>
            <a:srgbClr val="29B894">
              <a:alpha val="12000"/>
            </a:srgbClr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12725400" y="40767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zh-CN" sz="1800">
                <a:solidFill>
                  <a:srgbClr val="18794E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金融机构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12496800" y="4686300"/>
            <a:ext cx="16764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4200"/>
              </a:lnSpc>
            </a:pPr>
            <a:r>
              <a:rPr lang="zh-CN" sz="3300">
                <a:solidFill>
                  <a:srgbClr val="0E201A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中国银行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12496800" y="5410200"/>
            <a:ext cx="4146689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300"/>
              </a:lnSpc>
            </a:pPr>
            <a:r>
              <a:rPr lang="en-US" sz="2025">
                <a:solidFill>
                  <a:srgbClr val="5C7169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4000+ AI </a:t>
            </a:r>
          </a:p>
        </p:txBody>
      </p:sp>
      <p:sp>
        <p:nvSpPr>
          <p:cNvPr id="28" name="Rectangle"/>
          <p:cNvSpPr/>
          <p:nvPr/>
        </p:nvSpPr>
        <p:spPr>
          <a:xfrm>
            <a:off x="12496800" y="6438900"/>
            <a:ext cx="4200525" cy="9525"/>
          </a:xfrm>
          <a:prstGeom prst="rect">
            <a:avLst/>
          </a:prstGeom>
          <a:solidFill>
            <a:srgbClr val="E6EFEA"/>
          </a:solidFill>
          <a:ln>
            <a:noFill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Box"/>
          <p:cNvSpPr txBox="1"/>
          <p:nvPr/>
        </p:nvSpPr>
        <p:spPr>
          <a:xfrm>
            <a:off x="12496800" y="6638925"/>
            <a:ext cx="1217600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100"/>
              </a:lnSpc>
            </a:pPr>
            <a:r>
              <a:rPr lang="en-US" sz="4350">
                <a:solidFill>
                  <a:srgbClr val="18794E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60%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12496800" y="7477125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700"/>
              </a:lnSpc>
            </a:pPr>
            <a:r>
              <a:rPr lang="zh-CN" sz="1950">
                <a:solidFill>
                  <a:srgbClr val="8AA39A"/>
                </a:solidFill>
                <a:effectLst>
                  <a:outerShdw blurRad="171450" dist="152400" dir="5400000" algn="ctr" rotWithShape="0">
                    <a:srgbClr val="0F2921">
                      <a:alpha val="7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数据处理成本下降</a:t>
            </a:r>
          </a:p>
        </p:txBody>
      </p:sp>
      <p:sp>
        <p:nvSpPr>
          <p:cNvPr id="31" name="Rectangle"/>
          <p:cNvSpPr/>
          <p:nvPr/>
        </p:nvSpPr>
        <p:spPr>
          <a:xfrm>
            <a:off x="12063413" y="3529013"/>
            <a:ext cx="5067300" cy="4467225"/>
          </a:xfrm>
          <a:prstGeom prst="roundRect">
            <a:avLst>
              <a:gd name="adj" fmla="val 5863"/>
            </a:avLst>
          </a:prstGeom>
          <a:noFill/>
          <a:ln w="9525">
            <a:solidFill>
              <a:srgbClr val="DEEDE6"/>
            </a:solidFill>
            <a:miter lim="400000"/>
          </a:ln>
          <a:effectLst>
            <a:outerShdw blurRad="171450" dist="152400" dir="5400000" algn="ctr" rotWithShape="0">
              <a:srgbClr val="0F292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Box"/>
          <p:cNvSpPr txBox="1"/>
          <p:nvPr/>
        </p:nvSpPr>
        <p:spPr>
          <a:xfrm>
            <a:off x="1143000" y="9010650"/>
            <a:ext cx="3816249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zh-CN" sz="1800">
                <a:solidFill>
                  <a:srgbClr val="8AA39A"/>
                </a:solidFill>
                <a:latin typeface="Source Han Sans CN"/>
                <a:ea typeface="Source Han Sans CN"/>
                <a:cs typeface="Source Han Sans CN"/>
              </a:rPr>
              <a:t>WorkBuddy  ·  企业级 AI 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16849725" y="9010650"/>
            <a:ext cx="29222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en-US" sz="1950">
                <a:solidFill>
                  <a:srgbClr val="28B894"/>
                </a:solidFill>
                <a:latin typeface="Source Han Sans CN Bold"/>
                <a:ea typeface="Source Han Sans CN Bold"/>
                <a:cs typeface="Source Han Sans CN Bold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BF2F0"/>
              </a:gs>
            </a:gsLst>
            <a:lin ang="1761465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952500"/>
            <a:ext cx="2563368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en-US" sz="2100" spc="300">
                <a:solidFill>
                  <a:srgbClr val="28B894"/>
                </a:solidFill>
                <a:latin typeface="Source Han Sans CN"/>
                <a:ea typeface="Source Han Sans CN"/>
                <a:cs typeface="Source Han Sans CN"/>
              </a:rPr>
              <a:t>10  · 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524000"/>
            <a:ext cx="691515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6300"/>
              </a:lnSpc>
            </a:pPr>
            <a:r>
              <a:rPr lang="zh-CN" sz="4950">
                <a:solidFill>
                  <a:srgbClr val="0E201A"/>
                </a:solidFill>
                <a:latin typeface="Source Han Sans CN"/>
                <a:ea typeface="Source Han Sans CN"/>
                <a:cs typeface="Source Han Sans CN"/>
              </a:rPr>
              <a:t>从试点到规模化，五步走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533650"/>
            <a:ext cx="6811975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450"/>
              </a:lnSpc>
            </a:pPr>
            <a:r>
              <a:rPr lang="en-US" sz="2400">
                <a:solidFill>
                  <a:srgbClr val="5C7169"/>
                </a:solidFill>
                <a:latin typeface="Source Han Sans CN"/>
                <a:ea typeface="Source Han Sans CN"/>
                <a:cs typeface="Source Han Sans CN"/>
              </a:rPr>
              <a:t> AI 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3619500"/>
            <a:ext cx="30099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485900" y="3962400"/>
            <a:ext cx="487261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900"/>
              </a:lnSpc>
            </a:pPr>
            <a:r>
              <a:rPr lang="en-US" sz="3150">
                <a:solidFill>
                  <a:srgbClr val="28B894"/>
                </a:solidFill>
                <a:latin typeface="Source Han Sans CN"/>
                <a:ea typeface="Source Han Sans CN"/>
                <a:cs typeface="Source Han Sans CN"/>
              </a:rPr>
              <a:t>01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485900" y="4591050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0E201A"/>
                </a:solidFill>
                <a:latin typeface="Source Han Sans CN Bold"/>
                <a:ea typeface="Source Han Sans CN Bold"/>
                <a:cs typeface="Source Han Sans CN Bold"/>
              </a:rPr>
              <a:t>现场诊断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485900" y="5124450"/>
            <a:ext cx="2143125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850"/>
              </a:lnSpc>
            </a:pPr>
            <a:r>
              <a:rPr lang="zh-CN" sz="1875">
                <a:solidFill>
                  <a:srgbClr val="5C7169"/>
                </a:solidFill>
                <a:latin typeface="Source Han Sans CN"/>
                <a:ea typeface="Source Han Sans CN"/>
                <a:cs typeface="Source Han Sans CN"/>
              </a:rPr>
              <a:t>梳理业务流程，圈定高价值场景</a:t>
            </a:r>
          </a:p>
        </p:txBody>
      </p:sp>
      <p:sp>
        <p:nvSpPr>
          <p:cNvPr id="10" name="Rectangle"/>
          <p:cNvSpPr/>
          <p:nvPr/>
        </p:nvSpPr>
        <p:spPr>
          <a:xfrm>
            <a:off x="1147763" y="3624263"/>
            <a:ext cx="3000375" cy="2847975"/>
          </a:xfrm>
          <a:prstGeom prst="roundRect">
            <a:avLst>
              <a:gd name="adj" fmla="val 7859"/>
            </a:avLst>
          </a:prstGeom>
          <a:noFill/>
          <a:ln w="9525">
            <a:solidFill>
              <a:srgbClr val="E3F0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"/>
          <p:cNvSpPr/>
          <p:nvPr/>
        </p:nvSpPr>
        <p:spPr>
          <a:xfrm>
            <a:off x="4391025" y="3619500"/>
            <a:ext cx="30099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"/>
          <p:cNvSpPr txBox="1"/>
          <p:nvPr/>
        </p:nvSpPr>
        <p:spPr>
          <a:xfrm>
            <a:off x="4733925" y="3962400"/>
            <a:ext cx="487261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900"/>
              </a:lnSpc>
            </a:pPr>
            <a:r>
              <a:rPr lang="en-US" sz="3150">
                <a:solidFill>
                  <a:srgbClr val="28B894"/>
                </a:solidFill>
                <a:latin typeface="Source Han Sans CN"/>
                <a:ea typeface="Source Han Sans CN"/>
                <a:cs typeface="Source Han Sans CN"/>
              </a:rPr>
              <a:t>02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4733925" y="4591050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0E201A"/>
                </a:solidFill>
                <a:latin typeface="Source Han Sans CN Bold"/>
                <a:ea typeface="Source Han Sans CN Bold"/>
                <a:cs typeface="Source Han Sans CN Bold"/>
              </a:rPr>
              <a:t>场景试点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4733925" y="5124450"/>
            <a:ext cx="214312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850"/>
              </a:lnSpc>
            </a:pPr>
            <a:r>
              <a:rPr lang="en-US" sz="1875">
                <a:solidFill>
                  <a:srgbClr val="5C7169"/>
                </a:solidFill>
                <a:latin typeface="Source Han Sans CN"/>
                <a:ea typeface="Source Han Sans CN"/>
                <a:cs typeface="Source Han Sans CN"/>
              </a:rPr>
              <a:t>2–4 </a:t>
            </a:r>
          </a:p>
        </p:txBody>
      </p:sp>
      <p:sp>
        <p:nvSpPr>
          <p:cNvPr id="15" name="Rectangle"/>
          <p:cNvSpPr/>
          <p:nvPr/>
        </p:nvSpPr>
        <p:spPr>
          <a:xfrm>
            <a:off x="4395788" y="3624263"/>
            <a:ext cx="3000375" cy="2847975"/>
          </a:xfrm>
          <a:prstGeom prst="roundRect">
            <a:avLst>
              <a:gd name="adj" fmla="val 7859"/>
            </a:avLst>
          </a:prstGeom>
          <a:noFill/>
          <a:ln w="9525">
            <a:solidFill>
              <a:srgbClr val="E3F0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"/>
          <p:cNvSpPr/>
          <p:nvPr/>
        </p:nvSpPr>
        <p:spPr>
          <a:xfrm>
            <a:off x="7639050" y="3619500"/>
            <a:ext cx="30099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7981950" y="3962400"/>
            <a:ext cx="487261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900"/>
              </a:lnSpc>
            </a:pPr>
            <a:r>
              <a:rPr lang="en-US" sz="3150">
                <a:solidFill>
                  <a:srgbClr val="28B894"/>
                </a:solidFill>
                <a:latin typeface="Source Han Sans CN"/>
                <a:ea typeface="Source Han Sans CN"/>
                <a:cs typeface="Source Han Sans CN"/>
              </a:rPr>
              <a:t>03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981950" y="4591050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0E201A"/>
                </a:solidFill>
                <a:latin typeface="Source Han Sans CN Bold"/>
                <a:ea typeface="Source Han Sans CN Bold"/>
                <a:cs typeface="Source Han Sans CN Bold"/>
              </a:rPr>
              <a:t>能力沉淀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7981950" y="5124450"/>
            <a:ext cx="2242899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850"/>
              </a:lnSpc>
            </a:pPr>
            <a:r>
              <a:rPr lang="en-US" sz="1875">
                <a:solidFill>
                  <a:srgbClr val="5C7169"/>
                </a:solidFill>
                <a:latin typeface="Source Han Sans CN"/>
                <a:ea typeface="Source Han Sans CN"/>
                <a:cs typeface="Source Han Sans CN"/>
              </a:rPr>
              <a:t> SOP </a:t>
            </a:r>
          </a:p>
        </p:txBody>
      </p:sp>
      <p:sp>
        <p:nvSpPr>
          <p:cNvPr id="20" name="Rectangle"/>
          <p:cNvSpPr/>
          <p:nvPr/>
        </p:nvSpPr>
        <p:spPr>
          <a:xfrm>
            <a:off x="7643813" y="3624263"/>
            <a:ext cx="3000375" cy="2847975"/>
          </a:xfrm>
          <a:prstGeom prst="roundRect">
            <a:avLst>
              <a:gd name="adj" fmla="val 7859"/>
            </a:avLst>
          </a:prstGeom>
          <a:noFill/>
          <a:ln w="9525">
            <a:solidFill>
              <a:srgbClr val="E3F0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"/>
          <p:cNvSpPr/>
          <p:nvPr/>
        </p:nvSpPr>
        <p:spPr>
          <a:xfrm>
            <a:off x="10887075" y="3619500"/>
            <a:ext cx="30099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11229975" y="3962400"/>
            <a:ext cx="487261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900"/>
              </a:lnSpc>
            </a:pPr>
            <a:r>
              <a:rPr lang="en-US" sz="3150">
                <a:solidFill>
                  <a:srgbClr val="28B894"/>
                </a:solidFill>
                <a:latin typeface="Source Han Sans CN"/>
                <a:ea typeface="Source Han Sans CN"/>
                <a:cs typeface="Source Han Sans CN"/>
              </a:rPr>
              <a:t>04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1229975" y="4591050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0E201A"/>
                </a:solidFill>
                <a:latin typeface="Source Han Sans CN Bold"/>
                <a:ea typeface="Source Han Sans CN Bold"/>
                <a:cs typeface="Source Han Sans CN Bold"/>
              </a:rPr>
              <a:t>系统集成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11229975" y="5124450"/>
            <a:ext cx="235077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850"/>
              </a:lnSpc>
            </a:pPr>
            <a:r>
              <a:rPr lang="en-US" sz="1875">
                <a:solidFill>
                  <a:srgbClr val="5C7169"/>
                </a:solidFill>
                <a:latin typeface="Source Han Sans CN"/>
                <a:ea typeface="Source Han Sans CN"/>
                <a:cs typeface="Source Han Sans CN"/>
              </a:rPr>
              <a:t> OA、CRM </a:t>
            </a:r>
          </a:p>
        </p:txBody>
      </p:sp>
      <p:sp>
        <p:nvSpPr>
          <p:cNvPr id="25" name="Rectangle"/>
          <p:cNvSpPr/>
          <p:nvPr/>
        </p:nvSpPr>
        <p:spPr>
          <a:xfrm>
            <a:off x="10891838" y="3624263"/>
            <a:ext cx="3000375" cy="2847975"/>
          </a:xfrm>
          <a:prstGeom prst="roundRect">
            <a:avLst>
              <a:gd name="adj" fmla="val 7859"/>
            </a:avLst>
          </a:prstGeom>
          <a:noFill/>
          <a:ln w="9525">
            <a:solidFill>
              <a:srgbClr val="E3F0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"/>
          <p:cNvSpPr/>
          <p:nvPr/>
        </p:nvSpPr>
        <p:spPr>
          <a:xfrm>
            <a:off x="14135100" y="3619500"/>
            <a:ext cx="3009900" cy="2857500"/>
          </a:xfrm>
          <a:prstGeom prst="roundRect">
            <a:avLst>
              <a:gd name="adj" fmla="val 8000"/>
            </a:avLst>
          </a:prstGeom>
          <a:solidFill>
            <a:srgbClr val="0E201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"/>
          <p:cNvSpPr txBox="1"/>
          <p:nvPr/>
        </p:nvSpPr>
        <p:spPr>
          <a:xfrm>
            <a:off x="14478000" y="3962400"/>
            <a:ext cx="487261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900"/>
              </a:lnSpc>
            </a:pPr>
            <a:r>
              <a:rPr lang="en-US" sz="3150">
                <a:solidFill>
                  <a:srgbClr val="3DD68C"/>
                </a:solidFill>
                <a:latin typeface="Source Han Sans CN"/>
                <a:ea typeface="Source Han Sans CN"/>
                <a:cs typeface="Source Han Sans CN"/>
              </a:rPr>
              <a:t>05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14478000" y="4591050"/>
            <a:ext cx="1524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规模化推广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14478000" y="5124450"/>
            <a:ext cx="2143125" cy="1085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850"/>
              </a:lnSpc>
            </a:pPr>
            <a:r>
              <a:rPr lang="zh-CN" sz="1875">
                <a:solidFill>
                  <a:srgbClr val="A9C2B9"/>
                </a:solidFill>
                <a:latin typeface="Source Han Sans CN"/>
                <a:ea typeface="Source Han Sans CN"/>
                <a:cs typeface="Source Han Sans CN"/>
              </a:rPr>
              <a:t>全员推广与运营陪跑，形成常态化生产力</a:t>
            </a:r>
          </a:p>
        </p:txBody>
      </p:sp>
      <p:sp>
        <p:nvSpPr>
          <p:cNvPr id="30" name="Rectangle"/>
          <p:cNvSpPr/>
          <p:nvPr/>
        </p:nvSpPr>
        <p:spPr>
          <a:xfrm>
            <a:off x="1143000" y="6915150"/>
            <a:ext cx="16002000" cy="1143000"/>
          </a:xfrm>
          <a:prstGeom prst="roundRect">
            <a:avLst>
              <a:gd name="adj" fmla="val 20000"/>
            </a:avLst>
          </a:prstGeom>
          <a:solidFill>
            <a:srgbClr val="0E201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Path"/>
          <p:cNvSpPr/>
          <p:nvPr/>
        </p:nvSpPr>
        <p:spPr>
          <a:xfrm>
            <a:off x="1576234" y="7320712"/>
            <a:ext cx="295581" cy="331869"/>
          </a:xfrm>
          <a:custGeom>
            <a:avLst/>
            <a:gdLst/>
            <a:ahLst/>
            <a:cxnLst/>
            <a:rect l="0" t="0" r="r" b="b"/>
            <a:pathLst>
              <a:path w="295581" h="331869">
                <a:moveTo>
                  <a:pt x="288392" y="55373"/>
                </a:moveTo>
                <a:quadBezTo>
                  <a:pt x="291658" y="56630"/>
                  <a:pt x="293582" y="59553"/>
                </a:quadBezTo>
                <a:quadBezTo>
                  <a:pt x="295581" y="62426"/>
                  <a:pt x="295536" y="65925"/>
                </a:quadBezTo>
                <a:lnTo>
                  <a:pt x="295536" y="156845"/>
                </a:lnTo>
                <a:quadBezTo>
                  <a:pt x="295536" y="220601"/>
                  <a:pt x="253862" y="268312"/>
                </a:quadBezTo>
                <a:quadBezTo>
                  <a:pt x="215005" y="312799"/>
                  <a:pt x="150963" y="331415"/>
                </a:quadBezTo>
                <a:quadBezTo>
                  <a:pt x="149409" y="331869"/>
                  <a:pt x="147791" y="331867"/>
                </a:quadBezTo>
                <a:quadBezTo>
                  <a:pt x="146172" y="331869"/>
                  <a:pt x="144618" y="331415"/>
                </a:quadBezTo>
                <a:quadBezTo>
                  <a:pt x="80577" y="312799"/>
                  <a:pt x="41719" y="268312"/>
                </a:quadBezTo>
                <a:quadBezTo>
                  <a:pt x="45" y="220601"/>
                  <a:pt x="45" y="156845"/>
                </a:quadBezTo>
                <a:lnTo>
                  <a:pt x="45" y="65925"/>
                </a:lnTo>
                <a:quadBezTo>
                  <a:pt x="0" y="62426"/>
                  <a:pt x="1999" y="59553"/>
                </a:quadBezTo>
                <a:quadBezTo>
                  <a:pt x="3923" y="56630"/>
                  <a:pt x="7189" y="55373"/>
                </a:quadBezTo>
                <a:lnTo>
                  <a:pt x="143570" y="820"/>
                </a:lnTo>
                <a:quadBezTo>
                  <a:pt x="145601" y="0"/>
                  <a:pt x="147791" y="7"/>
                </a:quadBezTo>
                <a:quadBezTo>
                  <a:pt x="149981" y="0"/>
                  <a:pt x="152012" y="820"/>
                </a:quadBezTo>
                <a:lnTo>
                  <a:pt x="288392" y="55373"/>
                </a:lnTo>
                <a:close/>
                <a:moveTo>
                  <a:pt x="147791" y="23613"/>
                </a:moveTo>
                <a:lnTo>
                  <a:pt x="22775" y="73619"/>
                </a:lnTo>
                <a:lnTo>
                  <a:pt x="22775" y="156845"/>
                </a:lnTo>
                <a:quadBezTo>
                  <a:pt x="22775" y="212072"/>
                  <a:pt x="58838" y="253359"/>
                </a:quadBezTo>
                <a:quadBezTo>
                  <a:pt x="92361" y="291739"/>
                  <a:pt x="147791" y="308644"/>
                </a:quadBezTo>
                <a:quadBezTo>
                  <a:pt x="203220" y="291739"/>
                  <a:pt x="236743" y="253359"/>
                </a:quadBezTo>
                <a:quadBezTo>
                  <a:pt x="272806" y="212072"/>
                  <a:pt x="272806" y="156845"/>
                </a:quadBezTo>
                <a:lnTo>
                  <a:pt x="272806" y="73619"/>
                </a:lnTo>
                <a:lnTo>
                  <a:pt x="147791" y="23613"/>
                </a:lnTo>
                <a:close/>
              </a:path>
            </a:pathLst>
          </a:custGeom>
          <a:solidFill>
            <a:srgbClr val="3DD6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Path"/>
          <p:cNvSpPr/>
          <p:nvPr/>
        </p:nvSpPr>
        <p:spPr>
          <a:xfrm>
            <a:off x="1653425" y="7438780"/>
            <a:ext cx="141201" cy="100287"/>
          </a:xfrm>
          <a:custGeom>
            <a:avLst/>
            <a:gdLst/>
            <a:ahLst/>
            <a:cxnLst/>
            <a:rect l="0" t="0" r="r" b="b"/>
            <a:pathLst>
              <a:path w="141201" h="100287">
                <a:moveTo>
                  <a:pt x="19538" y="39834"/>
                </a:moveTo>
                <a:lnTo>
                  <a:pt x="52416" y="72712"/>
                </a:lnTo>
                <a:lnTo>
                  <a:pt x="121662" y="3466"/>
                </a:lnTo>
                <a:quadBezTo>
                  <a:pt x="124934" y="0"/>
                  <a:pt x="129699" y="137"/>
                </a:quadBezTo>
                <a:quadBezTo>
                  <a:pt x="134463" y="0"/>
                  <a:pt x="137735" y="3466"/>
                </a:quadBezTo>
                <a:quadBezTo>
                  <a:pt x="141201" y="6738"/>
                  <a:pt x="141064" y="11502"/>
                </a:quadBezTo>
                <a:quadBezTo>
                  <a:pt x="141201" y="16267"/>
                  <a:pt x="137735" y="19538"/>
                </a:quadBezTo>
                <a:lnTo>
                  <a:pt x="60453" y="96821"/>
                </a:lnTo>
                <a:quadBezTo>
                  <a:pt x="57181" y="100287"/>
                  <a:pt x="52416" y="100150"/>
                </a:quadBezTo>
                <a:quadBezTo>
                  <a:pt x="47652" y="100287"/>
                  <a:pt x="44380" y="96821"/>
                </a:quadBezTo>
                <a:lnTo>
                  <a:pt x="3466" y="55907"/>
                </a:lnTo>
                <a:quadBezTo>
                  <a:pt x="0" y="52635"/>
                  <a:pt x="137" y="47870"/>
                </a:quadBezTo>
                <a:quadBezTo>
                  <a:pt x="0" y="43106"/>
                  <a:pt x="3466" y="39834"/>
                </a:quadBezTo>
                <a:quadBezTo>
                  <a:pt x="6738" y="36368"/>
                  <a:pt x="11502" y="36505"/>
                </a:quadBezTo>
                <a:quadBezTo>
                  <a:pt x="16267" y="36368"/>
                  <a:pt x="19538" y="39834"/>
                </a:quadBezTo>
                <a:close/>
              </a:path>
            </a:pathLst>
          </a:custGeom>
          <a:solidFill>
            <a:srgbClr val="3DD6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"/>
          <p:cNvSpPr txBox="1"/>
          <p:nvPr/>
        </p:nvSpPr>
        <p:spPr>
          <a:xfrm>
            <a:off x="2190750" y="7286625"/>
            <a:ext cx="18288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安全合规保障</a:t>
            </a:r>
          </a:p>
        </p:txBody>
      </p:sp>
      <p:sp>
        <p:nvSpPr>
          <p:cNvPr id="34" name="Rectangle"/>
          <p:cNvSpPr/>
          <p:nvPr/>
        </p:nvSpPr>
        <p:spPr>
          <a:xfrm>
            <a:off x="4286250" y="7296150"/>
            <a:ext cx="9525" cy="38100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"/>
          <p:cNvSpPr txBox="1"/>
          <p:nvPr/>
        </p:nvSpPr>
        <p:spPr>
          <a:xfrm>
            <a:off x="4562475" y="7305675"/>
            <a:ext cx="9802976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zh-CN" sz="1950">
                <a:solidFill>
                  <a:srgbClr val="A9C2B9"/>
                </a:solidFill>
                <a:latin typeface="Source Han Sans CN"/>
                <a:ea typeface="Source Han Sans CN"/>
                <a:cs typeface="Source Han Sans CN"/>
              </a:rPr>
              <a:t>    ·    细粒度权限与操作审计    ·    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1143000" y="9010650"/>
            <a:ext cx="3816249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zh-CN" sz="1800">
                <a:solidFill>
                  <a:srgbClr val="8AA39A"/>
                </a:solidFill>
                <a:latin typeface="Source Han Sans CN"/>
                <a:ea typeface="Source Han Sans CN"/>
                <a:cs typeface="Source Han Sans CN"/>
              </a:rPr>
              <a:t>WorkBuddy  ·  企业级 AI 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16849725" y="9010650"/>
            <a:ext cx="29222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en-US" sz="1950">
                <a:solidFill>
                  <a:srgbClr val="28B894"/>
                </a:solidFill>
                <a:latin typeface="Source Han Sans CN Bold"/>
                <a:ea typeface="Source Han Sans CN Bold"/>
                <a:cs typeface="Source Han Sans CN Bold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5120D"/>
              </a:gs>
              <a:gs pos="100000">
                <a:srgbClr val="0A291F"/>
              </a:gs>
            </a:gsLst>
            <a:lin ang="1761465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2952750" y="-3333750"/>
            <a:ext cx="12382500" cy="1238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9B894">
                  <a:alpha val="30000"/>
                </a:srgbClr>
              </a:gs>
              <a:gs pos="100000">
                <a:srgbClr val="29B89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llipse"/>
          <p:cNvSpPr/>
          <p:nvPr/>
        </p:nvSpPr>
        <p:spPr>
          <a:xfrm>
            <a:off x="-1047750" y="-1047750"/>
            <a:ext cx="4381500" cy="4381500"/>
          </a:xfrm>
          <a:prstGeom prst="ellipse">
            <a:avLst/>
          </a:prstGeom>
          <a:noFill/>
          <a:ln w="9525">
            <a:solidFill>
              <a:srgbClr val="28B894">
                <a:alpha val="125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" name="Ellipse"/>
          <p:cNvSpPr/>
          <p:nvPr/>
        </p:nvSpPr>
        <p:spPr>
          <a:xfrm>
            <a:off x="-381000" y="-381000"/>
            <a:ext cx="3048000" cy="3048000"/>
          </a:xfrm>
          <a:prstGeom prst="ellipse">
            <a:avLst/>
          </a:prstGeom>
          <a:noFill/>
          <a:ln w="9525">
            <a:solidFill>
              <a:srgbClr val="28B894">
                <a:alpha val="15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" name="Ellipse"/>
          <p:cNvSpPr/>
          <p:nvPr/>
        </p:nvSpPr>
        <p:spPr>
          <a:xfrm>
            <a:off x="285750" y="285750"/>
            <a:ext cx="1714500" cy="1714500"/>
          </a:xfrm>
          <a:prstGeom prst="ellipse">
            <a:avLst/>
          </a:prstGeom>
          <a:noFill/>
          <a:ln w="9525">
            <a:solidFill>
              <a:srgbClr val="28B894">
                <a:alpha val="2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" name="Path"/>
          <p:cNvSpPr/>
          <p:nvPr/>
        </p:nvSpPr>
        <p:spPr>
          <a:xfrm>
            <a:off x="-1047750" y="-1047750"/>
            <a:ext cx="4381500" cy="4381500"/>
          </a:xfrm>
          <a:custGeom>
            <a:avLst/>
            <a:gdLst/>
            <a:ahLst/>
            <a:cxnLst/>
            <a:rect l="0" t="0" r="r" b="b"/>
            <a:pathLst>
              <a:path w="4381500" h="4381500">
                <a:moveTo>
                  <a:pt x="2195513" y="0"/>
                </a:moveTo>
                <a:lnTo>
                  <a:pt x="2195513" y="2185988"/>
                </a:lnTo>
                <a:lnTo>
                  <a:pt x="4381500" y="2185988"/>
                </a:lnTo>
                <a:lnTo>
                  <a:pt x="4381500" y="2195513"/>
                </a:lnTo>
                <a:lnTo>
                  <a:pt x="2195513" y="2195513"/>
                </a:lnTo>
                <a:lnTo>
                  <a:pt x="2195513" y="4381500"/>
                </a:lnTo>
                <a:lnTo>
                  <a:pt x="2185988" y="4381500"/>
                </a:lnTo>
                <a:lnTo>
                  <a:pt x="2185988" y="2195513"/>
                </a:lnTo>
                <a:lnTo>
                  <a:pt x="0" y="2195513"/>
                </a:lnTo>
                <a:lnTo>
                  <a:pt x="0" y="2185988"/>
                </a:lnTo>
                <a:lnTo>
                  <a:pt x="2185988" y="2185988"/>
                </a:lnTo>
                <a:lnTo>
                  <a:pt x="2185988" y="0"/>
                </a:lnTo>
                <a:lnTo>
                  <a:pt x="2195513" y="0"/>
                </a:lnTo>
                <a:close/>
              </a:path>
            </a:pathLst>
          </a:custGeom>
          <a:solidFill>
            <a:srgbClr val="28B894">
              <a:alpha val="75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Path"/>
          <p:cNvSpPr/>
          <p:nvPr/>
        </p:nvSpPr>
        <p:spPr>
          <a:xfrm>
            <a:off x="-1054485" y="-1054485"/>
            <a:ext cx="4394970" cy="4394970"/>
          </a:xfrm>
          <a:custGeom>
            <a:avLst/>
            <a:gdLst/>
            <a:ahLst/>
            <a:cxnLst/>
            <a:rect l="0" t="0" r="r" b="b"/>
            <a:pathLst>
              <a:path w="4394970" h="4394970">
                <a:moveTo>
                  <a:pt x="4394970" y="2197485"/>
                </a:moveTo>
                <a:lnTo>
                  <a:pt x="2197485" y="4394970"/>
                </a:lnTo>
                <a:lnTo>
                  <a:pt x="2194118" y="4391603"/>
                </a:lnTo>
                <a:lnTo>
                  <a:pt x="0" y="2197485"/>
                </a:lnTo>
                <a:lnTo>
                  <a:pt x="3368" y="2194118"/>
                </a:lnTo>
                <a:lnTo>
                  <a:pt x="2197485" y="0"/>
                </a:lnTo>
                <a:lnTo>
                  <a:pt x="2200853" y="3368"/>
                </a:lnTo>
                <a:lnTo>
                  <a:pt x="4394970" y="2197485"/>
                </a:lnTo>
                <a:close/>
                <a:moveTo>
                  <a:pt x="2197485" y="13470"/>
                </a:moveTo>
                <a:lnTo>
                  <a:pt x="13470" y="2197485"/>
                </a:lnTo>
                <a:lnTo>
                  <a:pt x="2197485" y="4381500"/>
                </a:lnTo>
                <a:lnTo>
                  <a:pt x="4381500" y="2197485"/>
                </a:lnTo>
                <a:lnTo>
                  <a:pt x="2197485" y="13470"/>
                </a:lnTo>
                <a:close/>
              </a:path>
            </a:pathLst>
          </a:custGeom>
          <a:solidFill>
            <a:srgbClr val="28B894">
              <a:alpha val="9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Ellipse"/>
          <p:cNvSpPr/>
          <p:nvPr/>
        </p:nvSpPr>
        <p:spPr>
          <a:xfrm>
            <a:off x="1009650" y="1009650"/>
            <a:ext cx="266700" cy="266700"/>
          </a:xfrm>
          <a:prstGeom prst="ellipse">
            <a:avLst/>
          </a:prstGeom>
          <a:solidFill>
            <a:srgbClr val="3DD68C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Ellipse"/>
          <p:cNvSpPr/>
          <p:nvPr/>
        </p:nvSpPr>
        <p:spPr>
          <a:xfrm>
            <a:off x="1076325" y="-1114425"/>
            <a:ext cx="133350" cy="133350"/>
          </a:xfrm>
          <a:prstGeom prst="ellipse">
            <a:avLst/>
          </a:prstGeom>
          <a:solidFill>
            <a:srgbClr val="3DD68C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Ellipse"/>
          <p:cNvSpPr/>
          <p:nvPr/>
        </p:nvSpPr>
        <p:spPr>
          <a:xfrm>
            <a:off x="3267075" y="1076325"/>
            <a:ext cx="133350" cy="133350"/>
          </a:xfrm>
          <a:prstGeom prst="ellipse">
            <a:avLst/>
          </a:prstGeom>
          <a:solidFill>
            <a:srgbClr val="3DD68C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Ellipse"/>
          <p:cNvSpPr/>
          <p:nvPr/>
        </p:nvSpPr>
        <p:spPr>
          <a:xfrm>
            <a:off x="1076325" y="3267075"/>
            <a:ext cx="133350" cy="133350"/>
          </a:xfrm>
          <a:prstGeom prst="ellipse">
            <a:avLst/>
          </a:prstGeom>
          <a:solidFill>
            <a:srgbClr val="3DD68C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Ellipse"/>
          <p:cNvSpPr/>
          <p:nvPr/>
        </p:nvSpPr>
        <p:spPr>
          <a:xfrm>
            <a:off x="-1114425" y="1076325"/>
            <a:ext cx="133350" cy="133350"/>
          </a:xfrm>
          <a:prstGeom prst="ellipse">
            <a:avLst/>
          </a:prstGeom>
          <a:solidFill>
            <a:srgbClr val="3DD68C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Ellipse"/>
          <p:cNvSpPr/>
          <p:nvPr/>
        </p:nvSpPr>
        <p:spPr>
          <a:xfrm>
            <a:off x="14954250" y="6953250"/>
            <a:ext cx="4381500" cy="4381500"/>
          </a:xfrm>
          <a:prstGeom prst="ellipse">
            <a:avLst/>
          </a:prstGeom>
          <a:noFill/>
          <a:ln w="9525">
            <a:solidFill>
              <a:srgbClr val="28B894">
                <a:alpha val="125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5" name="Ellipse"/>
          <p:cNvSpPr/>
          <p:nvPr/>
        </p:nvSpPr>
        <p:spPr>
          <a:xfrm>
            <a:off x="15621000" y="7620000"/>
            <a:ext cx="3048000" cy="3048000"/>
          </a:xfrm>
          <a:prstGeom prst="ellipse">
            <a:avLst/>
          </a:prstGeom>
          <a:noFill/>
          <a:ln w="9525">
            <a:solidFill>
              <a:srgbClr val="28B894">
                <a:alpha val="15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6" name="Ellipse"/>
          <p:cNvSpPr/>
          <p:nvPr/>
        </p:nvSpPr>
        <p:spPr>
          <a:xfrm>
            <a:off x="16287750" y="8286750"/>
            <a:ext cx="1714500" cy="1714500"/>
          </a:xfrm>
          <a:prstGeom prst="ellipse">
            <a:avLst/>
          </a:prstGeom>
          <a:noFill/>
          <a:ln w="9525">
            <a:solidFill>
              <a:srgbClr val="28B894">
                <a:alpha val="20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7" name="Path"/>
          <p:cNvSpPr/>
          <p:nvPr/>
        </p:nvSpPr>
        <p:spPr>
          <a:xfrm>
            <a:off x="14954250" y="6953250"/>
            <a:ext cx="4381500" cy="4381500"/>
          </a:xfrm>
          <a:custGeom>
            <a:avLst/>
            <a:gdLst/>
            <a:ahLst/>
            <a:cxnLst/>
            <a:rect l="0" t="0" r="r" b="b"/>
            <a:pathLst>
              <a:path w="4381500" h="4381500">
                <a:moveTo>
                  <a:pt x="2195512" y="0"/>
                </a:moveTo>
                <a:lnTo>
                  <a:pt x="2195512" y="2185987"/>
                </a:lnTo>
                <a:lnTo>
                  <a:pt x="4381500" y="2185987"/>
                </a:lnTo>
                <a:lnTo>
                  <a:pt x="4381500" y="2195512"/>
                </a:lnTo>
                <a:lnTo>
                  <a:pt x="2195512" y="2195512"/>
                </a:lnTo>
                <a:lnTo>
                  <a:pt x="2195512" y="4381500"/>
                </a:lnTo>
                <a:lnTo>
                  <a:pt x="2185987" y="4381500"/>
                </a:lnTo>
                <a:lnTo>
                  <a:pt x="2185987" y="2195512"/>
                </a:lnTo>
                <a:lnTo>
                  <a:pt x="0" y="2195512"/>
                </a:lnTo>
                <a:lnTo>
                  <a:pt x="0" y="2185987"/>
                </a:lnTo>
                <a:lnTo>
                  <a:pt x="2185987" y="2185987"/>
                </a:lnTo>
                <a:lnTo>
                  <a:pt x="2185987" y="0"/>
                </a:lnTo>
                <a:lnTo>
                  <a:pt x="2195512" y="0"/>
                </a:lnTo>
                <a:close/>
              </a:path>
            </a:pathLst>
          </a:custGeom>
          <a:solidFill>
            <a:srgbClr val="28B894">
              <a:alpha val="75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Path"/>
          <p:cNvSpPr/>
          <p:nvPr/>
        </p:nvSpPr>
        <p:spPr>
          <a:xfrm>
            <a:off x="14947516" y="6946515"/>
            <a:ext cx="4394970" cy="4394970"/>
          </a:xfrm>
          <a:custGeom>
            <a:avLst/>
            <a:gdLst/>
            <a:ahLst/>
            <a:cxnLst/>
            <a:rect l="0" t="0" r="r" b="b"/>
            <a:pathLst>
              <a:path w="4394970" h="4394970">
                <a:moveTo>
                  <a:pt x="4394970" y="2197485"/>
                </a:moveTo>
                <a:lnTo>
                  <a:pt x="2197485" y="4394970"/>
                </a:lnTo>
                <a:lnTo>
                  <a:pt x="0" y="2197485"/>
                </a:lnTo>
                <a:lnTo>
                  <a:pt x="3368" y="2194118"/>
                </a:lnTo>
                <a:lnTo>
                  <a:pt x="2197485" y="0"/>
                </a:lnTo>
                <a:lnTo>
                  <a:pt x="2200853" y="3368"/>
                </a:lnTo>
                <a:lnTo>
                  <a:pt x="4394970" y="2197485"/>
                </a:lnTo>
                <a:close/>
                <a:moveTo>
                  <a:pt x="2197485" y="13470"/>
                </a:moveTo>
                <a:lnTo>
                  <a:pt x="13470" y="2197485"/>
                </a:lnTo>
                <a:lnTo>
                  <a:pt x="2197485" y="4381500"/>
                </a:lnTo>
                <a:lnTo>
                  <a:pt x="4381500" y="2197485"/>
                </a:lnTo>
                <a:lnTo>
                  <a:pt x="2197485" y="13470"/>
                </a:lnTo>
                <a:close/>
              </a:path>
            </a:pathLst>
          </a:custGeom>
          <a:solidFill>
            <a:srgbClr val="28B894">
              <a:alpha val="9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Ellipse"/>
          <p:cNvSpPr/>
          <p:nvPr/>
        </p:nvSpPr>
        <p:spPr>
          <a:xfrm>
            <a:off x="17011650" y="9010650"/>
            <a:ext cx="266700" cy="266700"/>
          </a:xfrm>
          <a:prstGeom prst="ellipse">
            <a:avLst/>
          </a:prstGeom>
          <a:solidFill>
            <a:srgbClr val="3DD68C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Ellipse"/>
          <p:cNvSpPr/>
          <p:nvPr/>
        </p:nvSpPr>
        <p:spPr>
          <a:xfrm>
            <a:off x="17078325" y="6886575"/>
            <a:ext cx="133350" cy="133350"/>
          </a:xfrm>
          <a:prstGeom prst="ellipse">
            <a:avLst/>
          </a:prstGeom>
          <a:solidFill>
            <a:srgbClr val="3DD68C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Ellipse"/>
          <p:cNvSpPr/>
          <p:nvPr/>
        </p:nvSpPr>
        <p:spPr>
          <a:xfrm>
            <a:off x="19269075" y="9077325"/>
            <a:ext cx="133350" cy="133350"/>
          </a:xfrm>
          <a:prstGeom prst="ellipse">
            <a:avLst/>
          </a:prstGeom>
          <a:solidFill>
            <a:srgbClr val="3DD68C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Ellipse"/>
          <p:cNvSpPr/>
          <p:nvPr/>
        </p:nvSpPr>
        <p:spPr>
          <a:xfrm>
            <a:off x="17078325" y="11268075"/>
            <a:ext cx="133350" cy="133350"/>
          </a:xfrm>
          <a:prstGeom prst="ellipse">
            <a:avLst/>
          </a:prstGeom>
          <a:solidFill>
            <a:srgbClr val="3DD68C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Ellipse"/>
          <p:cNvSpPr/>
          <p:nvPr/>
        </p:nvSpPr>
        <p:spPr>
          <a:xfrm>
            <a:off x="14887575" y="9077325"/>
            <a:ext cx="133350" cy="133350"/>
          </a:xfrm>
          <a:prstGeom prst="ellipse">
            <a:avLst/>
          </a:prstGeom>
          <a:solidFill>
            <a:srgbClr val="3DD68C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"/>
          <p:cNvSpPr txBox="1"/>
          <p:nvPr/>
        </p:nvSpPr>
        <p:spPr>
          <a:xfrm>
            <a:off x="7839456" y="2409825"/>
            <a:ext cx="260908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250" spc="750">
                <a:solidFill>
                  <a:srgbClr val="3DD68C"/>
                </a:solidFill>
                <a:latin typeface="Source Han Sans CN Bold"/>
                <a:ea typeface="Source Han Sans CN Bold"/>
                <a:cs typeface="Source Han Sans CN Bold"/>
              </a:rPr>
              <a:t>WORKBUDDY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5372100" y="3133725"/>
            <a:ext cx="7543800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8400"/>
              </a:lnSpc>
            </a:pPr>
            <a:r>
              <a:rPr lang="zh-CN" sz="660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从工具，到组织进化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6340964" y="4543425"/>
            <a:ext cx="5606072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900"/>
              </a:lnSpc>
            </a:pPr>
            <a:r>
              <a:rPr lang="en-US" sz="2700">
                <a:solidFill>
                  <a:srgbClr val="A9C2B9"/>
                </a:solidFill>
                <a:latin typeface="Source Han Sans CN"/>
                <a:ea typeface="Source Han Sans CN"/>
                <a:cs typeface="Source Han Sans CN"/>
              </a:rPr>
              <a:t> AI </a:t>
            </a:r>
          </a:p>
        </p:txBody>
      </p:sp>
      <p:sp>
        <p:nvSpPr>
          <p:cNvPr id="27" name="Rectangle"/>
          <p:cNvSpPr/>
          <p:nvPr/>
        </p:nvSpPr>
        <p:spPr>
          <a:xfrm>
            <a:off x="8715375" y="5381625"/>
            <a:ext cx="857250" cy="38100"/>
          </a:xfrm>
          <a:prstGeom prst="roundRect">
            <a:avLst>
              <a:gd name="adj" fmla="val 50000"/>
            </a:avLst>
          </a:prstGeom>
          <a:solidFill>
            <a:srgbClr val="3DD6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"/>
          <p:cNvSpPr/>
          <p:nvPr/>
        </p:nvSpPr>
        <p:spPr>
          <a:xfrm>
            <a:off x="4743450" y="5762625"/>
            <a:ext cx="3276600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"/>
          <p:cNvSpPr txBox="1"/>
          <p:nvPr/>
        </p:nvSpPr>
        <p:spPr>
          <a:xfrm>
            <a:off x="5048250" y="5915025"/>
            <a:ext cx="2665619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en-US" sz="2025">
                <a:solidFill>
                  <a:srgbClr val="DCEAE5"/>
                </a:solidFill>
                <a:latin typeface="Source Han Sans CN"/>
                <a:ea typeface="Source Han Sans CN"/>
                <a:cs typeface="Source Han Sans CN"/>
              </a:rPr>
              <a:t>30 </a:t>
            </a:r>
          </a:p>
        </p:txBody>
      </p:sp>
      <p:sp>
        <p:nvSpPr>
          <p:cNvPr id="30" name="Rectangle"/>
          <p:cNvSpPr/>
          <p:nvPr/>
        </p:nvSpPr>
        <p:spPr>
          <a:xfrm>
            <a:off x="4748213" y="5767388"/>
            <a:ext cx="3267075" cy="657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>
                <a:alpha val="14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"/>
          <p:cNvSpPr/>
          <p:nvPr/>
        </p:nvSpPr>
        <p:spPr>
          <a:xfrm>
            <a:off x="8248650" y="5762625"/>
            <a:ext cx="2924175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"/>
          <p:cNvSpPr txBox="1"/>
          <p:nvPr/>
        </p:nvSpPr>
        <p:spPr>
          <a:xfrm>
            <a:off x="8553450" y="5915025"/>
            <a:ext cx="2314575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zh-CN" sz="2025">
                <a:solidFill>
                  <a:srgbClr val="DCEAE5"/>
                </a:solidFill>
                <a:latin typeface="Source Han Sans CN"/>
                <a:ea typeface="Source Han Sans CN"/>
                <a:cs typeface="Source Han Sans CN"/>
              </a:rPr>
              <a:t>体验版限时免费开通</a:t>
            </a:r>
          </a:p>
        </p:txBody>
      </p:sp>
      <p:sp>
        <p:nvSpPr>
          <p:cNvPr id="33" name="Rectangle"/>
          <p:cNvSpPr/>
          <p:nvPr/>
        </p:nvSpPr>
        <p:spPr>
          <a:xfrm>
            <a:off x="8253413" y="5767388"/>
            <a:ext cx="2914650" cy="657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>
                <a:alpha val="14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"/>
          <p:cNvSpPr/>
          <p:nvPr/>
        </p:nvSpPr>
        <p:spPr>
          <a:xfrm>
            <a:off x="11401425" y="5762625"/>
            <a:ext cx="2152650" cy="666750"/>
          </a:xfrm>
          <a:prstGeom prst="roundRect">
            <a:avLst>
              <a:gd name="adj" fmla="val 50000"/>
            </a:avLst>
          </a:prstGeom>
          <a:solidFill>
            <a:srgbClr val="28B89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"/>
          <p:cNvSpPr txBox="1"/>
          <p:nvPr/>
        </p:nvSpPr>
        <p:spPr>
          <a:xfrm>
            <a:off x="11706225" y="5915025"/>
            <a:ext cx="154305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zh-CN" sz="2025">
                <a:solidFill>
                  <a:srgbClr val="04231A"/>
                </a:solidFill>
                <a:latin typeface="Source Han Sans CN Bold"/>
                <a:ea typeface="Source Han Sans CN Bold"/>
                <a:cs typeface="Source Han Sans CN Bold"/>
              </a:rPr>
              <a:t>腾讯原厂支持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7132625" y="6772275"/>
            <a:ext cx="4022751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300"/>
              </a:lnSpc>
            </a:pPr>
            <a:r>
              <a:rPr lang="en-US" sz="2400">
                <a:solidFill>
                  <a:srgbClr val="3DD68C"/>
                </a:solidFill>
                <a:latin typeface="Source Han Sans CN Bold"/>
                <a:ea typeface="Source Han Sans CN Bold"/>
                <a:cs typeface="Source Han Sans CN Bold"/>
              </a:rPr>
              <a:t> AI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7476201" y="7534275"/>
            <a:ext cx="3335598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700"/>
              </a:lnSpc>
            </a:pPr>
            <a:r>
              <a:rPr lang="en-US" sz="1950">
                <a:solidFill>
                  <a:srgbClr val="7E9A90"/>
                </a:solidFill>
                <a:latin typeface="Source Han Sans CN"/>
                <a:ea typeface="Source Han Sans CN"/>
                <a:cs typeface="Source Han Sans CN"/>
              </a:rPr>
              <a:t>workbuddy.cn    ·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GX">
  <a:themeElements>
    <a:clrScheme name="PAGX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GX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AG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PAGX</Application>
  <Paragraphs>0</Paragraphs>
  <Slides>12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</cp:coreProperties>
</file>