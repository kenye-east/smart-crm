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5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5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640080"/>
            <a:ext cx="457200" cy="4572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50292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1">
                <a:solidFill>
                  <a:srgbClr val="E8C85A"/>
                </a:solidFill>
                <a:latin typeface="Georgia" panose="02040502050405020303"/>
                <a:cs typeface="微软雅黑" panose="020B0503020204020204" charset="-122"/>
              </a:rPr>
              <a:t>BUSINESS PRESENTATION  ·  2026</a:t>
            </a:r>
            <a:endParaRPr sz="1000" b="0" i="1">
              <a:solidFill>
                <a:srgbClr val="E8C85A"/>
              </a:solidFill>
              <a:latin typeface="Georgia" panose="02040502050405020303"/>
              <a:cs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14400" y="2335213"/>
            <a:ext cx="10332720" cy="118173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lang="zh-CN" sz="6400" b="1" i="0">
                <a:solidFill>
                  <a:srgbClr val="F5F1E8"/>
                </a:solidFill>
                <a:latin typeface="微软雅黑" panose="020B0503020204020204" charset="-122"/>
                <a:cs typeface="微软雅黑" panose="020B0503020204020204" charset="-122"/>
              </a:rPr>
              <a:t>企业智能化进程</a:t>
            </a:r>
            <a:endParaRPr lang="zh-CN" sz="6400" b="1" i="0">
              <a:solidFill>
                <a:srgbClr val="F5F1E8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914400" y="3657600"/>
            <a:ext cx="10332720" cy="36893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lang="zh-CN" altLang="en-US" sz="2000" b="0" i="0">
                <a:solidFill>
                  <a:srgbClr val="9A9AA8"/>
                </a:solidFill>
                <a:latin typeface="微软雅黑" panose="020B0503020204020204" charset="-122"/>
                <a:cs typeface="微软雅黑" panose="020B0503020204020204" charset="-122"/>
              </a:rPr>
              <a:t>让 </a:t>
            </a:r>
            <a:r>
              <a:rPr lang="en-US" altLang="zh-CN" sz="2000" b="0" i="0">
                <a:solidFill>
                  <a:srgbClr val="9A9AA8"/>
                </a:solidFill>
                <a:latin typeface="微软雅黑" panose="020B0503020204020204" charset="-122"/>
                <a:cs typeface="微软雅黑" panose="020B0503020204020204" charset="-122"/>
              </a:rPr>
              <a:t>AI </a:t>
            </a:r>
            <a:r>
              <a:rPr lang="zh-CN" altLang="en-US" sz="2000" b="0" i="0">
                <a:solidFill>
                  <a:srgbClr val="9A9AA8"/>
                </a:solidFill>
                <a:latin typeface="微软雅黑" panose="020B0503020204020204" charset="-122"/>
                <a:cs typeface="微软雅黑" panose="020B0503020204020204" charset="-122"/>
              </a:rPr>
              <a:t>成为企业持续进化底层能力</a:t>
            </a:r>
            <a:endParaRPr lang="zh-CN" altLang="en-US" sz="2000" b="0" i="0">
              <a:solidFill>
                <a:srgbClr val="9A9AA8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Oval 5"/>
          <p:cNvSpPr/>
          <p:nvPr/>
        </p:nvSpPr>
        <p:spPr>
          <a:xfrm>
            <a:off x="4916271" y="4718304"/>
            <a:ext cx="164592" cy="164592"/>
          </a:xfrm>
          <a:prstGeom prst="ellipse">
            <a:avLst/>
          </a:prstGeom>
          <a:solidFill>
            <a:srgbClr val="D4AF37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>
            <a:off x="5072634" y="4480560"/>
            <a:ext cx="0" cy="320040"/>
          </a:xfrm>
          <a:prstGeom prst="line">
            <a:avLst/>
          </a:prstGeom>
          <a:ln w="19050">
            <a:solidFill>
              <a:srgbClr val="D4AF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6013551" y="4672584"/>
            <a:ext cx="164592" cy="164592"/>
          </a:xfrm>
          <a:prstGeom prst="ellipse">
            <a:avLst/>
          </a:prstGeom>
          <a:solidFill>
            <a:srgbClr val="E8C85A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" name="Connector 8"/>
          <p:cNvCxnSpPr/>
          <p:nvPr/>
        </p:nvCxnSpPr>
        <p:spPr>
          <a:xfrm>
            <a:off x="6021781" y="4754880"/>
            <a:ext cx="0" cy="365760"/>
          </a:xfrm>
          <a:prstGeom prst="line">
            <a:avLst/>
          </a:prstGeom>
          <a:ln w="19050">
            <a:solidFill>
              <a:srgbClr val="E8C85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7110831" y="4718304"/>
            <a:ext cx="164592" cy="164592"/>
          </a:xfrm>
          <a:prstGeom prst="ellipse">
            <a:avLst/>
          </a:prstGeom>
          <a:solidFill>
            <a:srgbClr val="D4AF37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>
            <a:off x="7267194" y="4480560"/>
            <a:ext cx="0" cy="320040"/>
          </a:xfrm>
          <a:prstGeom prst="line">
            <a:avLst/>
          </a:prstGeom>
          <a:ln w="19050">
            <a:solidFill>
              <a:srgbClr val="D4AF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4267047" y="5989320"/>
            <a:ext cx="3657600" cy="18288"/>
          </a:xfrm>
          <a:prstGeom prst="rect">
            <a:avLst/>
          </a:prstGeom>
          <a:solidFill>
            <a:srgbClr val="2A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0" y="6080760"/>
            <a:ext cx="1219169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1" i="0">
                <a:solidFill>
                  <a:srgbClr val="F5F1E8"/>
                </a:solidFill>
                <a:latin typeface="微软雅黑" panose="020B0503020204020204" charset="-122"/>
                <a:cs typeface="微软雅黑" panose="020B0503020204020204" charset="-122"/>
              </a:rPr>
              <a:t>刘 肯</a:t>
            </a:r>
            <a:r>
              <a:rPr sz="1300" b="0" i="0">
                <a:solidFill>
                  <a:srgbClr val="9A9AA8"/>
                </a:solidFill>
                <a:latin typeface="Georgia" panose="02040502050405020303"/>
                <a:cs typeface="微软雅黑" panose="020B0503020204020204" charset="-122"/>
              </a:rPr>
              <a:t>    |    </a:t>
            </a:r>
            <a:r>
              <a:rPr sz="1300" b="0" i="0">
                <a:solidFill>
                  <a:srgbClr val="9A9AA8"/>
                </a:solidFill>
                <a:latin typeface="微软雅黑" panose="020B0503020204020204" charset="-122"/>
                <a:cs typeface="微软雅黑" panose="020B0503020204020204" charset="-122"/>
              </a:rPr>
              <a:t>北京幻道科技</a:t>
            </a:r>
            <a:endParaRPr sz="1300" b="0" i="0">
              <a:solidFill>
                <a:srgbClr val="9A9AA8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Watermark"/>
          <p:cNvSpPr txBox="1"/>
          <p:nvPr/>
        </p:nvSpPr>
        <p:spPr>
          <a:xfrm>
            <a:off x="9884000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10545775" y="365760"/>
            <a:ext cx="1024128" cy="0"/>
          </a:xfrm>
          <a:prstGeom prst="line">
            <a:avLst/>
          </a:prstGeom>
          <a:ln w="6350">
            <a:solidFill>
              <a:srgbClr val="D4AF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10545775" y="429768"/>
            <a:ext cx="1024128" cy="0"/>
          </a:xfrm>
          <a:prstGeom prst="line">
            <a:avLst/>
          </a:prstGeom>
          <a:ln w="6350">
            <a:solidFill>
              <a:srgbClr val="D4AF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0545775" y="493776"/>
            <a:ext cx="1024128" cy="0"/>
          </a:xfrm>
          <a:prstGeom prst="line">
            <a:avLst/>
          </a:prstGeom>
          <a:ln w="6350">
            <a:solidFill>
              <a:srgbClr val="D4AF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0545775" y="557784"/>
            <a:ext cx="1024128" cy="0"/>
          </a:xfrm>
          <a:prstGeom prst="line">
            <a:avLst/>
          </a:prstGeom>
          <a:ln w="6350">
            <a:solidFill>
              <a:srgbClr val="D4AF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0545775" y="621792"/>
            <a:ext cx="1024128" cy="0"/>
          </a:xfrm>
          <a:prstGeom prst="line">
            <a:avLst/>
          </a:prstGeom>
          <a:ln w="6350">
            <a:solidFill>
              <a:srgbClr val="D4AF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11194999" y="374904"/>
            <a:ext cx="109728" cy="109728"/>
          </a:xfrm>
          <a:prstGeom prst="ellipse">
            <a:avLst/>
          </a:prstGeom>
          <a:solidFill>
            <a:srgbClr val="D4AF37">
              <a:alpha val="3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>
            <a:off x="11299240" y="155448"/>
            <a:ext cx="0" cy="274320"/>
          </a:xfrm>
          <a:prstGeom prst="line">
            <a:avLst/>
          </a:prstGeom>
          <a:ln w="19050">
            <a:solidFill>
              <a:srgbClr val="D4AF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E8C85A"/>
                </a:solidFill>
                <a:latin typeface="Georgia" panose="02040502050405020303"/>
                <a:cs typeface="微软雅黑" panose="020B0503020204020204" charset="-122"/>
              </a:rPr>
              <a:t>CONTENTS</a:t>
            </a:r>
            <a:endParaRPr sz="1100" b="0" i="1">
              <a:solidFill>
                <a:srgbClr val="E8C85A"/>
              </a:solidFill>
              <a:latin typeface="Georgia" panose="02040502050405020303"/>
              <a:cs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40080" y="777240"/>
            <a:ext cx="100584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F5F1E8"/>
                </a:solidFill>
                <a:latin typeface="微软雅黑" panose="020B0503020204020204" charset="-122"/>
                <a:cs typeface="微软雅黑" panose="020B0503020204020204" charset="-122"/>
              </a:rPr>
              <a:t>目  录</a:t>
            </a:r>
            <a:endParaRPr sz="3000" b="1" i="0">
              <a:solidFill>
                <a:srgbClr val="F5F1E8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658368" y="1481328"/>
            <a:ext cx="548640" cy="54864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265615" y="834390"/>
            <a:ext cx="60350" cy="262890"/>
          </a:xfrm>
          <a:prstGeom prst="rect">
            <a:avLst/>
          </a:prstGeom>
          <a:solidFill>
            <a:srgbClr val="D4AF37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366199" y="1023476"/>
            <a:ext cx="60350" cy="73803"/>
          </a:xfrm>
          <a:prstGeom prst="rect">
            <a:avLst/>
          </a:prstGeom>
          <a:solidFill>
            <a:srgbClr val="D4AF37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466783" y="799298"/>
            <a:ext cx="60350" cy="297981"/>
          </a:xfrm>
          <a:prstGeom prst="rect">
            <a:avLst/>
          </a:prstGeom>
          <a:solidFill>
            <a:srgbClr val="D4AF37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567367" y="656494"/>
            <a:ext cx="60350" cy="440785"/>
          </a:xfrm>
          <a:prstGeom prst="rect">
            <a:avLst/>
          </a:prstGeom>
          <a:solidFill>
            <a:srgbClr val="D4AF37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667951" y="903419"/>
            <a:ext cx="60350" cy="193860"/>
          </a:xfrm>
          <a:prstGeom prst="rect">
            <a:avLst/>
          </a:prstGeom>
          <a:solidFill>
            <a:srgbClr val="D4AF37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768535" y="995244"/>
            <a:ext cx="60350" cy="102035"/>
          </a:xfrm>
          <a:prstGeom prst="rect">
            <a:avLst/>
          </a:prstGeom>
          <a:solidFill>
            <a:srgbClr val="D4AF37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869119" y="733693"/>
            <a:ext cx="60350" cy="363586"/>
          </a:xfrm>
          <a:prstGeom prst="rect">
            <a:avLst/>
          </a:prstGeom>
          <a:solidFill>
            <a:srgbClr val="D4AF37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969703" y="695865"/>
            <a:ext cx="60350" cy="401414"/>
          </a:xfrm>
          <a:prstGeom prst="rect">
            <a:avLst/>
          </a:prstGeom>
          <a:solidFill>
            <a:srgbClr val="D4AF37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0070287" y="963443"/>
            <a:ext cx="60350" cy="133836"/>
          </a:xfrm>
          <a:prstGeom prst="rect">
            <a:avLst/>
          </a:prstGeom>
          <a:solidFill>
            <a:srgbClr val="D4AF37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0170871" y="946028"/>
            <a:ext cx="60350" cy="151251"/>
          </a:xfrm>
          <a:prstGeom prst="rect">
            <a:avLst/>
          </a:prstGeom>
          <a:solidFill>
            <a:srgbClr val="D4AF37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0271455" y="681224"/>
            <a:ext cx="60350" cy="416055"/>
          </a:xfrm>
          <a:prstGeom prst="rect">
            <a:avLst/>
          </a:prstGeom>
          <a:solidFill>
            <a:srgbClr val="D4AF37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0372039" y="753309"/>
            <a:ext cx="60350" cy="343970"/>
          </a:xfrm>
          <a:prstGeom prst="rect">
            <a:avLst/>
          </a:prstGeom>
          <a:solidFill>
            <a:srgbClr val="D4AF37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0472623" y="1006630"/>
            <a:ext cx="60350" cy="90649"/>
          </a:xfrm>
          <a:prstGeom prst="rect">
            <a:avLst/>
          </a:prstGeom>
          <a:solidFill>
            <a:srgbClr val="D4AF37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0573207" y="882246"/>
            <a:ext cx="60350" cy="215033"/>
          </a:xfrm>
          <a:prstGeom prst="rect">
            <a:avLst/>
          </a:prstGeom>
          <a:solidFill>
            <a:srgbClr val="D4AF37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0673791" y="648738"/>
            <a:ext cx="60350" cy="448541"/>
          </a:xfrm>
          <a:prstGeom prst="rect">
            <a:avLst/>
          </a:prstGeom>
          <a:solidFill>
            <a:srgbClr val="D4AF37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0774375" y="821330"/>
            <a:ext cx="60350" cy="275949"/>
          </a:xfrm>
          <a:prstGeom prst="rect">
            <a:avLst/>
          </a:prstGeom>
          <a:solidFill>
            <a:srgbClr val="D4AF37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0874959" y="1027347"/>
            <a:ext cx="60350" cy="69932"/>
          </a:xfrm>
          <a:prstGeom prst="rect">
            <a:avLst/>
          </a:prstGeom>
          <a:solidFill>
            <a:srgbClr val="D4AF37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0975543" y="867043"/>
            <a:ext cx="60350" cy="230236"/>
          </a:xfrm>
          <a:prstGeom prst="rect">
            <a:avLst/>
          </a:prstGeom>
          <a:solidFill>
            <a:srgbClr val="D4AF37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1076127" y="640472"/>
            <a:ext cx="60350" cy="456807"/>
          </a:xfrm>
          <a:prstGeom prst="rect">
            <a:avLst/>
          </a:prstGeom>
          <a:solidFill>
            <a:srgbClr val="D4AF37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1176711" y="836865"/>
            <a:ext cx="60350" cy="260414"/>
          </a:xfrm>
          <a:prstGeom prst="rect">
            <a:avLst/>
          </a:prstGeom>
          <a:solidFill>
            <a:srgbClr val="D4AF37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9A9AA8"/>
                </a:solidFill>
                <a:latin typeface="微软雅黑" panose="020B0503020204020204" charset="-122"/>
                <a:cs typeface="微软雅黑" panose="020B0503020204020204" charset="-122"/>
              </a:rPr>
              <a:t>刘肯  ·  北京幻道科技</a:t>
            </a:r>
            <a:endParaRPr sz="900" b="0" i="0">
              <a:solidFill>
                <a:srgbClr val="9A9AA8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9905695" y="6446520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9A9AA8"/>
                </a:solidFill>
                <a:latin typeface="Georgia" panose="02040502050405020303"/>
                <a:cs typeface="微软雅黑" panose="020B0503020204020204" charset="-122"/>
              </a:rPr>
              <a:t>02 / 12</a:t>
            </a:r>
            <a:endParaRPr sz="900" b="0" i="0">
              <a:solidFill>
                <a:srgbClr val="9A9AA8"/>
              </a:solidFill>
              <a:latin typeface="Georgia" panose="02040502050405020303"/>
              <a:cs typeface="微软雅黑" panose="020B0503020204020204" charset="-122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822960" y="1417320"/>
            <a:ext cx="9144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D4AF37"/>
                </a:solidFill>
                <a:latin typeface="Georgia" panose="02040502050405020303"/>
                <a:cs typeface="微软雅黑" panose="020B0503020204020204" charset="-122"/>
              </a:rPr>
              <a:t>01</a:t>
            </a:r>
            <a:endParaRPr sz="2800" b="1" i="0">
              <a:solidFill>
                <a:srgbClr val="D4AF37"/>
              </a:solidFill>
              <a:latin typeface="Georgia" panose="02040502050405020303"/>
              <a:cs typeface="微软雅黑" panose="020B0503020204020204" charset="-122"/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1874519" y="1463040"/>
            <a:ext cx="18288" cy="502920"/>
          </a:xfrm>
          <a:prstGeom prst="rect">
            <a:avLst/>
          </a:prstGeom>
          <a:solidFill>
            <a:srgbClr val="2A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148840" y="1417320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F5F1E8"/>
                </a:solidFill>
                <a:latin typeface="微软雅黑" panose="020B0503020204020204" charset="-122"/>
                <a:cs typeface="微软雅黑" panose="020B0503020204020204" charset="-122"/>
              </a:rPr>
              <a:t>企业当下面临的痛点</a:t>
            </a:r>
            <a:endParaRPr sz="1600" b="1" i="0">
              <a:solidFill>
                <a:srgbClr val="F5F1E8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2148840" y="175564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9A9AA8"/>
                </a:solidFill>
                <a:latin typeface="微软雅黑" panose="020B0503020204020204" charset="-122"/>
                <a:cs typeface="微软雅黑" panose="020B0503020204020204" charset="-122"/>
              </a:rPr>
              <a:t>增长见顶 · 成本承压 · 决策低效</a:t>
            </a:r>
            <a:endParaRPr sz="1000" b="0" i="0">
              <a:solidFill>
                <a:srgbClr val="9A9AA8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8" name="Rectangle 37"/>
          <p:cNvSpPr/>
          <p:nvPr/>
        </p:nvSpPr>
        <p:spPr>
          <a:xfrm>
            <a:off x="9631375" y="1703070"/>
            <a:ext cx="61722" cy="262890"/>
          </a:xfrm>
          <a:prstGeom prst="rect">
            <a:avLst/>
          </a:prstGeom>
          <a:solidFill>
            <a:srgbClr val="D4AF37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734245" y="1892156"/>
            <a:ext cx="61722" cy="73803"/>
          </a:xfrm>
          <a:prstGeom prst="rect">
            <a:avLst/>
          </a:prstGeom>
          <a:solidFill>
            <a:srgbClr val="D4AF37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9837115" y="1667978"/>
            <a:ext cx="61722" cy="297981"/>
          </a:xfrm>
          <a:prstGeom prst="rect">
            <a:avLst/>
          </a:prstGeom>
          <a:solidFill>
            <a:srgbClr val="D4AF37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9939985" y="1525174"/>
            <a:ext cx="61722" cy="440785"/>
          </a:xfrm>
          <a:prstGeom prst="rect">
            <a:avLst/>
          </a:prstGeom>
          <a:solidFill>
            <a:srgbClr val="D4AF37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10042855" y="1772099"/>
            <a:ext cx="61722" cy="193860"/>
          </a:xfrm>
          <a:prstGeom prst="rect">
            <a:avLst/>
          </a:prstGeom>
          <a:solidFill>
            <a:srgbClr val="D4AF37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0145725" y="1863924"/>
            <a:ext cx="61722" cy="102035"/>
          </a:xfrm>
          <a:prstGeom prst="rect">
            <a:avLst/>
          </a:prstGeom>
          <a:solidFill>
            <a:srgbClr val="D4AF37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10248595" y="1602373"/>
            <a:ext cx="61722" cy="363586"/>
          </a:xfrm>
          <a:prstGeom prst="rect">
            <a:avLst/>
          </a:prstGeom>
          <a:solidFill>
            <a:srgbClr val="D4AF37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10351465" y="1564545"/>
            <a:ext cx="61722" cy="401414"/>
          </a:xfrm>
          <a:prstGeom prst="rect">
            <a:avLst/>
          </a:prstGeom>
          <a:solidFill>
            <a:srgbClr val="D4AF37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10454335" y="1832123"/>
            <a:ext cx="61722" cy="133836"/>
          </a:xfrm>
          <a:prstGeom prst="rect">
            <a:avLst/>
          </a:prstGeom>
          <a:solidFill>
            <a:srgbClr val="D4AF37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10557205" y="1814708"/>
            <a:ext cx="61722" cy="151251"/>
          </a:xfrm>
          <a:prstGeom prst="rect">
            <a:avLst/>
          </a:prstGeom>
          <a:solidFill>
            <a:srgbClr val="D4AF37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10660075" y="1549904"/>
            <a:ext cx="61722" cy="416055"/>
          </a:xfrm>
          <a:prstGeom prst="rect">
            <a:avLst/>
          </a:prstGeom>
          <a:solidFill>
            <a:srgbClr val="D4AF37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10762945" y="1621989"/>
            <a:ext cx="61722" cy="343970"/>
          </a:xfrm>
          <a:prstGeom prst="rect">
            <a:avLst/>
          </a:prstGeom>
          <a:solidFill>
            <a:srgbClr val="D4AF37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10865815" y="1875310"/>
            <a:ext cx="61722" cy="90649"/>
          </a:xfrm>
          <a:prstGeom prst="rect">
            <a:avLst/>
          </a:prstGeom>
          <a:solidFill>
            <a:srgbClr val="D4AF37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10968685" y="1750926"/>
            <a:ext cx="61722" cy="215033"/>
          </a:xfrm>
          <a:prstGeom prst="rect">
            <a:avLst/>
          </a:prstGeom>
          <a:solidFill>
            <a:srgbClr val="D4AF37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11071555" y="1517418"/>
            <a:ext cx="61722" cy="448541"/>
          </a:xfrm>
          <a:prstGeom prst="rect">
            <a:avLst/>
          </a:prstGeom>
          <a:solidFill>
            <a:srgbClr val="D4AF37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11174425" y="1690010"/>
            <a:ext cx="61722" cy="275949"/>
          </a:xfrm>
          <a:prstGeom prst="rect">
            <a:avLst/>
          </a:prstGeom>
          <a:solidFill>
            <a:srgbClr val="D4AF37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22960" y="2075688"/>
            <a:ext cx="9144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D4AF37"/>
                </a:solidFill>
                <a:latin typeface="Georgia" panose="02040502050405020303"/>
                <a:cs typeface="微软雅黑" panose="020B0503020204020204" charset="-122"/>
              </a:rPr>
              <a:t>02</a:t>
            </a:r>
            <a:endParaRPr sz="2800" b="1" i="0">
              <a:solidFill>
                <a:srgbClr val="D4AF37"/>
              </a:solidFill>
              <a:latin typeface="Georgia" panose="02040502050405020303"/>
              <a:cs typeface="微软雅黑" panose="020B0503020204020204" charset="-122"/>
            </a:endParaRPr>
          </a:p>
        </p:txBody>
      </p:sp>
      <p:sp>
        <p:nvSpPr>
          <p:cNvPr id="55" name="Rectangle 54"/>
          <p:cNvSpPr/>
          <p:nvPr/>
        </p:nvSpPr>
        <p:spPr>
          <a:xfrm>
            <a:off x="1874519" y="2121408"/>
            <a:ext cx="18288" cy="502920"/>
          </a:xfrm>
          <a:prstGeom prst="rect">
            <a:avLst/>
          </a:prstGeom>
          <a:solidFill>
            <a:srgbClr val="2A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2148840" y="2075688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F5F1E8"/>
                </a:solidFill>
                <a:latin typeface="微软雅黑" panose="020B0503020204020204" charset="-122"/>
                <a:cs typeface="微软雅黑" panose="020B0503020204020204" charset="-122"/>
              </a:rPr>
              <a:t>AI 的核心能力图谱</a:t>
            </a:r>
            <a:endParaRPr sz="1600" b="1" i="0">
              <a:solidFill>
                <a:srgbClr val="F5F1E8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2148840" y="2414016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9A9AA8"/>
                </a:solidFill>
                <a:latin typeface="微软雅黑" panose="020B0503020204020204" charset="-122"/>
                <a:cs typeface="微软雅黑" panose="020B0503020204020204" charset="-122"/>
              </a:rPr>
              <a:t>从感知到生成，从分析到决策</a:t>
            </a:r>
            <a:endParaRPr sz="1000" b="0" i="0">
              <a:solidFill>
                <a:srgbClr val="9A9AA8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8" name="Rectangle 57"/>
          <p:cNvSpPr/>
          <p:nvPr/>
        </p:nvSpPr>
        <p:spPr>
          <a:xfrm>
            <a:off x="9631375" y="2361438"/>
            <a:ext cx="61722" cy="262890"/>
          </a:xfrm>
          <a:prstGeom prst="rect">
            <a:avLst/>
          </a:prstGeom>
          <a:solidFill>
            <a:srgbClr val="D4AF37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9734245" y="2550524"/>
            <a:ext cx="61722" cy="73803"/>
          </a:xfrm>
          <a:prstGeom prst="rect">
            <a:avLst/>
          </a:prstGeom>
          <a:solidFill>
            <a:srgbClr val="D4AF37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9837115" y="2326346"/>
            <a:ext cx="61722" cy="297981"/>
          </a:xfrm>
          <a:prstGeom prst="rect">
            <a:avLst/>
          </a:prstGeom>
          <a:solidFill>
            <a:srgbClr val="D4AF37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9939985" y="2183542"/>
            <a:ext cx="61722" cy="440785"/>
          </a:xfrm>
          <a:prstGeom prst="rect">
            <a:avLst/>
          </a:prstGeom>
          <a:solidFill>
            <a:srgbClr val="D4AF37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10042855" y="2430467"/>
            <a:ext cx="61722" cy="193860"/>
          </a:xfrm>
          <a:prstGeom prst="rect">
            <a:avLst/>
          </a:prstGeom>
          <a:solidFill>
            <a:srgbClr val="D4AF37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10145725" y="2522292"/>
            <a:ext cx="61722" cy="102035"/>
          </a:xfrm>
          <a:prstGeom prst="rect">
            <a:avLst/>
          </a:prstGeom>
          <a:solidFill>
            <a:srgbClr val="D4AF37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10248595" y="2260741"/>
            <a:ext cx="61722" cy="363586"/>
          </a:xfrm>
          <a:prstGeom prst="rect">
            <a:avLst/>
          </a:prstGeom>
          <a:solidFill>
            <a:srgbClr val="D4AF37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10351465" y="2222913"/>
            <a:ext cx="61722" cy="401414"/>
          </a:xfrm>
          <a:prstGeom prst="rect">
            <a:avLst/>
          </a:prstGeom>
          <a:solidFill>
            <a:srgbClr val="D4AF37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10454335" y="2490491"/>
            <a:ext cx="61722" cy="133836"/>
          </a:xfrm>
          <a:prstGeom prst="rect">
            <a:avLst/>
          </a:prstGeom>
          <a:solidFill>
            <a:srgbClr val="D4AF37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10557205" y="2473076"/>
            <a:ext cx="61722" cy="151251"/>
          </a:xfrm>
          <a:prstGeom prst="rect">
            <a:avLst/>
          </a:prstGeom>
          <a:solidFill>
            <a:srgbClr val="D4AF37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10660075" y="2208272"/>
            <a:ext cx="61722" cy="416055"/>
          </a:xfrm>
          <a:prstGeom prst="rect">
            <a:avLst/>
          </a:prstGeom>
          <a:solidFill>
            <a:srgbClr val="D4AF37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10762945" y="2280357"/>
            <a:ext cx="61722" cy="343970"/>
          </a:xfrm>
          <a:prstGeom prst="rect">
            <a:avLst/>
          </a:prstGeom>
          <a:solidFill>
            <a:srgbClr val="D4AF37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10865815" y="2533678"/>
            <a:ext cx="61722" cy="90649"/>
          </a:xfrm>
          <a:prstGeom prst="rect">
            <a:avLst/>
          </a:prstGeom>
          <a:solidFill>
            <a:srgbClr val="D4AF37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10968685" y="2409294"/>
            <a:ext cx="61722" cy="215033"/>
          </a:xfrm>
          <a:prstGeom prst="rect">
            <a:avLst/>
          </a:prstGeom>
          <a:solidFill>
            <a:srgbClr val="D4AF37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11071555" y="2175786"/>
            <a:ext cx="61722" cy="448541"/>
          </a:xfrm>
          <a:prstGeom prst="rect">
            <a:avLst/>
          </a:prstGeom>
          <a:solidFill>
            <a:srgbClr val="D4AF37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11174425" y="2348378"/>
            <a:ext cx="61722" cy="275949"/>
          </a:xfrm>
          <a:prstGeom prst="rect">
            <a:avLst/>
          </a:prstGeom>
          <a:solidFill>
            <a:srgbClr val="D4AF37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822960" y="2734056"/>
            <a:ext cx="9144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D4AF37"/>
                </a:solidFill>
                <a:latin typeface="Georgia" panose="02040502050405020303"/>
                <a:cs typeface="微软雅黑" panose="020B0503020204020204" charset="-122"/>
              </a:rPr>
              <a:t>03</a:t>
            </a:r>
            <a:endParaRPr sz="2800" b="1" i="0">
              <a:solidFill>
                <a:srgbClr val="D4AF37"/>
              </a:solidFill>
              <a:latin typeface="Georgia" panose="02040502050405020303"/>
              <a:cs typeface="微软雅黑" panose="020B0503020204020204" charset="-122"/>
            </a:endParaRPr>
          </a:p>
        </p:txBody>
      </p:sp>
      <p:sp>
        <p:nvSpPr>
          <p:cNvPr id="75" name="Rectangle 74"/>
          <p:cNvSpPr/>
          <p:nvPr/>
        </p:nvSpPr>
        <p:spPr>
          <a:xfrm>
            <a:off x="1874519" y="2779776"/>
            <a:ext cx="18288" cy="502920"/>
          </a:xfrm>
          <a:prstGeom prst="rect">
            <a:avLst/>
          </a:prstGeom>
          <a:solidFill>
            <a:srgbClr val="2A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2148840" y="2734056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F5F1E8"/>
                </a:solidFill>
                <a:latin typeface="微软雅黑" panose="020B0503020204020204" charset="-122"/>
                <a:cs typeface="微软雅黑" panose="020B0503020204020204" charset="-122"/>
              </a:rPr>
              <a:t>AI 企业应用全景：按价值链</a:t>
            </a:r>
            <a:endParaRPr sz="1600" b="1" i="0">
              <a:solidFill>
                <a:srgbClr val="F5F1E8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7" name="TextBox 76"/>
          <p:cNvSpPr txBox="1"/>
          <p:nvPr/>
        </p:nvSpPr>
        <p:spPr>
          <a:xfrm>
            <a:off x="2148840" y="3072384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9A9AA8"/>
                </a:solidFill>
                <a:latin typeface="微软雅黑" panose="020B0503020204020204" charset="-122"/>
                <a:cs typeface="微软雅黑" panose="020B0503020204020204" charset="-122"/>
              </a:rPr>
              <a:t>覆盖市场、产品、运营、管理、研发</a:t>
            </a:r>
            <a:endParaRPr sz="1000" b="0" i="0">
              <a:solidFill>
                <a:srgbClr val="9A9AA8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8" name="Rectangle 77"/>
          <p:cNvSpPr/>
          <p:nvPr/>
        </p:nvSpPr>
        <p:spPr>
          <a:xfrm>
            <a:off x="9631375" y="3019806"/>
            <a:ext cx="61722" cy="262890"/>
          </a:xfrm>
          <a:prstGeom prst="rect">
            <a:avLst/>
          </a:prstGeom>
          <a:solidFill>
            <a:srgbClr val="D4AF37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9734245" y="3208892"/>
            <a:ext cx="61722" cy="73803"/>
          </a:xfrm>
          <a:prstGeom prst="rect">
            <a:avLst/>
          </a:prstGeom>
          <a:solidFill>
            <a:srgbClr val="D4AF37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9837115" y="2984714"/>
            <a:ext cx="61722" cy="297981"/>
          </a:xfrm>
          <a:prstGeom prst="rect">
            <a:avLst/>
          </a:prstGeom>
          <a:solidFill>
            <a:srgbClr val="D4AF37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9939985" y="2841910"/>
            <a:ext cx="61722" cy="440785"/>
          </a:xfrm>
          <a:prstGeom prst="rect">
            <a:avLst/>
          </a:prstGeom>
          <a:solidFill>
            <a:srgbClr val="D4AF37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10042855" y="3088835"/>
            <a:ext cx="61722" cy="193860"/>
          </a:xfrm>
          <a:prstGeom prst="rect">
            <a:avLst/>
          </a:prstGeom>
          <a:solidFill>
            <a:srgbClr val="D4AF37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10145725" y="3180660"/>
            <a:ext cx="61722" cy="102035"/>
          </a:xfrm>
          <a:prstGeom prst="rect">
            <a:avLst/>
          </a:prstGeom>
          <a:solidFill>
            <a:srgbClr val="D4AF37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10248595" y="2919109"/>
            <a:ext cx="61722" cy="363586"/>
          </a:xfrm>
          <a:prstGeom prst="rect">
            <a:avLst/>
          </a:prstGeom>
          <a:solidFill>
            <a:srgbClr val="D4AF37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10351465" y="2881281"/>
            <a:ext cx="61722" cy="401414"/>
          </a:xfrm>
          <a:prstGeom prst="rect">
            <a:avLst/>
          </a:prstGeom>
          <a:solidFill>
            <a:srgbClr val="D4AF37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10454335" y="3148859"/>
            <a:ext cx="61722" cy="133836"/>
          </a:xfrm>
          <a:prstGeom prst="rect">
            <a:avLst/>
          </a:prstGeom>
          <a:solidFill>
            <a:srgbClr val="D4AF37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10557205" y="3131444"/>
            <a:ext cx="61722" cy="151251"/>
          </a:xfrm>
          <a:prstGeom prst="rect">
            <a:avLst/>
          </a:prstGeom>
          <a:solidFill>
            <a:srgbClr val="D4AF37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10660075" y="2866640"/>
            <a:ext cx="61722" cy="416055"/>
          </a:xfrm>
          <a:prstGeom prst="rect">
            <a:avLst/>
          </a:prstGeom>
          <a:solidFill>
            <a:srgbClr val="D4AF37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10762945" y="2938725"/>
            <a:ext cx="61722" cy="343970"/>
          </a:xfrm>
          <a:prstGeom prst="rect">
            <a:avLst/>
          </a:prstGeom>
          <a:solidFill>
            <a:srgbClr val="D4AF37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10865815" y="3192046"/>
            <a:ext cx="61722" cy="90649"/>
          </a:xfrm>
          <a:prstGeom prst="rect">
            <a:avLst/>
          </a:prstGeom>
          <a:solidFill>
            <a:srgbClr val="D4AF37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10968685" y="3067662"/>
            <a:ext cx="61722" cy="215033"/>
          </a:xfrm>
          <a:prstGeom prst="rect">
            <a:avLst/>
          </a:prstGeom>
          <a:solidFill>
            <a:srgbClr val="D4AF37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11071555" y="2834154"/>
            <a:ext cx="61722" cy="448541"/>
          </a:xfrm>
          <a:prstGeom prst="rect">
            <a:avLst/>
          </a:prstGeom>
          <a:solidFill>
            <a:srgbClr val="D4AF37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11174425" y="3006746"/>
            <a:ext cx="61722" cy="275949"/>
          </a:xfrm>
          <a:prstGeom prst="rect">
            <a:avLst/>
          </a:prstGeom>
          <a:solidFill>
            <a:srgbClr val="D4AF37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822960" y="3392424"/>
            <a:ext cx="9144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D4AF37"/>
                </a:solidFill>
                <a:latin typeface="Georgia" panose="02040502050405020303"/>
                <a:cs typeface="微软雅黑" panose="020B0503020204020204" charset="-122"/>
              </a:rPr>
              <a:t>04</a:t>
            </a:r>
            <a:endParaRPr sz="2800" b="1" i="0">
              <a:solidFill>
                <a:srgbClr val="D4AF37"/>
              </a:solidFill>
              <a:latin typeface="Georgia" panose="02040502050405020303"/>
              <a:cs typeface="微软雅黑" panose="020B0503020204020204" charset="-122"/>
            </a:endParaRPr>
          </a:p>
        </p:txBody>
      </p:sp>
      <p:sp>
        <p:nvSpPr>
          <p:cNvPr id="95" name="Rectangle 94"/>
          <p:cNvSpPr/>
          <p:nvPr/>
        </p:nvSpPr>
        <p:spPr>
          <a:xfrm>
            <a:off x="1874519" y="3438144"/>
            <a:ext cx="18288" cy="502920"/>
          </a:xfrm>
          <a:prstGeom prst="rect">
            <a:avLst/>
          </a:prstGeom>
          <a:solidFill>
            <a:srgbClr val="2A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2148840" y="3392424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F5F1E8"/>
                </a:solidFill>
                <a:latin typeface="微软雅黑" panose="020B0503020204020204" charset="-122"/>
                <a:cs typeface="微软雅黑" panose="020B0503020204020204" charset="-122"/>
              </a:rPr>
              <a:t>AI 企业应用全景：按工作性质</a:t>
            </a:r>
            <a:endParaRPr sz="1600" b="1" i="0">
              <a:solidFill>
                <a:srgbClr val="F5F1E8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7" name="TextBox 96"/>
          <p:cNvSpPr txBox="1"/>
          <p:nvPr/>
        </p:nvSpPr>
        <p:spPr>
          <a:xfrm>
            <a:off x="2148840" y="3730752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9A9AA8"/>
                </a:solidFill>
                <a:latin typeface="微软雅黑" panose="020B0503020204020204" charset="-122"/>
                <a:cs typeface="微软雅黑" panose="020B0503020204020204" charset="-122"/>
              </a:rPr>
              <a:t>覆盖事务、知识、决策、创造、交互</a:t>
            </a:r>
            <a:endParaRPr sz="1000" b="0" i="0">
              <a:solidFill>
                <a:srgbClr val="9A9AA8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8" name="Rectangle 97"/>
          <p:cNvSpPr/>
          <p:nvPr/>
        </p:nvSpPr>
        <p:spPr>
          <a:xfrm>
            <a:off x="9631375" y="3678174"/>
            <a:ext cx="61722" cy="262890"/>
          </a:xfrm>
          <a:prstGeom prst="rect">
            <a:avLst/>
          </a:prstGeom>
          <a:solidFill>
            <a:srgbClr val="D4AF37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9734245" y="3867260"/>
            <a:ext cx="61722" cy="73803"/>
          </a:xfrm>
          <a:prstGeom prst="rect">
            <a:avLst/>
          </a:prstGeom>
          <a:solidFill>
            <a:srgbClr val="D4AF37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9837115" y="3643082"/>
            <a:ext cx="61722" cy="297981"/>
          </a:xfrm>
          <a:prstGeom prst="rect">
            <a:avLst/>
          </a:prstGeom>
          <a:solidFill>
            <a:srgbClr val="D4AF37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9939985" y="3500278"/>
            <a:ext cx="61722" cy="440785"/>
          </a:xfrm>
          <a:prstGeom prst="rect">
            <a:avLst/>
          </a:prstGeom>
          <a:solidFill>
            <a:srgbClr val="D4AF37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10042855" y="3747203"/>
            <a:ext cx="61722" cy="193860"/>
          </a:xfrm>
          <a:prstGeom prst="rect">
            <a:avLst/>
          </a:prstGeom>
          <a:solidFill>
            <a:srgbClr val="D4AF37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10145725" y="3839028"/>
            <a:ext cx="61722" cy="102035"/>
          </a:xfrm>
          <a:prstGeom prst="rect">
            <a:avLst/>
          </a:prstGeom>
          <a:solidFill>
            <a:srgbClr val="D4AF37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10248595" y="3577477"/>
            <a:ext cx="61722" cy="363586"/>
          </a:xfrm>
          <a:prstGeom prst="rect">
            <a:avLst/>
          </a:prstGeom>
          <a:solidFill>
            <a:srgbClr val="D4AF37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10351465" y="3539649"/>
            <a:ext cx="61722" cy="401414"/>
          </a:xfrm>
          <a:prstGeom prst="rect">
            <a:avLst/>
          </a:prstGeom>
          <a:solidFill>
            <a:srgbClr val="D4AF37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10454335" y="3807227"/>
            <a:ext cx="61722" cy="133836"/>
          </a:xfrm>
          <a:prstGeom prst="rect">
            <a:avLst/>
          </a:prstGeom>
          <a:solidFill>
            <a:srgbClr val="D4AF37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10557205" y="3789812"/>
            <a:ext cx="61722" cy="151251"/>
          </a:xfrm>
          <a:prstGeom prst="rect">
            <a:avLst/>
          </a:prstGeom>
          <a:solidFill>
            <a:srgbClr val="D4AF37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10660075" y="3525008"/>
            <a:ext cx="61722" cy="416055"/>
          </a:xfrm>
          <a:prstGeom prst="rect">
            <a:avLst/>
          </a:prstGeom>
          <a:solidFill>
            <a:srgbClr val="D4AF37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10762945" y="3597093"/>
            <a:ext cx="61722" cy="343970"/>
          </a:xfrm>
          <a:prstGeom prst="rect">
            <a:avLst/>
          </a:prstGeom>
          <a:solidFill>
            <a:srgbClr val="D4AF37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10865815" y="3850414"/>
            <a:ext cx="61722" cy="90649"/>
          </a:xfrm>
          <a:prstGeom prst="rect">
            <a:avLst/>
          </a:prstGeom>
          <a:solidFill>
            <a:srgbClr val="D4AF37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10968685" y="3726030"/>
            <a:ext cx="61722" cy="215033"/>
          </a:xfrm>
          <a:prstGeom prst="rect">
            <a:avLst/>
          </a:prstGeom>
          <a:solidFill>
            <a:srgbClr val="D4AF37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11071555" y="3492522"/>
            <a:ext cx="61722" cy="448541"/>
          </a:xfrm>
          <a:prstGeom prst="rect">
            <a:avLst/>
          </a:prstGeom>
          <a:solidFill>
            <a:srgbClr val="D4AF37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11174425" y="3665114"/>
            <a:ext cx="61722" cy="275949"/>
          </a:xfrm>
          <a:prstGeom prst="rect">
            <a:avLst/>
          </a:prstGeom>
          <a:solidFill>
            <a:srgbClr val="D4AF37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822960" y="4050792"/>
            <a:ext cx="9144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D4AF37"/>
                </a:solidFill>
                <a:latin typeface="Georgia" panose="02040502050405020303"/>
                <a:cs typeface="微软雅黑" panose="020B0503020204020204" charset="-122"/>
              </a:rPr>
              <a:t>05</a:t>
            </a:r>
            <a:endParaRPr sz="2800" b="1" i="0">
              <a:solidFill>
                <a:srgbClr val="D4AF37"/>
              </a:solidFill>
              <a:latin typeface="Georgia" panose="02040502050405020303"/>
              <a:cs typeface="微软雅黑" panose="020B0503020204020204" charset="-122"/>
            </a:endParaRPr>
          </a:p>
        </p:txBody>
      </p:sp>
      <p:sp>
        <p:nvSpPr>
          <p:cNvPr id="115" name="Rectangle 114"/>
          <p:cNvSpPr/>
          <p:nvPr/>
        </p:nvSpPr>
        <p:spPr>
          <a:xfrm>
            <a:off x="1874519" y="4096512"/>
            <a:ext cx="18288" cy="502920"/>
          </a:xfrm>
          <a:prstGeom prst="rect">
            <a:avLst/>
          </a:prstGeom>
          <a:solidFill>
            <a:srgbClr val="2A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2148840" y="4050792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F5F1E8"/>
                </a:solidFill>
                <a:latin typeface="微软雅黑" panose="020B0503020204020204" charset="-122"/>
                <a:cs typeface="微软雅黑" panose="020B0503020204020204" charset="-122"/>
              </a:rPr>
              <a:t>新范式：FDE 工作流程</a:t>
            </a:r>
            <a:endParaRPr sz="1600" b="1" i="0">
              <a:solidFill>
                <a:srgbClr val="F5F1E8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7" name="TextBox 116"/>
          <p:cNvSpPr txBox="1"/>
          <p:nvPr/>
        </p:nvSpPr>
        <p:spPr>
          <a:xfrm>
            <a:off x="2148840" y="438912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9A9AA8"/>
                </a:solidFill>
                <a:latin typeface="微软雅黑" panose="020B0503020204020204" charset="-122"/>
                <a:cs typeface="微软雅黑" panose="020B0503020204020204" charset="-122"/>
              </a:rPr>
              <a:t>Forward Deployed Engineer</a:t>
            </a:r>
            <a:endParaRPr sz="1000" b="0" i="0">
              <a:solidFill>
                <a:srgbClr val="9A9AA8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8" name="Rectangle 117"/>
          <p:cNvSpPr/>
          <p:nvPr/>
        </p:nvSpPr>
        <p:spPr>
          <a:xfrm>
            <a:off x="9631375" y="4336542"/>
            <a:ext cx="61722" cy="262890"/>
          </a:xfrm>
          <a:prstGeom prst="rect">
            <a:avLst/>
          </a:prstGeom>
          <a:solidFill>
            <a:srgbClr val="D4AF37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9734245" y="4525628"/>
            <a:ext cx="61722" cy="73803"/>
          </a:xfrm>
          <a:prstGeom prst="rect">
            <a:avLst/>
          </a:prstGeom>
          <a:solidFill>
            <a:srgbClr val="D4AF37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9837115" y="4301450"/>
            <a:ext cx="61722" cy="297981"/>
          </a:xfrm>
          <a:prstGeom prst="rect">
            <a:avLst/>
          </a:prstGeom>
          <a:solidFill>
            <a:srgbClr val="D4AF37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Rectangle 120"/>
          <p:cNvSpPr/>
          <p:nvPr/>
        </p:nvSpPr>
        <p:spPr>
          <a:xfrm>
            <a:off x="9939985" y="4158646"/>
            <a:ext cx="61722" cy="440785"/>
          </a:xfrm>
          <a:prstGeom prst="rect">
            <a:avLst/>
          </a:prstGeom>
          <a:solidFill>
            <a:srgbClr val="D4AF37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Rectangle 121"/>
          <p:cNvSpPr/>
          <p:nvPr/>
        </p:nvSpPr>
        <p:spPr>
          <a:xfrm>
            <a:off x="10042855" y="4405571"/>
            <a:ext cx="61722" cy="193860"/>
          </a:xfrm>
          <a:prstGeom prst="rect">
            <a:avLst/>
          </a:prstGeom>
          <a:solidFill>
            <a:srgbClr val="D4AF37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ectangle 122"/>
          <p:cNvSpPr/>
          <p:nvPr/>
        </p:nvSpPr>
        <p:spPr>
          <a:xfrm>
            <a:off x="10145725" y="4497396"/>
            <a:ext cx="61722" cy="102035"/>
          </a:xfrm>
          <a:prstGeom prst="rect">
            <a:avLst/>
          </a:prstGeom>
          <a:solidFill>
            <a:srgbClr val="D4AF37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Rectangle 123"/>
          <p:cNvSpPr/>
          <p:nvPr/>
        </p:nvSpPr>
        <p:spPr>
          <a:xfrm>
            <a:off x="10248595" y="4235845"/>
            <a:ext cx="61722" cy="363586"/>
          </a:xfrm>
          <a:prstGeom prst="rect">
            <a:avLst/>
          </a:prstGeom>
          <a:solidFill>
            <a:srgbClr val="D4AF37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Rectangle 124"/>
          <p:cNvSpPr/>
          <p:nvPr/>
        </p:nvSpPr>
        <p:spPr>
          <a:xfrm>
            <a:off x="10351465" y="4198017"/>
            <a:ext cx="61722" cy="401414"/>
          </a:xfrm>
          <a:prstGeom prst="rect">
            <a:avLst/>
          </a:prstGeom>
          <a:solidFill>
            <a:srgbClr val="D4AF37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Rectangle 125"/>
          <p:cNvSpPr/>
          <p:nvPr/>
        </p:nvSpPr>
        <p:spPr>
          <a:xfrm>
            <a:off x="10454335" y="4465595"/>
            <a:ext cx="61722" cy="133836"/>
          </a:xfrm>
          <a:prstGeom prst="rect">
            <a:avLst/>
          </a:prstGeom>
          <a:solidFill>
            <a:srgbClr val="D4AF37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Rectangle 126"/>
          <p:cNvSpPr/>
          <p:nvPr/>
        </p:nvSpPr>
        <p:spPr>
          <a:xfrm>
            <a:off x="10557205" y="4448180"/>
            <a:ext cx="61722" cy="151251"/>
          </a:xfrm>
          <a:prstGeom prst="rect">
            <a:avLst/>
          </a:prstGeom>
          <a:solidFill>
            <a:srgbClr val="D4AF37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ectangle 127"/>
          <p:cNvSpPr/>
          <p:nvPr/>
        </p:nvSpPr>
        <p:spPr>
          <a:xfrm>
            <a:off x="10660075" y="4183376"/>
            <a:ext cx="61722" cy="416055"/>
          </a:xfrm>
          <a:prstGeom prst="rect">
            <a:avLst/>
          </a:prstGeom>
          <a:solidFill>
            <a:srgbClr val="D4AF37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Rectangle 128"/>
          <p:cNvSpPr/>
          <p:nvPr/>
        </p:nvSpPr>
        <p:spPr>
          <a:xfrm>
            <a:off x="10762945" y="4255461"/>
            <a:ext cx="61722" cy="343970"/>
          </a:xfrm>
          <a:prstGeom prst="rect">
            <a:avLst/>
          </a:prstGeom>
          <a:solidFill>
            <a:srgbClr val="D4AF37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Rectangle 129"/>
          <p:cNvSpPr/>
          <p:nvPr/>
        </p:nvSpPr>
        <p:spPr>
          <a:xfrm>
            <a:off x="10865815" y="4508782"/>
            <a:ext cx="61722" cy="90649"/>
          </a:xfrm>
          <a:prstGeom prst="rect">
            <a:avLst/>
          </a:prstGeom>
          <a:solidFill>
            <a:srgbClr val="D4AF37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Rectangle 130"/>
          <p:cNvSpPr/>
          <p:nvPr/>
        </p:nvSpPr>
        <p:spPr>
          <a:xfrm>
            <a:off x="10968685" y="4384398"/>
            <a:ext cx="61722" cy="215033"/>
          </a:xfrm>
          <a:prstGeom prst="rect">
            <a:avLst/>
          </a:prstGeom>
          <a:solidFill>
            <a:srgbClr val="D4AF37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Rectangle 131"/>
          <p:cNvSpPr/>
          <p:nvPr/>
        </p:nvSpPr>
        <p:spPr>
          <a:xfrm>
            <a:off x="11071555" y="4150890"/>
            <a:ext cx="61722" cy="448541"/>
          </a:xfrm>
          <a:prstGeom prst="rect">
            <a:avLst/>
          </a:prstGeom>
          <a:solidFill>
            <a:srgbClr val="D4AF37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Rectangle 132"/>
          <p:cNvSpPr/>
          <p:nvPr/>
        </p:nvSpPr>
        <p:spPr>
          <a:xfrm>
            <a:off x="11174425" y="4323482"/>
            <a:ext cx="61722" cy="275949"/>
          </a:xfrm>
          <a:prstGeom prst="rect">
            <a:avLst/>
          </a:prstGeom>
          <a:solidFill>
            <a:srgbClr val="D4AF37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822960" y="4709159"/>
            <a:ext cx="9144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D4AF37"/>
                </a:solidFill>
                <a:latin typeface="Georgia" panose="02040502050405020303"/>
                <a:cs typeface="微软雅黑" panose="020B0503020204020204" charset="-122"/>
              </a:rPr>
              <a:t>06</a:t>
            </a:r>
            <a:endParaRPr sz="2800" b="1" i="0">
              <a:solidFill>
                <a:srgbClr val="D4AF37"/>
              </a:solidFill>
              <a:latin typeface="Georgia" panose="02040502050405020303"/>
              <a:cs typeface="微软雅黑" panose="020B0503020204020204" charset="-122"/>
            </a:endParaRPr>
          </a:p>
        </p:txBody>
      </p:sp>
      <p:sp>
        <p:nvSpPr>
          <p:cNvPr id="135" name="Rectangle 134"/>
          <p:cNvSpPr/>
          <p:nvPr/>
        </p:nvSpPr>
        <p:spPr>
          <a:xfrm>
            <a:off x="1874519" y="4754879"/>
            <a:ext cx="18288" cy="502920"/>
          </a:xfrm>
          <a:prstGeom prst="rect">
            <a:avLst/>
          </a:prstGeom>
          <a:solidFill>
            <a:srgbClr val="2A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TextBox 135"/>
          <p:cNvSpPr txBox="1"/>
          <p:nvPr/>
        </p:nvSpPr>
        <p:spPr>
          <a:xfrm>
            <a:off x="2148840" y="4709159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F5F1E8"/>
                </a:solidFill>
                <a:latin typeface="微软雅黑" panose="020B0503020204020204" charset="-122"/>
                <a:cs typeface="微软雅黑" panose="020B0503020204020204" charset="-122"/>
              </a:rPr>
              <a:t>传统咨询的短板</a:t>
            </a:r>
            <a:endParaRPr sz="1600" b="1" i="0">
              <a:solidFill>
                <a:srgbClr val="F5F1E8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7" name="TextBox 136"/>
          <p:cNvSpPr txBox="1"/>
          <p:nvPr/>
        </p:nvSpPr>
        <p:spPr>
          <a:xfrm>
            <a:off x="2148840" y="504748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9A9AA8"/>
                </a:solidFill>
                <a:latin typeface="微软雅黑" panose="020B0503020204020204" charset="-122"/>
                <a:cs typeface="微软雅黑" panose="020B0503020204020204" charset="-122"/>
              </a:rPr>
              <a:t>重交付轻落地，知行难以合一</a:t>
            </a:r>
            <a:endParaRPr sz="1000" b="0" i="0">
              <a:solidFill>
                <a:srgbClr val="9A9AA8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8" name="Rectangle 137"/>
          <p:cNvSpPr/>
          <p:nvPr/>
        </p:nvSpPr>
        <p:spPr>
          <a:xfrm>
            <a:off x="9631375" y="4994909"/>
            <a:ext cx="61722" cy="262890"/>
          </a:xfrm>
          <a:prstGeom prst="rect">
            <a:avLst/>
          </a:prstGeom>
          <a:solidFill>
            <a:srgbClr val="D4AF37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Rectangle 138"/>
          <p:cNvSpPr/>
          <p:nvPr/>
        </p:nvSpPr>
        <p:spPr>
          <a:xfrm>
            <a:off x="9734245" y="5183996"/>
            <a:ext cx="61722" cy="73803"/>
          </a:xfrm>
          <a:prstGeom prst="rect">
            <a:avLst/>
          </a:prstGeom>
          <a:solidFill>
            <a:srgbClr val="D4AF37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Rectangle 139"/>
          <p:cNvSpPr/>
          <p:nvPr/>
        </p:nvSpPr>
        <p:spPr>
          <a:xfrm>
            <a:off x="9837115" y="4959818"/>
            <a:ext cx="61722" cy="297981"/>
          </a:xfrm>
          <a:prstGeom prst="rect">
            <a:avLst/>
          </a:prstGeom>
          <a:solidFill>
            <a:srgbClr val="D4AF37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Rectangle 140"/>
          <p:cNvSpPr/>
          <p:nvPr/>
        </p:nvSpPr>
        <p:spPr>
          <a:xfrm>
            <a:off x="9939985" y="4817014"/>
            <a:ext cx="61722" cy="440785"/>
          </a:xfrm>
          <a:prstGeom prst="rect">
            <a:avLst/>
          </a:prstGeom>
          <a:solidFill>
            <a:srgbClr val="D4AF37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Rectangle 141"/>
          <p:cNvSpPr/>
          <p:nvPr/>
        </p:nvSpPr>
        <p:spPr>
          <a:xfrm>
            <a:off x="10042855" y="5063939"/>
            <a:ext cx="61722" cy="193860"/>
          </a:xfrm>
          <a:prstGeom prst="rect">
            <a:avLst/>
          </a:prstGeom>
          <a:solidFill>
            <a:srgbClr val="D4AF37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Rectangle 142"/>
          <p:cNvSpPr/>
          <p:nvPr/>
        </p:nvSpPr>
        <p:spPr>
          <a:xfrm>
            <a:off x="10145725" y="5155764"/>
            <a:ext cx="61722" cy="102035"/>
          </a:xfrm>
          <a:prstGeom prst="rect">
            <a:avLst/>
          </a:prstGeom>
          <a:solidFill>
            <a:srgbClr val="D4AF37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Rectangle 143"/>
          <p:cNvSpPr/>
          <p:nvPr/>
        </p:nvSpPr>
        <p:spPr>
          <a:xfrm>
            <a:off x="10248595" y="4894213"/>
            <a:ext cx="61722" cy="363586"/>
          </a:xfrm>
          <a:prstGeom prst="rect">
            <a:avLst/>
          </a:prstGeom>
          <a:solidFill>
            <a:srgbClr val="D4AF37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Rectangle 144"/>
          <p:cNvSpPr/>
          <p:nvPr/>
        </p:nvSpPr>
        <p:spPr>
          <a:xfrm>
            <a:off x="10351465" y="4856385"/>
            <a:ext cx="61722" cy="401414"/>
          </a:xfrm>
          <a:prstGeom prst="rect">
            <a:avLst/>
          </a:prstGeom>
          <a:solidFill>
            <a:srgbClr val="D4AF37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Rectangle 145"/>
          <p:cNvSpPr/>
          <p:nvPr/>
        </p:nvSpPr>
        <p:spPr>
          <a:xfrm>
            <a:off x="10454335" y="5123963"/>
            <a:ext cx="61722" cy="133836"/>
          </a:xfrm>
          <a:prstGeom prst="rect">
            <a:avLst/>
          </a:prstGeom>
          <a:solidFill>
            <a:srgbClr val="D4AF37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Rectangle 146"/>
          <p:cNvSpPr/>
          <p:nvPr/>
        </p:nvSpPr>
        <p:spPr>
          <a:xfrm>
            <a:off x="10557205" y="5106548"/>
            <a:ext cx="61722" cy="151251"/>
          </a:xfrm>
          <a:prstGeom prst="rect">
            <a:avLst/>
          </a:prstGeom>
          <a:solidFill>
            <a:srgbClr val="D4AF37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Rectangle 147"/>
          <p:cNvSpPr/>
          <p:nvPr/>
        </p:nvSpPr>
        <p:spPr>
          <a:xfrm>
            <a:off x="10660075" y="4841744"/>
            <a:ext cx="61722" cy="416055"/>
          </a:xfrm>
          <a:prstGeom prst="rect">
            <a:avLst/>
          </a:prstGeom>
          <a:solidFill>
            <a:srgbClr val="D4AF37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Rectangle 148"/>
          <p:cNvSpPr/>
          <p:nvPr/>
        </p:nvSpPr>
        <p:spPr>
          <a:xfrm>
            <a:off x="10762945" y="4913829"/>
            <a:ext cx="61722" cy="343970"/>
          </a:xfrm>
          <a:prstGeom prst="rect">
            <a:avLst/>
          </a:prstGeom>
          <a:solidFill>
            <a:srgbClr val="D4AF37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Rectangle 149"/>
          <p:cNvSpPr/>
          <p:nvPr/>
        </p:nvSpPr>
        <p:spPr>
          <a:xfrm>
            <a:off x="10865815" y="5167150"/>
            <a:ext cx="61722" cy="90649"/>
          </a:xfrm>
          <a:prstGeom prst="rect">
            <a:avLst/>
          </a:prstGeom>
          <a:solidFill>
            <a:srgbClr val="D4AF37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Rectangle 150"/>
          <p:cNvSpPr/>
          <p:nvPr/>
        </p:nvSpPr>
        <p:spPr>
          <a:xfrm>
            <a:off x="10968685" y="5042766"/>
            <a:ext cx="61722" cy="215033"/>
          </a:xfrm>
          <a:prstGeom prst="rect">
            <a:avLst/>
          </a:prstGeom>
          <a:solidFill>
            <a:srgbClr val="D4AF37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Rectangle 151"/>
          <p:cNvSpPr/>
          <p:nvPr/>
        </p:nvSpPr>
        <p:spPr>
          <a:xfrm>
            <a:off x="11071555" y="4809258"/>
            <a:ext cx="61722" cy="448541"/>
          </a:xfrm>
          <a:prstGeom prst="rect">
            <a:avLst/>
          </a:prstGeom>
          <a:solidFill>
            <a:srgbClr val="D4AF37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Rectangle 152"/>
          <p:cNvSpPr/>
          <p:nvPr/>
        </p:nvSpPr>
        <p:spPr>
          <a:xfrm>
            <a:off x="11174425" y="4981850"/>
            <a:ext cx="61722" cy="275949"/>
          </a:xfrm>
          <a:prstGeom prst="rect">
            <a:avLst/>
          </a:prstGeom>
          <a:solidFill>
            <a:srgbClr val="D4AF37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TextBox 153"/>
          <p:cNvSpPr txBox="1"/>
          <p:nvPr/>
        </p:nvSpPr>
        <p:spPr>
          <a:xfrm>
            <a:off x="822960" y="5367528"/>
            <a:ext cx="9144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D4AF37"/>
                </a:solidFill>
                <a:latin typeface="Georgia" panose="02040502050405020303"/>
                <a:cs typeface="微软雅黑" panose="020B0503020204020204" charset="-122"/>
              </a:rPr>
              <a:t>07</a:t>
            </a:r>
            <a:endParaRPr sz="2800" b="1" i="0">
              <a:solidFill>
                <a:srgbClr val="D4AF37"/>
              </a:solidFill>
              <a:latin typeface="Georgia" panose="02040502050405020303"/>
              <a:cs typeface="微软雅黑" panose="020B0503020204020204" charset="-122"/>
            </a:endParaRPr>
          </a:p>
        </p:txBody>
      </p:sp>
      <p:sp>
        <p:nvSpPr>
          <p:cNvPr id="155" name="Rectangle 154"/>
          <p:cNvSpPr/>
          <p:nvPr/>
        </p:nvSpPr>
        <p:spPr>
          <a:xfrm>
            <a:off x="1874519" y="5413248"/>
            <a:ext cx="18288" cy="502920"/>
          </a:xfrm>
          <a:prstGeom prst="rect">
            <a:avLst/>
          </a:prstGeom>
          <a:solidFill>
            <a:srgbClr val="2A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TextBox 155"/>
          <p:cNvSpPr txBox="1"/>
          <p:nvPr/>
        </p:nvSpPr>
        <p:spPr>
          <a:xfrm>
            <a:off x="2148840" y="5367528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F5F1E8"/>
                </a:solidFill>
                <a:latin typeface="微软雅黑" panose="020B0503020204020204" charset="-122"/>
                <a:cs typeface="微软雅黑" panose="020B0503020204020204" charset="-122"/>
              </a:rPr>
              <a:t>落地路径与价值</a:t>
            </a:r>
            <a:endParaRPr sz="1600" b="1" i="0">
              <a:solidFill>
                <a:srgbClr val="F5F1E8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7" name="TextBox 156"/>
          <p:cNvSpPr txBox="1"/>
          <p:nvPr/>
        </p:nvSpPr>
        <p:spPr>
          <a:xfrm>
            <a:off x="2148840" y="5705856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9A9AA8"/>
                </a:solidFill>
                <a:latin typeface="微软雅黑" panose="020B0503020204020204" charset="-122"/>
                <a:cs typeface="微软雅黑" panose="020B0503020204020204" charset="-122"/>
              </a:rPr>
              <a:t>从试点到规模化</a:t>
            </a:r>
            <a:endParaRPr sz="1000" b="0" i="0">
              <a:solidFill>
                <a:srgbClr val="9A9AA8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8" name="Rectangle 157"/>
          <p:cNvSpPr/>
          <p:nvPr/>
        </p:nvSpPr>
        <p:spPr>
          <a:xfrm>
            <a:off x="9631375" y="5653278"/>
            <a:ext cx="61722" cy="262890"/>
          </a:xfrm>
          <a:prstGeom prst="rect">
            <a:avLst/>
          </a:prstGeom>
          <a:solidFill>
            <a:srgbClr val="D4AF37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Rectangle 158"/>
          <p:cNvSpPr/>
          <p:nvPr/>
        </p:nvSpPr>
        <p:spPr>
          <a:xfrm>
            <a:off x="9734245" y="5842364"/>
            <a:ext cx="61722" cy="73803"/>
          </a:xfrm>
          <a:prstGeom prst="rect">
            <a:avLst/>
          </a:prstGeom>
          <a:solidFill>
            <a:srgbClr val="D4AF37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Rectangle 159"/>
          <p:cNvSpPr/>
          <p:nvPr/>
        </p:nvSpPr>
        <p:spPr>
          <a:xfrm>
            <a:off x="9837115" y="5618186"/>
            <a:ext cx="61722" cy="297981"/>
          </a:xfrm>
          <a:prstGeom prst="rect">
            <a:avLst/>
          </a:prstGeom>
          <a:solidFill>
            <a:srgbClr val="D4AF37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Rectangle 160"/>
          <p:cNvSpPr/>
          <p:nvPr/>
        </p:nvSpPr>
        <p:spPr>
          <a:xfrm>
            <a:off x="9939985" y="5475382"/>
            <a:ext cx="61722" cy="440785"/>
          </a:xfrm>
          <a:prstGeom prst="rect">
            <a:avLst/>
          </a:prstGeom>
          <a:solidFill>
            <a:srgbClr val="D4AF37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Rectangle 161"/>
          <p:cNvSpPr/>
          <p:nvPr/>
        </p:nvSpPr>
        <p:spPr>
          <a:xfrm>
            <a:off x="10042855" y="5722307"/>
            <a:ext cx="61722" cy="193860"/>
          </a:xfrm>
          <a:prstGeom prst="rect">
            <a:avLst/>
          </a:prstGeom>
          <a:solidFill>
            <a:srgbClr val="D4AF37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Rectangle 162"/>
          <p:cNvSpPr/>
          <p:nvPr/>
        </p:nvSpPr>
        <p:spPr>
          <a:xfrm>
            <a:off x="10145725" y="5814132"/>
            <a:ext cx="61722" cy="102035"/>
          </a:xfrm>
          <a:prstGeom prst="rect">
            <a:avLst/>
          </a:prstGeom>
          <a:solidFill>
            <a:srgbClr val="D4AF37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Rectangle 163"/>
          <p:cNvSpPr/>
          <p:nvPr/>
        </p:nvSpPr>
        <p:spPr>
          <a:xfrm>
            <a:off x="10248595" y="5552581"/>
            <a:ext cx="61722" cy="363586"/>
          </a:xfrm>
          <a:prstGeom prst="rect">
            <a:avLst/>
          </a:prstGeom>
          <a:solidFill>
            <a:srgbClr val="D4AF37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Rectangle 164"/>
          <p:cNvSpPr/>
          <p:nvPr/>
        </p:nvSpPr>
        <p:spPr>
          <a:xfrm>
            <a:off x="10351465" y="5514753"/>
            <a:ext cx="61722" cy="401414"/>
          </a:xfrm>
          <a:prstGeom prst="rect">
            <a:avLst/>
          </a:prstGeom>
          <a:solidFill>
            <a:srgbClr val="D4AF37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Rectangle 165"/>
          <p:cNvSpPr/>
          <p:nvPr/>
        </p:nvSpPr>
        <p:spPr>
          <a:xfrm>
            <a:off x="10454335" y="5782331"/>
            <a:ext cx="61722" cy="133836"/>
          </a:xfrm>
          <a:prstGeom prst="rect">
            <a:avLst/>
          </a:prstGeom>
          <a:solidFill>
            <a:srgbClr val="D4AF37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Rectangle 166"/>
          <p:cNvSpPr/>
          <p:nvPr/>
        </p:nvSpPr>
        <p:spPr>
          <a:xfrm>
            <a:off x="10557205" y="5764916"/>
            <a:ext cx="61722" cy="151251"/>
          </a:xfrm>
          <a:prstGeom prst="rect">
            <a:avLst/>
          </a:prstGeom>
          <a:solidFill>
            <a:srgbClr val="D4AF37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Rectangle 167"/>
          <p:cNvSpPr/>
          <p:nvPr/>
        </p:nvSpPr>
        <p:spPr>
          <a:xfrm>
            <a:off x="10660075" y="5500112"/>
            <a:ext cx="61722" cy="416055"/>
          </a:xfrm>
          <a:prstGeom prst="rect">
            <a:avLst/>
          </a:prstGeom>
          <a:solidFill>
            <a:srgbClr val="D4AF37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Rectangle 168"/>
          <p:cNvSpPr/>
          <p:nvPr/>
        </p:nvSpPr>
        <p:spPr>
          <a:xfrm>
            <a:off x="10762945" y="5572197"/>
            <a:ext cx="61722" cy="343970"/>
          </a:xfrm>
          <a:prstGeom prst="rect">
            <a:avLst/>
          </a:prstGeom>
          <a:solidFill>
            <a:srgbClr val="D4AF37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Rectangle 169"/>
          <p:cNvSpPr/>
          <p:nvPr/>
        </p:nvSpPr>
        <p:spPr>
          <a:xfrm>
            <a:off x="10865815" y="5825518"/>
            <a:ext cx="61722" cy="90649"/>
          </a:xfrm>
          <a:prstGeom prst="rect">
            <a:avLst/>
          </a:prstGeom>
          <a:solidFill>
            <a:srgbClr val="D4AF37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Rectangle 170"/>
          <p:cNvSpPr/>
          <p:nvPr/>
        </p:nvSpPr>
        <p:spPr>
          <a:xfrm>
            <a:off x="10968685" y="5701134"/>
            <a:ext cx="61722" cy="215033"/>
          </a:xfrm>
          <a:prstGeom prst="rect">
            <a:avLst/>
          </a:prstGeom>
          <a:solidFill>
            <a:srgbClr val="D4AF37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Rectangle 171"/>
          <p:cNvSpPr/>
          <p:nvPr/>
        </p:nvSpPr>
        <p:spPr>
          <a:xfrm>
            <a:off x="11071555" y="5467626"/>
            <a:ext cx="61722" cy="448541"/>
          </a:xfrm>
          <a:prstGeom prst="rect">
            <a:avLst/>
          </a:prstGeom>
          <a:solidFill>
            <a:srgbClr val="D4AF37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Rectangle 172"/>
          <p:cNvSpPr/>
          <p:nvPr/>
        </p:nvSpPr>
        <p:spPr>
          <a:xfrm>
            <a:off x="11174425" y="5640218"/>
            <a:ext cx="61722" cy="275949"/>
          </a:xfrm>
          <a:prstGeom prst="rect">
            <a:avLst/>
          </a:prstGeom>
          <a:solidFill>
            <a:srgbClr val="D4AF37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E8C85A"/>
                </a:solidFill>
                <a:latin typeface="Georgia" panose="02040502050405020303"/>
                <a:cs typeface="微软雅黑" panose="020B0503020204020204" charset="-122"/>
              </a:rPr>
              <a:t>01  ·  PAIN POINTS</a:t>
            </a:r>
            <a:endParaRPr sz="1100" b="0" i="1">
              <a:solidFill>
                <a:srgbClr val="E8C85A"/>
              </a:solidFill>
              <a:latin typeface="Georgia" panose="02040502050405020303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0584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F5F1E8"/>
                </a:solidFill>
                <a:latin typeface="微软雅黑" panose="020B0503020204020204" charset="-122"/>
                <a:cs typeface="微软雅黑" panose="020B0503020204020204" charset="-122"/>
              </a:rPr>
              <a:t>企业当下面临的痛点</a:t>
            </a:r>
            <a:endParaRPr sz="3000" b="1" i="0">
              <a:solidFill>
                <a:srgbClr val="F5F1E8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58368" y="1481328"/>
            <a:ext cx="548640" cy="54864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265615" y="834390"/>
            <a:ext cx="60350" cy="262890"/>
          </a:xfrm>
          <a:prstGeom prst="rect">
            <a:avLst/>
          </a:prstGeom>
          <a:solidFill>
            <a:srgbClr val="D4AF37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366199" y="1023476"/>
            <a:ext cx="60350" cy="73803"/>
          </a:xfrm>
          <a:prstGeom prst="rect">
            <a:avLst/>
          </a:prstGeom>
          <a:solidFill>
            <a:srgbClr val="D4AF37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466783" y="799298"/>
            <a:ext cx="60350" cy="297981"/>
          </a:xfrm>
          <a:prstGeom prst="rect">
            <a:avLst/>
          </a:prstGeom>
          <a:solidFill>
            <a:srgbClr val="D4AF37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567367" y="656494"/>
            <a:ext cx="60350" cy="440785"/>
          </a:xfrm>
          <a:prstGeom prst="rect">
            <a:avLst/>
          </a:prstGeom>
          <a:solidFill>
            <a:srgbClr val="D4AF37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667951" y="903419"/>
            <a:ext cx="60350" cy="193860"/>
          </a:xfrm>
          <a:prstGeom prst="rect">
            <a:avLst/>
          </a:prstGeom>
          <a:solidFill>
            <a:srgbClr val="D4AF37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768535" y="995244"/>
            <a:ext cx="60350" cy="102035"/>
          </a:xfrm>
          <a:prstGeom prst="rect">
            <a:avLst/>
          </a:prstGeom>
          <a:solidFill>
            <a:srgbClr val="D4AF37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869119" y="733693"/>
            <a:ext cx="60350" cy="363586"/>
          </a:xfrm>
          <a:prstGeom prst="rect">
            <a:avLst/>
          </a:prstGeom>
          <a:solidFill>
            <a:srgbClr val="D4AF37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969703" y="695865"/>
            <a:ext cx="60350" cy="401414"/>
          </a:xfrm>
          <a:prstGeom prst="rect">
            <a:avLst/>
          </a:prstGeom>
          <a:solidFill>
            <a:srgbClr val="D4AF37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070287" y="963443"/>
            <a:ext cx="60350" cy="133836"/>
          </a:xfrm>
          <a:prstGeom prst="rect">
            <a:avLst/>
          </a:prstGeom>
          <a:solidFill>
            <a:srgbClr val="D4AF37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170871" y="946028"/>
            <a:ext cx="60350" cy="151251"/>
          </a:xfrm>
          <a:prstGeom prst="rect">
            <a:avLst/>
          </a:prstGeom>
          <a:solidFill>
            <a:srgbClr val="D4AF37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271455" y="681224"/>
            <a:ext cx="60350" cy="416055"/>
          </a:xfrm>
          <a:prstGeom prst="rect">
            <a:avLst/>
          </a:prstGeom>
          <a:solidFill>
            <a:srgbClr val="D4AF37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0372039" y="753309"/>
            <a:ext cx="60350" cy="343970"/>
          </a:xfrm>
          <a:prstGeom prst="rect">
            <a:avLst/>
          </a:prstGeom>
          <a:solidFill>
            <a:srgbClr val="D4AF37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0472623" y="1006630"/>
            <a:ext cx="60350" cy="90649"/>
          </a:xfrm>
          <a:prstGeom prst="rect">
            <a:avLst/>
          </a:prstGeom>
          <a:solidFill>
            <a:srgbClr val="D4AF37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0573207" y="882246"/>
            <a:ext cx="60350" cy="215033"/>
          </a:xfrm>
          <a:prstGeom prst="rect">
            <a:avLst/>
          </a:prstGeom>
          <a:solidFill>
            <a:srgbClr val="D4AF37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0673791" y="648738"/>
            <a:ext cx="60350" cy="448541"/>
          </a:xfrm>
          <a:prstGeom prst="rect">
            <a:avLst/>
          </a:prstGeom>
          <a:solidFill>
            <a:srgbClr val="D4AF37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0774375" y="821330"/>
            <a:ext cx="60350" cy="275949"/>
          </a:xfrm>
          <a:prstGeom prst="rect">
            <a:avLst/>
          </a:prstGeom>
          <a:solidFill>
            <a:srgbClr val="D4AF37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0874959" y="1027347"/>
            <a:ext cx="60350" cy="69932"/>
          </a:xfrm>
          <a:prstGeom prst="rect">
            <a:avLst/>
          </a:prstGeom>
          <a:solidFill>
            <a:srgbClr val="D4AF37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0975543" y="867043"/>
            <a:ext cx="60350" cy="230236"/>
          </a:xfrm>
          <a:prstGeom prst="rect">
            <a:avLst/>
          </a:prstGeom>
          <a:solidFill>
            <a:srgbClr val="D4AF37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1076127" y="640472"/>
            <a:ext cx="60350" cy="456807"/>
          </a:xfrm>
          <a:prstGeom prst="rect">
            <a:avLst/>
          </a:prstGeom>
          <a:solidFill>
            <a:srgbClr val="D4AF37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1176711" y="836865"/>
            <a:ext cx="60350" cy="260414"/>
          </a:xfrm>
          <a:prstGeom prst="rect">
            <a:avLst/>
          </a:prstGeom>
          <a:solidFill>
            <a:srgbClr val="D4AF37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9A9AA8"/>
                </a:solidFill>
                <a:latin typeface="微软雅黑" panose="020B0503020204020204" charset="-122"/>
                <a:cs typeface="微软雅黑" panose="020B0503020204020204" charset="-122"/>
              </a:rPr>
              <a:t>刘肯  ·  北京幻道科技</a:t>
            </a:r>
            <a:endParaRPr sz="900" b="0" i="0">
              <a:solidFill>
                <a:srgbClr val="9A9AA8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9905695" y="6446520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9A9AA8"/>
                </a:solidFill>
                <a:latin typeface="Georgia" panose="02040502050405020303"/>
                <a:cs typeface="微软雅黑" panose="020B0503020204020204" charset="-122"/>
              </a:rPr>
              <a:t>03 / 12</a:t>
            </a:r>
            <a:endParaRPr sz="900" b="0" i="0">
              <a:solidFill>
                <a:srgbClr val="9A9AA8"/>
              </a:solidFill>
              <a:latin typeface="Georgia" panose="02040502050405020303"/>
              <a:cs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640080" y="169164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9A9AA8"/>
                </a:solidFill>
                <a:latin typeface="微软雅黑" panose="020B0503020204020204" charset="-122"/>
                <a:cs typeface="微软雅黑" panose="020B0503020204020204" charset="-122"/>
              </a:rPr>
              <a:t>增长红利消退，组织在「效率、成本、决策」三重压力下寻找新引擎。</a:t>
            </a:r>
            <a:endParaRPr sz="1300" b="0" i="1">
              <a:solidFill>
                <a:srgbClr val="9A9AA8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640080" y="2377440"/>
            <a:ext cx="2651760" cy="2926080"/>
          </a:xfrm>
          <a:prstGeom prst="roundRect">
            <a:avLst>
              <a:gd name="adj" fmla="val 6000"/>
            </a:avLst>
          </a:prstGeom>
          <a:solidFill>
            <a:srgbClr val="1C1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40080" y="2377440"/>
            <a:ext cx="2651760" cy="54864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4400" y="2606040"/>
            <a:ext cx="1828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D4AF37"/>
                </a:solidFill>
                <a:latin typeface="Georgia" panose="02040502050405020303"/>
                <a:cs typeface="微软雅黑" panose="020B0503020204020204" charset="-122"/>
              </a:rPr>
              <a:t>01</a:t>
            </a:r>
            <a:endParaRPr sz="2200" b="1" i="0">
              <a:solidFill>
                <a:srgbClr val="D4AF37"/>
              </a:solidFill>
              <a:latin typeface="Georgia" panose="02040502050405020303"/>
              <a:cs typeface="微软雅黑" panose="020B0503020204020204" charset="-122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914400" y="3063240"/>
            <a:ext cx="21031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F5F1E8"/>
                </a:solidFill>
                <a:latin typeface="微软雅黑" panose="020B0503020204020204" charset="-122"/>
                <a:cs typeface="微软雅黑" panose="020B0503020204020204" charset="-122"/>
              </a:rPr>
              <a:t>增长见顶</a:t>
            </a:r>
            <a:endParaRPr sz="1700" b="1" i="0">
              <a:solidFill>
                <a:srgbClr val="F5F1E8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914400" y="3566160"/>
            <a:ext cx="365760" cy="27432"/>
          </a:xfrm>
          <a:prstGeom prst="rect">
            <a:avLst/>
          </a:prstGeom>
          <a:solidFill>
            <a:srgbClr val="B87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14400" y="3749039"/>
            <a:ext cx="210312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E6E6E6"/>
                </a:solidFill>
                <a:latin typeface="微软雅黑" panose="020B0503020204020204" charset="-122"/>
                <a:cs typeface="微软雅黑" panose="020B0503020204020204" charset="-122"/>
              </a:rPr>
              <a:t>流量与用户红利消退，传统增长模型失效，存量竞争加剧。</a:t>
            </a:r>
            <a:endParaRPr sz="1100" b="0" i="0">
              <a:solidFill>
                <a:srgbClr val="E6E6E6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914400" y="4969764"/>
            <a:ext cx="48196" cy="27432"/>
          </a:xfrm>
          <a:prstGeom prst="rect">
            <a:avLst/>
          </a:prstGeom>
          <a:solidFill>
            <a:srgbClr val="D4AF37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02029" y="4965669"/>
            <a:ext cx="48196" cy="35621"/>
          </a:xfrm>
          <a:prstGeom prst="rect">
            <a:avLst/>
          </a:prstGeom>
          <a:solidFill>
            <a:srgbClr val="D4AF37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089660" y="4958688"/>
            <a:ext cx="48196" cy="49583"/>
          </a:xfrm>
          <a:prstGeom prst="rect">
            <a:avLst/>
          </a:prstGeom>
          <a:solidFill>
            <a:srgbClr val="D4AF37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177290" y="4959418"/>
            <a:ext cx="48196" cy="48123"/>
          </a:xfrm>
          <a:prstGeom prst="rect">
            <a:avLst/>
          </a:prstGeom>
          <a:solidFill>
            <a:srgbClr val="D4AF37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264920" y="4966852"/>
            <a:ext cx="48196" cy="33254"/>
          </a:xfrm>
          <a:prstGeom prst="rect">
            <a:avLst/>
          </a:prstGeom>
          <a:solidFill>
            <a:srgbClr val="D4AF37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352549" y="4948548"/>
            <a:ext cx="48196" cy="69862"/>
          </a:xfrm>
          <a:prstGeom prst="rect">
            <a:avLst/>
          </a:prstGeom>
          <a:solidFill>
            <a:srgbClr val="D4AF37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1440180" y="4940320"/>
            <a:ext cx="48196" cy="86318"/>
          </a:xfrm>
          <a:prstGeom prst="rect">
            <a:avLst/>
          </a:prstGeom>
          <a:solidFill>
            <a:srgbClr val="D4AF37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1527810" y="4952297"/>
            <a:ext cx="48196" cy="62365"/>
          </a:xfrm>
          <a:prstGeom prst="rect">
            <a:avLst/>
          </a:prstGeom>
          <a:solidFill>
            <a:srgbClr val="D4AF37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1615440" y="4959907"/>
            <a:ext cx="48196" cy="47145"/>
          </a:xfrm>
          <a:prstGeom prst="rect">
            <a:avLst/>
          </a:prstGeom>
          <a:solidFill>
            <a:srgbClr val="D4AF37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703069" y="4935338"/>
            <a:ext cx="48196" cy="96282"/>
          </a:xfrm>
          <a:prstGeom prst="rect">
            <a:avLst/>
          </a:prstGeom>
          <a:solidFill>
            <a:srgbClr val="D4AF37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1790700" y="4931802"/>
            <a:ext cx="48196" cy="103354"/>
          </a:xfrm>
          <a:prstGeom prst="rect">
            <a:avLst/>
          </a:prstGeom>
          <a:solidFill>
            <a:srgbClr val="D4AF37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1878330" y="4953408"/>
            <a:ext cx="48196" cy="60142"/>
          </a:xfrm>
          <a:prstGeom prst="rect">
            <a:avLst/>
          </a:prstGeom>
          <a:solidFill>
            <a:srgbClr val="D4AF37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1965960" y="4953408"/>
            <a:ext cx="48196" cy="60142"/>
          </a:xfrm>
          <a:prstGeom prst="rect">
            <a:avLst/>
          </a:prstGeom>
          <a:solidFill>
            <a:srgbClr val="D4AF37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2053589" y="4931802"/>
            <a:ext cx="48196" cy="103354"/>
          </a:xfrm>
          <a:prstGeom prst="rect">
            <a:avLst/>
          </a:prstGeom>
          <a:solidFill>
            <a:srgbClr val="D4AF37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2141220" y="4935338"/>
            <a:ext cx="48196" cy="96282"/>
          </a:xfrm>
          <a:prstGeom prst="rect">
            <a:avLst/>
          </a:prstGeom>
          <a:solidFill>
            <a:srgbClr val="D4AF37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2228850" y="4959907"/>
            <a:ext cx="48196" cy="47145"/>
          </a:xfrm>
          <a:prstGeom prst="rect">
            <a:avLst/>
          </a:prstGeom>
          <a:solidFill>
            <a:srgbClr val="D4AF37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2316480" y="4952297"/>
            <a:ext cx="48196" cy="62365"/>
          </a:xfrm>
          <a:prstGeom prst="rect">
            <a:avLst/>
          </a:prstGeom>
          <a:solidFill>
            <a:srgbClr val="D4AF37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2404110" y="4940320"/>
            <a:ext cx="48196" cy="86318"/>
          </a:xfrm>
          <a:prstGeom prst="rect">
            <a:avLst/>
          </a:prstGeom>
          <a:solidFill>
            <a:srgbClr val="D4AF37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2491739" y="4948548"/>
            <a:ext cx="48196" cy="69862"/>
          </a:xfrm>
          <a:prstGeom prst="rect">
            <a:avLst/>
          </a:prstGeom>
          <a:solidFill>
            <a:srgbClr val="D4AF37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2579370" y="4966852"/>
            <a:ext cx="48196" cy="33254"/>
          </a:xfrm>
          <a:prstGeom prst="rect">
            <a:avLst/>
          </a:prstGeom>
          <a:solidFill>
            <a:srgbClr val="D4AF37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2667000" y="4959418"/>
            <a:ext cx="48196" cy="48123"/>
          </a:xfrm>
          <a:prstGeom prst="rect">
            <a:avLst/>
          </a:prstGeom>
          <a:solidFill>
            <a:srgbClr val="D4AF37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2754629" y="4958688"/>
            <a:ext cx="48196" cy="49583"/>
          </a:xfrm>
          <a:prstGeom prst="rect">
            <a:avLst/>
          </a:prstGeom>
          <a:solidFill>
            <a:srgbClr val="D4AF37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2842260" y="4965669"/>
            <a:ext cx="48196" cy="35621"/>
          </a:xfrm>
          <a:prstGeom prst="rect">
            <a:avLst/>
          </a:prstGeom>
          <a:solidFill>
            <a:srgbClr val="D4AF37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2929890" y="4969764"/>
            <a:ext cx="48196" cy="27432"/>
          </a:xfrm>
          <a:prstGeom prst="rect">
            <a:avLst/>
          </a:prstGeom>
          <a:solidFill>
            <a:srgbClr val="D4AF37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ounded Rectangle 57"/>
          <p:cNvSpPr/>
          <p:nvPr/>
        </p:nvSpPr>
        <p:spPr>
          <a:xfrm>
            <a:off x="3429000" y="2377440"/>
            <a:ext cx="2651760" cy="2926080"/>
          </a:xfrm>
          <a:prstGeom prst="roundRect">
            <a:avLst>
              <a:gd name="adj" fmla="val 6000"/>
            </a:avLst>
          </a:prstGeom>
          <a:solidFill>
            <a:srgbClr val="1C1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3429000" y="2377440"/>
            <a:ext cx="2651760" cy="54864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3703320" y="2606040"/>
            <a:ext cx="1828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D4AF37"/>
                </a:solidFill>
                <a:latin typeface="Georgia" panose="02040502050405020303"/>
                <a:cs typeface="微软雅黑" panose="020B0503020204020204" charset="-122"/>
              </a:rPr>
              <a:t>02</a:t>
            </a:r>
            <a:endParaRPr sz="2200" b="1" i="0">
              <a:solidFill>
                <a:srgbClr val="D4AF37"/>
              </a:solidFill>
              <a:latin typeface="Georgia" panose="02040502050405020303"/>
              <a:cs typeface="微软雅黑" panose="020B0503020204020204" charset="-122"/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3703320" y="3063240"/>
            <a:ext cx="21031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F5F1E8"/>
                </a:solidFill>
                <a:latin typeface="微软雅黑" panose="020B0503020204020204" charset="-122"/>
                <a:cs typeface="微软雅黑" panose="020B0503020204020204" charset="-122"/>
              </a:rPr>
              <a:t>成本承压</a:t>
            </a:r>
            <a:endParaRPr sz="1700" b="1" i="0">
              <a:solidFill>
                <a:srgbClr val="F5F1E8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2" name="Rectangle 61"/>
          <p:cNvSpPr/>
          <p:nvPr/>
        </p:nvSpPr>
        <p:spPr>
          <a:xfrm>
            <a:off x="3703320" y="3566160"/>
            <a:ext cx="365760" cy="27432"/>
          </a:xfrm>
          <a:prstGeom prst="rect">
            <a:avLst/>
          </a:prstGeom>
          <a:solidFill>
            <a:srgbClr val="B87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3703320" y="3749039"/>
            <a:ext cx="210312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E6E6E6"/>
                </a:solidFill>
                <a:latin typeface="微软雅黑" panose="020B0503020204020204" charset="-122"/>
                <a:cs typeface="微软雅黑" panose="020B0503020204020204" charset="-122"/>
              </a:rPr>
              <a:t>人力、研发、运营成本持续走高，利润空间被不断挤压。</a:t>
            </a:r>
            <a:endParaRPr sz="1100" b="0" i="0">
              <a:solidFill>
                <a:srgbClr val="E6E6E6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4" name="Rectangle 63"/>
          <p:cNvSpPr/>
          <p:nvPr/>
        </p:nvSpPr>
        <p:spPr>
          <a:xfrm>
            <a:off x="3703320" y="4969764"/>
            <a:ext cx="48196" cy="27432"/>
          </a:xfrm>
          <a:prstGeom prst="rect">
            <a:avLst/>
          </a:prstGeom>
          <a:solidFill>
            <a:srgbClr val="D4AF37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3790950" y="4965669"/>
            <a:ext cx="48196" cy="35621"/>
          </a:xfrm>
          <a:prstGeom prst="rect">
            <a:avLst/>
          </a:prstGeom>
          <a:solidFill>
            <a:srgbClr val="D4AF37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3878580" y="4958688"/>
            <a:ext cx="48196" cy="49583"/>
          </a:xfrm>
          <a:prstGeom prst="rect">
            <a:avLst/>
          </a:prstGeom>
          <a:solidFill>
            <a:srgbClr val="D4AF37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3966210" y="4959418"/>
            <a:ext cx="48196" cy="48123"/>
          </a:xfrm>
          <a:prstGeom prst="rect">
            <a:avLst/>
          </a:prstGeom>
          <a:solidFill>
            <a:srgbClr val="D4AF37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4053840" y="4966852"/>
            <a:ext cx="48196" cy="33254"/>
          </a:xfrm>
          <a:prstGeom prst="rect">
            <a:avLst/>
          </a:prstGeom>
          <a:solidFill>
            <a:srgbClr val="D4AF37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4141470" y="4948548"/>
            <a:ext cx="48196" cy="69862"/>
          </a:xfrm>
          <a:prstGeom prst="rect">
            <a:avLst/>
          </a:prstGeom>
          <a:solidFill>
            <a:srgbClr val="D4AF37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4229100" y="4940320"/>
            <a:ext cx="48196" cy="86318"/>
          </a:xfrm>
          <a:prstGeom prst="rect">
            <a:avLst/>
          </a:prstGeom>
          <a:solidFill>
            <a:srgbClr val="D4AF37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4316730" y="4952297"/>
            <a:ext cx="48196" cy="62365"/>
          </a:xfrm>
          <a:prstGeom prst="rect">
            <a:avLst/>
          </a:prstGeom>
          <a:solidFill>
            <a:srgbClr val="D4AF37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4404360" y="4959907"/>
            <a:ext cx="48196" cy="47145"/>
          </a:xfrm>
          <a:prstGeom prst="rect">
            <a:avLst/>
          </a:prstGeom>
          <a:solidFill>
            <a:srgbClr val="D4AF37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4491990" y="4935338"/>
            <a:ext cx="48196" cy="96282"/>
          </a:xfrm>
          <a:prstGeom prst="rect">
            <a:avLst/>
          </a:prstGeom>
          <a:solidFill>
            <a:srgbClr val="D4AF37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4579620" y="4931802"/>
            <a:ext cx="48196" cy="103354"/>
          </a:xfrm>
          <a:prstGeom prst="rect">
            <a:avLst/>
          </a:prstGeom>
          <a:solidFill>
            <a:srgbClr val="D4AF37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4667250" y="4953408"/>
            <a:ext cx="48196" cy="60142"/>
          </a:xfrm>
          <a:prstGeom prst="rect">
            <a:avLst/>
          </a:prstGeom>
          <a:solidFill>
            <a:srgbClr val="D4AF37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4754880" y="4953408"/>
            <a:ext cx="48196" cy="60142"/>
          </a:xfrm>
          <a:prstGeom prst="rect">
            <a:avLst/>
          </a:prstGeom>
          <a:solidFill>
            <a:srgbClr val="D4AF37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4842510" y="4931802"/>
            <a:ext cx="48196" cy="103354"/>
          </a:xfrm>
          <a:prstGeom prst="rect">
            <a:avLst/>
          </a:prstGeom>
          <a:solidFill>
            <a:srgbClr val="D4AF37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4930140" y="4935338"/>
            <a:ext cx="48196" cy="96282"/>
          </a:xfrm>
          <a:prstGeom prst="rect">
            <a:avLst/>
          </a:prstGeom>
          <a:solidFill>
            <a:srgbClr val="D4AF37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5017770" y="4959907"/>
            <a:ext cx="48196" cy="47145"/>
          </a:xfrm>
          <a:prstGeom prst="rect">
            <a:avLst/>
          </a:prstGeom>
          <a:solidFill>
            <a:srgbClr val="D4AF37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5105400" y="4952297"/>
            <a:ext cx="48196" cy="62365"/>
          </a:xfrm>
          <a:prstGeom prst="rect">
            <a:avLst/>
          </a:prstGeom>
          <a:solidFill>
            <a:srgbClr val="D4AF37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5193030" y="4940320"/>
            <a:ext cx="48196" cy="86318"/>
          </a:xfrm>
          <a:prstGeom prst="rect">
            <a:avLst/>
          </a:prstGeom>
          <a:solidFill>
            <a:srgbClr val="D4AF37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5280660" y="4948548"/>
            <a:ext cx="48196" cy="69862"/>
          </a:xfrm>
          <a:prstGeom prst="rect">
            <a:avLst/>
          </a:prstGeom>
          <a:solidFill>
            <a:srgbClr val="D4AF37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5368290" y="4966852"/>
            <a:ext cx="48196" cy="33254"/>
          </a:xfrm>
          <a:prstGeom prst="rect">
            <a:avLst/>
          </a:prstGeom>
          <a:solidFill>
            <a:srgbClr val="D4AF37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5455920" y="4959418"/>
            <a:ext cx="48196" cy="48123"/>
          </a:xfrm>
          <a:prstGeom prst="rect">
            <a:avLst/>
          </a:prstGeom>
          <a:solidFill>
            <a:srgbClr val="D4AF37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5543550" y="4958688"/>
            <a:ext cx="48196" cy="49583"/>
          </a:xfrm>
          <a:prstGeom prst="rect">
            <a:avLst/>
          </a:prstGeom>
          <a:solidFill>
            <a:srgbClr val="D4AF37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5631180" y="4965669"/>
            <a:ext cx="48196" cy="35621"/>
          </a:xfrm>
          <a:prstGeom prst="rect">
            <a:avLst/>
          </a:prstGeom>
          <a:solidFill>
            <a:srgbClr val="D4AF37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5718810" y="4969764"/>
            <a:ext cx="48196" cy="27432"/>
          </a:xfrm>
          <a:prstGeom prst="rect">
            <a:avLst/>
          </a:prstGeom>
          <a:solidFill>
            <a:srgbClr val="D4AF37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ounded Rectangle 87"/>
          <p:cNvSpPr/>
          <p:nvPr/>
        </p:nvSpPr>
        <p:spPr>
          <a:xfrm>
            <a:off x="6217920" y="2377440"/>
            <a:ext cx="2651760" cy="2926080"/>
          </a:xfrm>
          <a:prstGeom prst="roundRect">
            <a:avLst>
              <a:gd name="adj" fmla="val 6000"/>
            </a:avLst>
          </a:prstGeom>
          <a:solidFill>
            <a:srgbClr val="1C1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6217920" y="2377440"/>
            <a:ext cx="2651760" cy="54864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6492240" y="2606040"/>
            <a:ext cx="1828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D4AF37"/>
                </a:solidFill>
                <a:latin typeface="Georgia" panose="02040502050405020303"/>
                <a:cs typeface="微软雅黑" panose="020B0503020204020204" charset="-122"/>
              </a:rPr>
              <a:t>03</a:t>
            </a:r>
            <a:endParaRPr sz="2200" b="1" i="0">
              <a:solidFill>
                <a:srgbClr val="D4AF37"/>
              </a:solidFill>
              <a:latin typeface="Georgia" panose="02040502050405020303"/>
              <a:cs typeface="微软雅黑" panose="020B0503020204020204" charset="-122"/>
            </a:endParaRPr>
          </a:p>
        </p:txBody>
      </p:sp>
      <p:sp>
        <p:nvSpPr>
          <p:cNvPr id="91" name="TextBox 90"/>
          <p:cNvSpPr txBox="1"/>
          <p:nvPr/>
        </p:nvSpPr>
        <p:spPr>
          <a:xfrm>
            <a:off x="6492240" y="3063240"/>
            <a:ext cx="21031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F5F1E8"/>
                </a:solidFill>
                <a:latin typeface="微软雅黑" panose="020B0503020204020204" charset="-122"/>
                <a:cs typeface="微软雅黑" panose="020B0503020204020204" charset="-122"/>
              </a:rPr>
              <a:t>决策低效</a:t>
            </a:r>
            <a:endParaRPr sz="1700" b="1" i="0">
              <a:solidFill>
                <a:srgbClr val="F5F1E8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2" name="Rectangle 91"/>
          <p:cNvSpPr/>
          <p:nvPr/>
        </p:nvSpPr>
        <p:spPr>
          <a:xfrm>
            <a:off x="6492240" y="3566160"/>
            <a:ext cx="365760" cy="27432"/>
          </a:xfrm>
          <a:prstGeom prst="rect">
            <a:avLst/>
          </a:prstGeom>
          <a:solidFill>
            <a:srgbClr val="B87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6492240" y="3749039"/>
            <a:ext cx="210312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E6E6E6"/>
                </a:solidFill>
                <a:latin typeface="微软雅黑" panose="020B0503020204020204" charset="-122"/>
                <a:cs typeface="微软雅黑" panose="020B0503020204020204" charset="-122"/>
              </a:rPr>
              <a:t>数据散落各系统，决策依赖经验，响应速度跟不上市场变化。</a:t>
            </a:r>
            <a:endParaRPr sz="1100" b="0" i="0">
              <a:solidFill>
                <a:srgbClr val="E6E6E6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4" name="Rectangle 93"/>
          <p:cNvSpPr/>
          <p:nvPr/>
        </p:nvSpPr>
        <p:spPr>
          <a:xfrm>
            <a:off x="6492240" y="4969764"/>
            <a:ext cx="48196" cy="27432"/>
          </a:xfrm>
          <a:prstGeom prst="rect">
            <a:avLst/>
          </a:prstGeom>
          <a:solidFill>
            <a:srgbClr val="D4AF37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6579870" y="4965669"/>
            <a:ext cx="48196" cy="35621"/>
          </a:xfrm>
          <a:prstGeom prst="rect">
            <a:avLst/>
          </a:prstGeom>
          <a:solidFill>
            <a:srgbClr val="D4AF37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6667499" y="4958688"/>
            <a:ext cx="48196" cy="49583"/>
          </a:xfrm>
          <a:prstGeom prst="rect">
            <a:avLst/>
          </a:prstGeom>
          <a:solidFill>
            <a:srgbClr val="D4AF37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6755129" y="4959418"/>
            <a:ext cx="48196" cy="48123"/>
          </a:xfrm>
          <a:prstGeom prst="rect">
            <a:avLst/>
          </a:prstGeom>
          <a:solidFill>
            <a:srgbClr val="D4AF37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6842759" y="4966852"/>
            <a:ext cx="48196" cy="33254"/>
          </a:xfrm>
          <a:prstGeom prst="rect">
            <a:avLst/>
          </a:prstGeom>
          <a:solidFill>
            <a:srgbClr val="D4AF37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6930390" y="4948548"/>
            <a:ext cx="48196" cy="69862"/>
          </a:xfrm>
          <a:prstGeom prst="rect">
            <a:avLst/>
          </a:prstGeom>
          <a:solidFill>
            <a:srgbClr val="D4AF37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7018020" y="4940320"/>
            <a:ext cx="48196" cy="86318"/>
          </a:xfrm>
          <a:prstGeom prst="rect">
            <a:avLst/>
          </a:prstGeom>
          <a:solidFill>
            <a:srgbClr val="D4AF37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7105650" y="4952297"/>
            <a:ext cx="48196" cy="62365"/>
          </a:xfrm>
          <a:prstGeom prst="rect">
            <a:avLst/>
          </a:prstGeom>
          <a:solidFill>
            <a:srgbClr val="D4AF37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7193280" y="4959907"/>
            <a:ext cx="48196" cy="47145"/>
          </a:xfrm>
          <a:prstGeom prst="rect">
            <a:avLst/>
          </a:prstGeom>
          <a:solidFill>
            <a:srgbClr val="D4AF37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7280909" y="4935338"/>
            <a:ext cx="48196" cy="96282"/>
          </a:xfrm>
          <a:prstGeom prst="rect">
            <a:avLst/>
          </a:prstGeom>
          <a:solidFill>
            <a:srgbClr val="D4AF37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7368540" y="4931802"/>
            <a:ext cx="48196" cy="103354"/>
          </a:xfrm>
          <a:prstGeom prst="rect">
            <a:avLst/>
          </a:prstGeom>
          <a:solidFill>
            <a:srgbClr val="D4AF37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7456170" y="4953408"/>
            <a:ext cx="48196" cy="60142"/>
          </a:xfrm>
          <a:prstGeom prst="rect">
            <a:avLst/>
          </a:prstGeom>
          <a:solidFill>
            <a:srgbClr val="D4AF37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7543800" y="4953408"/>
            <a:ext cx="48196" cy="60142"/>
          </a:xfrm>
          <a:prstGeom prst="rect">
            <a:avLst/>
          </a:prstGeom>
          <a:solidFill>
            <a:srgbClr val="D4AF37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7631430" y="4931802"/>
            <a:ext cx="48196" cy="103354"/>
          </a:xfrm>
          <a:prstGeom prst="rect">
            <a:avLst/>
          </a:prstGeom>
          <a:solidFill>
            <a:srgbClr val="D4AF37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7719060" y="4935338"/>
            <a:ext cx="48196" cy="96282"/>
          </a:xfrm>
          <a:prstGeom prst="rect">
            <a:avLst/>
          </a:prstGeom>
          <a:solidFill>
            <a:srgbClr val="D4AF37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7806690" y="4959907"/>
            <a:ext cx="48196" cy="47145"/>
          </a:xfrm>
          <a:prstGeom prst="rect">
            <a:avLst/>
          </a:prstGeom>
          <a:solidFill>
            <a:srgbClr val="D4AF37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7894320" y="4952297"/>
            <a:ext cx="48196" cy="62365"/>
          </a:xfrm>
          <a:prstGeom prst="rect">
            <a:avLst/>
          </a:prstGeom>
          <a:solidFill>
            <a:srgbClr val="D4AF37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7981949" y="4940320"/>
            <a:ext cx="48196" cy="86318"/>
          </a:xfrm>
          <a:prstGeom prst="rect">
            <a:avLst/>
          </a:prstGeom>
          <a:solidFill>
            <a:srgbClr val="D4AF37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8069579" y="4948548"/>
            <a:ext cx="48196" cy="69862"/>
          </a:xfrm>
          <a:prstGeom prst="rect">
            <a:avLst/>
          </a:prstGeom>
          <a:solidFill>
            <a:srgbClr val="D4AF37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8157209" y="4966852"/>
            <a:ext cx="48196" cy="33254"/>
          </a:xfrm>
          <a:prstGeom prst="rect">
            <a:avLst/>
          </a:prstGeom>
          <a:solidFill>
            <a:srgbClr val="D4AF37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8244839" y="4959418"/>
            <a:ext cx="48196" cy="48123"/>
          </a:xfrm>
          <a:prstGeom prst="rect">
            <a:avLst/>
          </a:prstGeom>
          <a:solidFill>
            <a:srgbClr val="D4AF37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8332469" y="4958688"/>
            <a:ext cx="48196" cy="49583"/>
          </a:xfrm>
          <a:prstGeom prst="rect">
            <a:avLst/>
          </a:prstGeom>
          <a:solidFill>
            <a:srgbClr val="D4AF37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8420099" y="4965669"/>
            <a:ext cx="48196" cy="35621"/>
          </a:xfrm>
          <a:prstGeom prst="rect">
            <a:avLst/>
          </a:prstGeom>
          <a:solidFill>
            <a:srgbClr val="D4AF37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8507730" y="4969764"/>
            <a:ext cx="48196" cy="27432"/>
          </a:xfrm>
          <a:prstGeom prst="rect">
            <a:avLst/>
          </a:prstGeom>
          <a:solidFill>
            <a:srgbClr val="D4AF37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ounded Rectangle 117"/>
          <p:cNvSpPr/>
          <p:nvPr/>
        </p:nvSpPr>
        <p:spPr>
          <a:xfrm>
            <a:off x="9006839" y="2377440"/>
            <a:ext cx="2651760" cy="2926080"/>
          </a:xfrm>
          <a:prstGeom prst="roundRect">
            <a:avLst>
              <a:gd name="adj" fmla="val 6000"/>
            </a:avLst>
          </a:prstGeom>
          <a:solidFill>
            <a:srgbClr val="1C1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9006839" y="2377440"/>
            <a:ext cx="2651760" cy="54864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9281159" y="2606040"/>
            <a:ext cx="1828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D4AF37"/>
                </a:solidFill>
                <a:latin typeface="Georgia" panose="02040502050405020303"/>
                <a:cs typeface="微软雅黑" panose="020B0503020204020204" charset="-122"/>
              </a:rPr>
              <a:t>04</a:t>
            </a:r>
            <a:endParaRPr sz="2200" b="1" i="0">
              <a:solidFill>
                <a:srgbClr val="D4AF37"/>
              </a:solidFill>
              <a:latin typeface="Georgia" panose="02040502050405020303"/>
              <a:cs typeface="微软雅黑" panose="020B0503020204020204" charset="-122"/>
            </a:endParaRPr>
          </a:p>
        </p:txBody>
      </p:sp>
      <p:sp>
        <p:nvSpPr>
          <p:cNvPr id="121" name="TextBox 120"/>
          <p:cNvSpPr txBox="1"/>
          <p:nvPr/>
        </p:nvSpPr>
        <p:spPr>
          <a:xfrm>
            <a:off x="9281159" y="3063240"/>
            <a:ext cx="21031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F5F1E8"/>
                </a:solidFill>
                <a:latin typeface="微软雅黑" panose="020B0503020204020204" charset="-122"/>
                <a:cs typeface="微软雅黑" panose="020B0503020204020204" charset="-122"/>
              </a:rPr>
              <a:t>人才短缺</a:t>
            </a:r>
            <a:endParaRPr sz="1700" b="1" i="0">
              <a:solidFill>
                <a:srgbClr val="F5F1E8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2" name="Rectangle 121"/>
          <p:cNvSpPr/>
          <p:nvPr/>
        </p:nvSpPr>
        <p:spPr>
          <a:xfrm>
            <a:off x="9281159" y="3566160"/>
            <a:ext cx="365760" cy="27432"/>
          </a:xfrm>
          <a:prstGeom prst="rect">
            <a:avLst/>
          </a:prstGeom>
          <a:solidFill>
            <a:srgbClr val="B87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9281159" y="3749039"/>
            <a:ext cx="210312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E6E6E6"/>
                </a:solidFill>
                <a:latin typeface="微软雅黑" panose="020B0503020204020204" charset="-122"/>
                <a:cs typeface="微软雅黑" panose="020B0503020204020204" charset="-122"/>
              </a:rPr>
              <a:t>复合型人才稀缺，懂业务又懂技术的人一将难求。</a:t>
            </a:r>
            <a:endParaRPr sz="1100" b="0" i="0">
              <a:solidFill>
                <a:srgbClr val="E6E6E6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4" name="Rectangle 123"/>
          <p:cNvSpPr/>
          <p:nvPr/>
        </p:nvSpPr>
        <p:spPr>
          <a:xfrm>
            <a:off x="9281159" y="4969764"/>
            <a:ext cx="48196" cy="27432"/>
          </a:xfrm>
          <a:prstGeom prst="rect">
            <a:avLst/>
          </a:prstGeom>
          <a:solidFill>
            <a:srgbClr val="D4AF37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Rectangle 124"/>
          <p:cNvSpPr/>
          <p:nvPr/>
        </p:nvSpPr>
        <p:spPr>
          <a:xfrm>
            <a:off x="9368789" y="4965669"/>
            <a:ext cx="48196" cy="35621"/>
          </a:xfrm>
          <a:prstGeom prst="rect">
            <a:avLst/>
          </a:prstGeom>
          <a:solidFill>
            <a:srgbClr val="D4AF37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Rectangle 125"/>
          <p:cNvSpPr/>
          <p:nvPr/>
        </p:nvSpPr>
        <p:spPr>
          <a:xfrm>
            <a:off x="9456419" y="4958688"/>
            <a:ext cx="48196" cy="49583"/>
          </a:xfrm>
          <a:prstGeom prst="rect">
            <a:avLst/>
          </a:prstGeom>
          <a:solidFill>
            <a:srgbClr val="D4AF37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Rectangle 126"/>
          <p:cNvSpPr/>
          <p:nvPr/>
        </p:nvSpPr>
        <p:spPr>
          <a:xfrm>
            <a:off x="9544049" y="4959418"/>
            <a:ext cx="48196" cy="48123"/>
          </a:xfrm>
          <a:prstGeom prst="rect">
            <a:avLst/>
          </a:prstGeom>
          <a:solidFill>
            <a:srgbClr val="D4AF37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ectangle 127"/>
          <p:cNvSpPr/>
          <p:nvPr/>
        </p:nvSpPr>
        <p:spPr>
          <a:xfrm>
            <a:off x="9631679" y="4966852"/>
            <a:ext cx="48196" cy="33254"/>
          </a:xfrm>
          <a:prstGeom prst="rect">
            <a:avLst/>
          </a:prstGeom>
          <a:solidFill>
            <a:srgbClr val="D4AF37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Rectangle 128"/>
          <p:cNvSpPr/>
          <p:nvPr/>
        </p:nvSpPr>
        <p:spPr>
          <a:xfrm>
            <a:off x="9719309" y="4948548"/>
            <a:ext cx="48196" cy="69862"/>
          </a:xfrm>
          <a:prstGeom prst="rect">
            <a:avLst/>
          </a:prstGeom>
          <a:solidFill>
            <a:srgbClr val="D4AF37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Rectangle 129"/>
          <p:cNvSpPr/>
          <p:nvPr/>
        </p:nvSpPr>
        <p:spPr>
          <a:xfrm>
            <a:off x="9806939" y="4940320"/>
            <a:ext cx="48196" cy="86318"/>
          </a:xfrm>
          <a:prstGeom prst="rect">
            <a:avLst/>
          </a:prstGeom>
          <a:solidFill>
            <a:srgbClr val="D4AF37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Rectangle 130"/>
          <p:cNvSpPr/>
          <p:nvPr/>
        </p:nvSpPr>
        <p:spPr>
          <a:xfrm>
            <a:off x="9894569" y="4952297"/>
            <a:ext cx="48196" cy="62365"/>
          </a:xfrm>
          <a:prstGeom prst="rect">
            <a:avLst/>
          </a:prstGeom>
          <a:solidFill>
            <a:srgbClr val="D4AF37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Rectangle 131"/>
          <p:cNvSpPr/>
          <p:nvPr/>
        </p:nvSpPr>
        <p:spPr>
          <a:xfrm>
            <a:off x="9982199" y="4959907"/>
            <a:ext cx="48196" cy="47145"/>
          </a:xfrm>
          <a:prstGeom prst="rect">
            <a:avLst/>
          </a:prstGeom>
          <a:solidFill>
            <a:srgbClr val="D4AF37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Rectangle 132"/>
          <p:cNvSpPr/>
          <p:nvPr/>
        </p:nvSpPr>
        <p:spPr>
          <a:xfrm>
            <a:off x="10069829" y="4935338"/>
            <a:ext cx="48196" cy="96282"/>
          </a:xfrm>
          <a:prstGeom prst="rect">
            <a:avLst/>
          </a:prstGeom>
          <a:solidFill>
            <a:srgbClr val="D4AF37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Rectangle 133"/>
          <p:cNvSpPr/>
          <p:nvPr/>
        </p:nvSpPr>
        <p:spPr>
          <a:xfrm>
            <a:off x="10157459" y="4931802"/>
            <a:ext cx="48196" cy="103354"/>
          </a:xfrm>
          <a:prstGeom prst="rect">
            <a:avLst/>
          </a:prstGeom>
          <a:solidFill>
            <a:srgbClr val="D4AF37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Rectangle 134"/>
          <p:cNvSpPr/>
          <p:nvPr/>
        </p:nvSpPr>
        <p:spPr>
          <a:xfrm>
            <a:off x="10245089" y="4953408"/>
            <a:ext cx="48196" cy="60142"/>
          </a:xfrm>
          <a:prstGeom prst="rect">
            <a:avLst/>
          </a:prstGeom>
          <a:solidFill>
            <a:srgbClr val="D4AF37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Rectangle 135"/>
          <p:cNvSpPr/>
          <p:nvPr/>
        </p:nvSpPr>
        <p:spPr>
          <a:xfrm>
            <a:off x="10332719" y="4953408"/>
            <a:ext cx="48196" cy="60142"/>
          </a:xfrm>
          <a:prstGeom prst="rect">
            <a:avLst/>
          </a:prstGeom>
          <a:solidFill>
            <a:srgbClr val="D4AF37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Rectangle 136"/>
          <p:cNvSpPr/>
          <p:nvPr/>
        </p:nvSpPr>
        <p:spPr>
          <a:xfrm>
            <a:off x="10420349" y="4931802"/>
            <a:ext cx="48196" cy="103354"/>
          </a:xfrm>
          <a:prstGeom prst="rect">
            <a:avLst/>
          </a:prstGeom>
          <a:solidFill>
            <a:srgbClr val="D4AF37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Rectangle 137"/>
          <p:cNvSpPr/>
          <p:nvPr/>
        </p:nvSpPr>
        <p:spPr>
          <a:xfrm>
            <a:off x="10507979" y="4935338"/>
            <a:ext cx="48196" cy="96282"/>
          </a:xfrm>
          <a:prstGeom prst="rect">
            <a:avLst/>
          </a:prstGeom>
          <a:solidFill>
            <a:srgbClr val="D4AF37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Rectangle 138"/>
          <p:cNvSpPr/>
          <p:nvPr/>
        </p:nvSpPr>
        <p:spPr>
          <a:xfrm>
            <a:off x="10595609" y="4959907"/>
            <a:ext cx="48196" cy="47145"/>
          </a:xfrm>
          <a:prstGeom prst="rect">
            <a:avLst/>
          </a:prstGeom>
          <a:solidFill>
            <a:srgbClr val="D4AF37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Rectangle 139"/>
          <p:cNvSpPr/>
          <p:nvPr/>
        </p:nvSpPr>
        <p:spPr>
          <a:xfrm>
            <a:off x="10683239" y="4952297"/>
            <a:ext cx="48196" cy="62365"/>
          </a:xfrm>
          <a:prstGeom prst="rect">
            <a:avLst/>
          </a:prstGeom>
          <a:solidFill>
            <a:srgbClr val="D4AF37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Rectangle 140"/>
          <p:cNvSpPr/>
          <p:nvPr/>
        </p:nvSpPr>
        <p:spPr>
          <a:xfrm>
            <a:off x="10770869" y="4940320"/>
            <a:ext cx="48196" cy="86318"/>
          </a:xfrm>
          <a:prstGeom prst="rect">
            <a:avLst/>
          </a:prstGeom>
          <a:solidFill>
            <a:srgbClr val="D4AF37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Rectangle 141"/>
          <p:cNvSpPr/>
          <p:nvPr/>
        </p:nvSpPr>
        <p:spPr>
          <a:xfrm>
            <a:off x="10858499" y="4948548"/>
            <a:ext cx="48196" cy="69862"/>
          </a:xfrm>
          <a:prstGeom prst="rect">
            <a:avLst/>
          </a:prstGeom>
          <a:solidFill>
            <a:srgbClr val="D4AF37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Rectangle 142"/>
          <p:cNvSpPr/>
          <p:nvPr/>
        </p:nvSpPr>
        <p:spPr>
          <a:xfrm>
            <a:off x="10946129" y="4966852"/>
            <a:ext cx="48196" cy="33254"/>
          </a:xfrm>
          <a:prstGeom prst="rect">
            <a:avLst/>
          </a:prstGeom>
          <a:solidFill>
            <a:srgbClr val="D4AF37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Rectangle 143"/>
          <p:cNvSpPr/>
          <p:nvPr/>
        </p:nvSpPr>
        <p:spPr>
          <a:xfrm>
            <a:off x="11033759" y="4959418"/>
            <a:ext cx="48196" cy="48123"/>
          </a:xfrm>
          <a:prstGeom prst="rect">
            <a:avLst/>
          </a:prstGeom>
          <a:solidFill>
            <a:srgbClr val="D4AF37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Rectangle 144"/>
          <p:cNvSpPr/>
          <p:nvPr/>
        </p:nvSpPr>
        <p:spPr>
          <a:xfrm>
            <a:off x="11121389" y="4958688"/>
            <a:ext cx="48196" cy="49583"/>
          </a:xfrm>
          <a:prstGeom prst="rect">
            <a:avLst/>
          </a:prstGeom>
          <a:solidFill>
            <a:srgbClr val="D4AF37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Rectangle 145"/>
          <p:cNvSpPr/>
          <p:nvPr/>
        </p:nvSpPr>
        <p:spPr>
          <a:xfrm>
            <a:off x="11209019" y="4965669"/>
            <a:ext cx="48196" cy="35621"/>
          </a:xfrm>
          <a:prstGeom prst="rect">
            <a:avLst/>
          </a:prstGeom>
          <a:solidFill>
            <a:srgbClr val="D4AF37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Rectangle 146"/>
          <p:cNvSpPr/>
          <p:nvPr/>
        </p:nvSpPr>
        <p:spPr>
          <a:xfrm>
            <a:off x="11296649" y="4969764"/>
            <a:ext cx="48196" cy="27432"/>
          </a:xfrm>
          <a:prstGeom prst="rect">
            <a:avLst/>
          </a:prstGeom>
          <a:solidFill>
            <a:srgbClr val="D4AF37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Rounded Rectangle 147"/>
          <p:cNvSpPr/>
          <p:nvPr/>
        </p:nvSpPr>
        <p:spPr>
          <a:xfrm>
            <a:off x="640080" y="5532120"/>
            <a:ext cx="10911535" cy="502920"/>
          </a:xfrm>
          <a:prstGeom prst="roundRect">
            <a:avLst>
              <a:gd name="adj" fmla="val 20000"/>
            </a:avLst>
          </a:prstGeom>
          <a:solidFill>
            <a:srgbClr val="1414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TextBox 148"/>
          <p:cNvSpPr txBox="1"/>
          <p:nvPr/>
        </p:nvSpPr>
        <p:spPr>
          <a:xfrm>
            <a:off x="914400" y="5596128"/>
            <a:ext cx="10362895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D4AF37"/>
                </a:solidFill>
                <a:latin typeface="微软雅黑" panose="020B0503020204020204" charset="-122"/>
                <a:cs typeface="微软雅黑" panose="020B0503020204020204" charset="-122"/>
              </a:rPr>
              <a:t>本质：</a:t>
            </a:r>
            <a:r>
              <a:rPr sz="1200" b="0" i="0">
                <a:solidFill>
                  <a:srgbClr val="E6E6E6"/>
                </a:solidFill>
                <a:latin typeface="微软雅黑" panose="020B0503020204020204" charset="-122"/>
                <a:cs typeface="微软雅黑" panose="020B0503020204020204" charset="-122"/>
              </a:rPr>
              <a:t>企业需要的不是更多工具，而是一套能 </a:t>
            </a:r>
            <a:r>
              <a:rPr sz="1200" b="1" i="0">
                <a:solidFill>
                  <a:srgbClr val="E8C85A"/>
                </a:solidFill>
                <a:latin typeface="微软雅黑" panose="020B0503020204020204" charset="-122"/>
                <a:cs typeface="微软雅黑" panose="020B0503020204020204" charset="-122"/>
              </a:rPr>
              <a:t>真正落地</a:t>
            </a:r>
            <a:r>
              <a:rPr sz="1200" b="0" i="0">
                <a:solidFill>
                  <a:srgbClr val="E6E6E6"/>
                </a:solidFill>
                <a:latin typeface="微软雅黑" panose="020B0503020204020204" charset="-122"/>
                <a:cs typeface="微软雅黑" panose="020B0503020204020204" charset="-122"/>
              </a:rPr>
              <a:t> 的智能生产力。</a:t>
            </a:r>
            <a:endParaRPr sz="1200" b="0" i="0">
              <a:solidFill>
                <a:srgbClr val="E6E6E6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E8C85A"/>
                </a:solidFill>
                <a:latin typeface="Georgia" panose="02040502050405020303"/>
                <a:cs typeface="微软雅黑" panose="020B0503020204020204" charset="-122"/>
              </a:rPr>
              <a:t>02  ·  AI CAPABILITIES</a:t>
            </a:r>
            <a:endParaRPr sz="1100" b="0" i="1">
              <a:solidFill>
                <a:srgbClr val="E8C85A"/>
              </a:solidFill>
              <a:latin typeface="Georgia" panose="02040502050405020303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0584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F5F1E8"/>
                </a:solidFill>
                <a:latin typeface="微软雅黑" panose="020B0503020204020204" charset="-122"/>
                <a:cs typeface="微软雅黑" panose="020B0503020204020204" charset="-122"/>
              </a:rPr>
              <a:t>AI 的核心能力图谱</a:t>
            </a:r>
            <a:endParaRPr sz="3000" b="1" i="0">
              <a:solidFill>
                <a:srgbClr val="F5F1E8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58368" y="1481328"/>
            <a:ext cx="548640" cy="54864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265615" y="834390"/>
            <a:ext cx="60350" cy="262890"/>
          </a:xfrm>
          <a:prstGeom prst="rect">
            <a:avLst/>
          </a:prstGeom>
          <a:solidFill>
            <a:srgbClr val="D4AF37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366199" y="1023476"/>
            <a:ext cx="60350" cy="73803"/>
          </a:xfrm>
          <a:prstGeom prst="rect">
            <a:avLst/>
          </a:prstGeom>
          <a:solidFill>
            <a:srgbClr val="D4AF37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466783" y="799298"/>
            <a:ext cx="60350" cy="297981"/>
          </a:xfrm>
          <a:prstGeom prst="rect">
            <a:avLst/>
          </a:prstGeom>
          <a:solidFill>
            <a:srgbClr val="D4AF37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567367" y="656494"/>
            <a:ext cx="60350" cy="440785"/>
          </a:xfrm>
          <a:prstGeom prst="rect">
            <a:avLst/>
          </a:prstGeom>
          <a:solidFill>
            <a:srgbClr val="D4AF37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667951" y="903419"/>
            <a:ext cx="60350" cy="193860"/>
          </a:xfrm>
          <a:prstGeom prst="rect">
            <a:avLst/>
          </a:prstGeom>
          <a:solidFill>
            <a:srgbClr val="D4AF37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768535" y="995244"/>
            <a:ext cx="60350" cy="102035"/>
          </a:xfrm>
          <a:prstGeom prst="rect">
            <a:avLst/>
          </a:prstGeom>
          <a:solidFill>
            <a:srgbClr val="D4AF37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869119" y="733693"/>
            <a:ext cx="60350" cy="363586"/>
          </a:xfrm>
          <a:prstGeom prst="rect">
            <a:avLst/>
          </a:prstGeom>
          <a:solidFill>
            <a:srgbClr val="D4AF37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969703" y="695865"/>
            <a:ext cx="60350" cy="401414"/>
          </a:xfrm>
          <a:prstGeom prst="rect">
            <a:avLst/>
          </a:prstGeom>
          <a:solidFill>
            <a:srgbClr val="D4AF37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070287" y="963443"/>
            <a:ext cx="60350" cy="133836"/>
          </a:xfrm>
          <a:prstGeom prst="rect">
            <a:avLst/>
          </a:prstGeom>
          <a:solidFill>
            <a:srgbClr val="D4AF37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170871" y="946028"/>
            <a:ext cx="60350" cy="151251"/>
          </a:xfrm>
          <a:prstGeom prst="rect">
            <a:avLst/>
          </a:prstGeom>
          <a:solidFill>
            <a:srgbClr val="D4AF37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271455" y="681224"/>
            <a:ext cx="60350" cy="416055"/>
          </a:xfrm>
          <a:prstGeom prst="rect">
            <a:avLst/>
          </a:prstGeom>
          <a:solidFill>
            <a:srgbClr val="D4AF37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0372039" y="753309"/>
            <a:ext cx="60350" cy="343970"/>
          </a:xfrm>
          <a:prstGeom prst="rect">
            <a:avLst/>
          </a:prstGeom>
          <a:solidFill>
            <a:srgbClr val="D4AF37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0472623" y="1006630"/>
            <a:ext cx="60350" cy="90649"/>
          </a:xfrm>
          <a:prstGeom prst="rect">
            <a:avLst/>
          </a:prstGeom>
          <a:solidFill>
            <a:srgbClr val="D4AF37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0573207" y="882246"/>
            <a:ext cx="60350" cy="215033"/>
          </a:xfrm>
          <a:prstGeom prst="rect">
            <a:avLst/>
          </a:prstGeom>
          <a:solidFill>
            <a:srgbClr val="D4AF37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0673791" y="648738"/>
            <a:ext cx="60350" cy="448541"/>
          </a:xfrm>
          <a:prstGeom prst="rect">
            <a:avLst/>
          </a:prstGeom>
          <a:solidFill>
            <a:srgbClr val="D4AF37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0774375" y="821330"/>
            <a:ext cx="60350" cy="275949"/>
          </a:xfrm>
          <a:prstGeom prst="rect">
            <a:avLst/>
          </a:prstGeom>
          <a:solidFill>
            <a:srgbClr val="D4AF37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0874959" y="1027347"/>
            <a:ext cx="60350" cy="69932"/>
          </a:xfrm>
          <a:prstGeom prst="rect">
            <a:avLst/>
          </a:prstGeom>
          <a:solidFill>
            <a:srgbClr val="D4AF37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0975543" y="867043"/>
            <a:ext cx="60350" cy="230236"/>
          </a:xfrm>
          <a:prstGeom prst="rect">
            <a:avLst/>
          </a:prstGeom>
          <a:solidFill>
            <a:srgbClr val="D4AF37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1076127" y="640472"/>
            <a:ext cx="60350" cy="456807"/>
          </a:xfrm>
          <a:prstGeom prst="rect">
            <a:avLst/>
          </a:prstGeom>
          <a:solidFill>
            <a:srgbClr val="D4AF37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1176711" y="836865"/>
            <a:ext cx="60350" cy="260414"/>
          </a:xfrm>
          <a:prstGeom prst="rect">
            <a:avLst/>
          </a:prstGeom>
          <a:solidFill>
            <a:srgbClr val="D4AF37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9A9AA8"/>
                </a:solidFill>
                <a:latin typeface="微软雅黑" panose="020B0503020204020204" charset="-122"/>
                <a:cs typeface="微软雅黑" panose="020B0503020204020204" charset="-122"/>
              </a:rPr>
              <a:t>刘肯  ·  北京幻道科技</a:t>
            </a:r>
            <a:endParaRPr sz="900" b="0" i="0">
              <a:solidFill>
                <a:srgbClr val="9A9AA8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9905695" y="6446520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9A9AA8"/>
                </a:solidFill>
                <a:latin typeface="Georgia" panose="02040502050405020303"/>
                <a:cs typeface="微软雅黑" panose="020B0503020204020204" charset="-122"/>
              </a:rPr>
              <a:t>04 / 12</a:t>
            </a:r>
            <a:endParaRPr sz="900" b="0" i="0">
              <a:solidFill>
                <a:srgbClr val="9A9AA8"/>
              </a:solidFill>
              <a:latin typeface="Georgia" panose="02040502050405020303"/>
              <a:cs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640080" y="169164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9A9AA8"/>
                </a:solidFill>
                <a:latin typeface="微软雅黑" panose="020B0503020204020204" charset="-122"/>
                <a:cs typeface="微软雅黑" panose="020B0503020204020204" charset="-122"/>
              </a:rPr>
              <a:t>AI 已从「单点工具」进化为「端到端能力栈」，覆盖感知、认知、生成与行动。</a:t>
            </a:r>
            <a:endParaRPr sz="1300" b="0" i="1">
              <a:solidFill>
                <a:srgbClr val="9A9AA8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640080" y="2240280"/>
            <a:ext cx="3520440" cy="1554480"/>
          </a:xfrm>
          <a:prstGeom prst="roundRect">
            <a:avLst>
              <a:gd name="adj" fmla="val 8000"/>
            </a:avLst>
          </a:prstGeom>
          <a:solidFill>
            <a:srgbClr val="1C1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868680" y="2514600"/>
            <a:ext cx="640080" cy="640080"/>
          </a:xfrm>
          <a:prstGeom prst="ellipse">
            <a:avLst/>
          </a:prstGeom>
          <a:solidFill>
            <a:srgbClr val="14141C"/>
          </a:solidFill>
          <a:ln w="12700">
            <a:solidFill>
              <a:srgbClr val="D4A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68680" y="2532888"/>
            <a:ext cx="64008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0" i="0">
                <a:solidFill>
                  <a:srgbClr val="D4AF37"/>
                </a:solidFill>
                <a:latin typeface="Georgia" panose="02040502050405020303"/>
                <a:cs typeface="微软雅黑" panose="020B0503020204020204" charset="-122"/>
              </a:rPr>
              <a:t>♪</a:t>
            </a:r>
            <a:endParaRPr sz="2200" b="0" i="0">
              <a:solidFill>
                <a:srgbClr val="D4AF37"/>
              </a:solidFill>
              <a:latin typeface="Georgia" panose="02040502050405020303"/>
              <a:cs typeface="微软雅黑" panose="020B0503020204020204" charset="-122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1645920" y="2496312"/>
            <a:ext cx="2331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F5F1E8"/>
                </a:solidFill>
                <a:latin typeface="微软雅黑" panose="020B0503020204020204" charset="-122"/>
                <a:cs typeface="微软雅黑" panose="020B0503020204020204" charset="-122"/>
              </a:rPr>
              <a:t>语言理解</a:t>
            </a:r>
            <a:endParaRPr sz="1500" b="1" i="0">
              <a:solidFill>
                <a:srgbClr val="F5F1E8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1645920" y="2807208"/>
            <a:ext cx="2331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1">
                <a:solidFill>
                  <a:srgbClr val="E8C85A"/>
                </a:solidFill>
                <a:latin typeface="Georgia" panose="02040502050405020303"/>
                <a:cs typeface="微软雅黑" panose="020B0503020204020204" charset="-122"/>
              </a:rPr>
              <a:t>Language</a:t>
            </a:r>
            <a:endParaRPr sz="900" b="0" i="1">
              <a:solidFill>
                <a:srgbClr val="E8C85A"/>
              </a:solidFill>
              <a:latin typeface="Georgia" panose="02040502050405020303"/>
              <a:cs typeface="微软雅黑" panose="020B0503020204020204" charset="-122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1645920" y="3108960"/>
            <a:ext cx="23317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E6E6E6"/>
                </a:solidFill>
                <a:latin typeface="微软雅黑" panose="020B0503020204020204" charset="-122"/>
                <a:cs typeface="微软雅黑" panose="020B0503020204020204" charset="-122"/>
              </a:rPr>
              <a:t>自然语言理解与多轮对话，解析业务意图。</a:t>
            </a:r>
            <a:endParaRPr sz="1050" b="0" i="0">
              <a:solidFill>
                <a:srgbClr val="E6E6E6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Rounded Rectangle 33"/>
          <p:cNvSpPr/>
          <p:nvPr/>
        </p:nvSpPr>
        <p:spPr>
          <a:xfrm>
            <a:off x="4325112" y="2240280"/>
            <a:ext cx="3520440" cy="1554480"/>
          </a:xfrm>
          <a:prstGeom prst="roundRect">
            <a:avLst>
              <a:gd name="adj" fmla="val 8000"/>
            </a:avLst>
          </a:prstGeom>
          <a:solidFill>
            <a:srgbClr val="1C1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4553712" y="2514600"/>
            <a:ext cx="640080" cy="640080"/>
          </a:xfrm>
          <a:prstGeom prst="ellipse">
            <a:avLst/>
          </a:prstGeom>
          <a:solidFill>
            <a:srgbClr val="14141C"/>
          </a:solidFill>
          <a:ln w="12700">
            <a:solidFill>
              <a:srgbClr val="D4A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53712" y="2532888"/>
            <a:ext cx="64008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0" i="0">
                <a:solidFill>
                  <a:srgbClr val="D4AF37"/>
                </a:solidFill>
                <a:latin typeface="Georgia" panose="02040502050405020303"/>
                <a:cs typeface="微软雅黑" panose="020B0503020204020204" charset="-122"/>
              </a:rPr>
              <a:t>♫</a:t>
            </a:r>
            <a:endParaRPr sz="2200" b="0" i="0">
              <a:solidFill>
                <a:srgbClr val="D4AF37"/>
              </a:solidFill>
              <a:latin typeface="Georgia" panose="02040502050405020303"/>
              <a:cs typeface="微软雅黑" panose="020B0503020204020204" charset="-122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5330952" y="2496312"/>
            <a:ext cx="2331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F5F1E8"/>
                </a:solidFill>
                <a:latin typeface="微软雅黑" panose="020B0503020204020204" charset="-122"/>
                <a:cs typeface="微软雅黑" panose="020B0503020204020204" charset="-122"/>
              </a:rPr>
              <a:t>知识推理</a:t>
            </a:r>
            <a:endParaRPr sz="1500" b="1" i="0">
              <a:solidFill>
                <a:srgbClr val="F5F1E8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5330952" y="2807208"/>
            <a:ext cx="2331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1">
                <a:solidFill>
                  <a:srgbClr val="E8C85A"/>
                </a:solidFill>
                <a:latin typeface="Georgia" panose="02040502050405020303"/>
                <a:cs typeface="微软雅黑" panose="020B0503020204020204" charset="-122"/>
              </a:rPr>
              <a:t>Reasoning</a:t>
            </a:r>
            <a:endParaRPr sz="900" b="0" i="1">
              <a:solidFill>
                <a:srgbClr val="E8C85A"/>
              </a:solidFill>
              <a:latin typeface="Georgia" panose="02040502050405020303"/>
              <a:cs typeface="微软雅黑" panose="020B0503020204020204" charset="-122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5330952" y="3108960"/>
            <a:ext cx="23317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E6E6E6"/>
                </a:solidFill>
                <a:latin typeface="微软雅黑" panose="020B0503020204020204" charset="-122"/>
                <a:cs typeface="微软雅黑" panose="020B0503020204020204" charset="-122"/>
              </a:rPr>
              <a:t>跨文档检索、逻辑推理与复杂任务拆解。</a:t>
            </a:r>
            <a:endParaRPr sz="1050" b="0" i="0">
              <a:solidFill>
                <a:srgbClr val="E6E6E6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" name="Rounded Rectangle 39"/>
          <p:cNvSpPr/>
          <p:nvPr/>
        </p:nvSpPr>
        <p:spPr>
          <a:xfrm>
            <a:off x="8010144" y="2240280"/>
            <a:ext cx="3520440" cy="1554480"/>
          </a:xfrm>
          <a:prstGeom prst="roundRect">
            <a:avLst>
              <a:gd name="adj" fmla="val 8000"/>
            </a:avLst>
          </a:prstGeom>
          <a:solidFill>
            <a:srgbClr val="1C1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8238744" y="2514600"/>
            <a:ext cx="640080" cy="640080"/>
          </a:xfrm>
          <a:prstGeom prst="ellipse">
            <a:avLst/>
          </a:prstGeom>
          <a:solidFill>
            <a:srgbClr val="14141C"/>
          </a:solidFill>
          <a:ln w="12700">
            <a:solidFill>
              <a:srgbClr val="D4A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238744" y="2532888"/>
            <a:ext cx="64008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0" i="0">
                <a:solidFill>
                  <a:srgbClr val="D4AF37"/>
                </a:solidFill>
                <a:latin typeface="Georgia" panose="02040502050405020303"/>
                <a:cs typeface="微软雅黑" panose="020B0503020204020204" charset="-122"/>
              </a:rPr>
              <a:t>♬</a:t>
            </a:r>
            <a:endParaRPr sz="2200" b="0" i="0">
              <a:solidFill>
                <a:srgbClr val="D4AF37"/>
              </a:solidFill>
              <a:latin typeface="Georgia" panose="02040502050405020303"/>
              <a:cs typeface="微软雅黑" panose="020B0503020204020204" charset="-122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9015984" y="2496312"/>
            <a:ext cx="2331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F5F1E8"/>
                </a:solidFill>
                <a:latin typeface="微软雅黑" panose="020B0503020204020204" charset="-122"/>
                <a:cs typeface="微软雅黑" panose="020B0503020204020204" charset="-122"/>
              </a:rPr>
              <a:t>内容生成</a:t>
            </a:r>
            <a:endParaRPr sz="1500" b="1" i="0">
              <a:solidFill>
                <a:srgbClr val="F5F1E8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9015984" y="2807208"/>
            <a:ext cx="2331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1">
                <a:solidFill>
                  <a:srgbClr val="E8C85A"/>
                </a:solidFill>
                <a:latin typeface="Georgia" panose="02040502050405020303"/>
                <a:cs typeface="微软雅黑" panose="020B0503020204020204" charset="-122"/>
              </a:rPr>
              <a:t>Generation</a:t>
            </a:r>
            <a:endParaRPr sz="900" b="0" i="1">
              <a:solidFill>
                <a:srgbClr val="E8C85A"/>
              </a:solidFill>
              <a:latin typeface="Georgia" panose="02040502050405020303"/>
              <a:cs typeface="微软雅黑" panose="020B0503020204020204" charset="-122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9015984" y="3108960"/>
            <a:ext cx="23317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E6E6E6"/>
                </a:solidFill>
                <a:latin typeface="微软雅黑" panose="020B0503020204020204" charset="-122"/>
                <a:cs typeface="微软雅黑" panose="020B0503020204020204" charset="-122"/>
              </a:rPr>
              <a:t>文本、代码、图像、报表的自动化生成。</a:t>
            </a:r>
            <a:endParaRPr sz="1050" b="0" i="0">
              <a:solidFill>
                <a:srgbClr val="E6E6E6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6" name="Rounded Rectangle 45"/>
          <p:cNvSpPr/>
          <p:nvPr/>
        </p:nvSpPr>
        <p:spPr>
          <a:xfrm>
            <a:off x="640080" y="3977639"/>
            <a:ext cx="3520440" cy="1554480"/>
          </a:xfrm>
          <a:prstGeom prst="roundRect">
            <a:avLst>
              <a:gd name="adj" fmla="val 8000"/>
            </a:avLst>
          </a:prstGeom>
          <a:solidFill>
            <a:srgbClr val="1C1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868680" y="4251959"/>
            <a:ext cx="640080" cy="640080"/>
          </a:xfrm>
          <a:prstGeom prst="ellipse">
            <a:avLst/>
          </a:prstGeom>
          <a:solidFill>
            <a:srgbClr val="14141C"/>
          </a:solidFill>
          <a:ln w="12700">
            <a:solidFill>
              <a:srgbClr val="D4A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68680" y="4270248"/>
            <a:ext cx="64008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0" i="0">
                <a:solidFill>
                  <a:srgbClr val="D4AF37"/>
                </a:solidFill>
                <a:latin typeface="Georgia" panose="02040502050405020303"/>
                <a:cs typeface="微软雅黑" panose="020B0503020204020204" charset="-122"/>
              </a:rPr>
              <a:t>♭</a:t>
            </a:r>
            <a:endParaRPr sz="2200" b="0" i="0">
              <a:solidFill>
                <a:srgbClr val="D4AF37"/>
              </a:solidFill>
              <a:latin typeface="Georgia" panose="02040502050405020303"/>
              <a:cs typeface="微软雅黑" panose="020B0503020204020204" charset="-122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1645920" y="4233672"/>
            <a:ext cx="2331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F5F1E8"/>
                </a:solidFill>
                <a:latin typeface="微软雅黑" panose="020B0503020204020204" charset="-122"/>
                <a:cs typeface="微软雅黑" panose="020B0503020204020204" charset="-122"/>
              </a:rPr>
              <a:t>数据分析</a:t>
            </a:r>
            <a:endParaRPr sz="1500" b="1" i="0">
              <a:solidFill>
                <a:srgbClr val="F5F1E8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1645920" y="4544568"/>
            <a:ext cx="2331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1">
                <a:solidFill>
                  <a:srgbClr val="E8C85A"/>
                </a:solidFill>
                <a:latin typeface="Georgia" panose="02040502050405020303"/>
                <a:cs typeface="微软雅黑" panose="020B0503020204020204" charset="-122"/>
              </a:rPr>
              <a:t>Analytics</a:t>
            </a:r>
            <a:endParaRPr sz="900" b="0" i="1">
              <a:solidFill>
                <a:srgbClr val="E8C85A"/>
              </a:solidFill>
              <a:latin typeface="Georgia" panose="02040502050405020303"/>
              <a:cs typeface="微软雅黑" panose="020B0503020204020204" charset="-122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1645920" y="4846320"/>
            <a:ext cx="23317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E6E6E6"/>
                </a:solidFill>
                <a:latin typeface="微软雅黑" panose="020B0503020204020204" charset="-122"/>
                <a:cs typeface="微软雅黑" panose="020B0503020204020204" charset="-122"/>
              </a:rPr>
              <a:t>结构化数据洞察、预测建模与决策建议。</a:t>
            </a:r>
            <a:endParaRPr sz="1050" b="0" i="0">
              <a:solidFill>
                <a:srgbClr val="E6E6E6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2" name="Rounded Rectangle 51"/>
          <p:cNvSpPr/>
          <p:nvPr/>
        </p:nvSpPr>
        <p:spPr>
          <a:xfrm>
            <a:off x="4325112" y="3977639"/>
            <a:ext cx="3520440" cy="1554480"/>
          </a:xfrm>
          <a:prstGeom prst="roundRect">
            <a:avLst>
              <a:gd name="adj" fmla="val 8000"/>
            </a:avLst>
          </a:prstGeom>
          <a:solidFill>
            <a:srgbClr val="1C1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4553712" y="4251959"/>
            <a:ext cx="640080" cy="640080"/>
          </a:xfrm>
          <a:prstGeom prst="ellipse">
            <a:avLst/>
          </a:prstGeom>
          <a:solidFill>
            <a:srgbClr val="14141C"/>
          </a:solidFill>
          <a:ln w="12700">
            <a:solidFill>
              <a:srgbClr val="D4A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553712" y="4270248"/>
            <a:ext cx="64008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0" i="0">
                <a:solidFill>
                  <a:srgbClr val="D4AF37"/>
                </a:solidFill>
                <a:latin typeface="Georgia" panose="02040502050405020303"/>
                <a:cs typeface="微软雅黑" panose="020B0503020204020204" charset="-122"/>
              </a:rPr>
              <a:t>♮</a:t>
            </a:r>
            <a:endParaRPr sz="2200" b="0" i="0">
              <a:solidFill>
                <a:srgbClr val="D4AF37"/>
              </a:solidFill>
              <a:latin typeface="Georgia" panose="02040502050405020303"/>
              <a:cs typeface="微软雅黑" panose="020B0503020204020204" charset="-122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5330952" y="4233672"/>
            <a:ext cx="2331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F5F1E8"/>
                </a:solidFill>
                <a:latin typeface="微软雅黑" panose="020B0503020204020204" charset="-122"/>
                <a:cs typeface="微软雅黑" panose="020B0503020204020204" charset="-122"/>
              </a:rPr>
              <a:t>流程自动化</a:t>
            </a:r>
            <a:endParaRPr sz="1500" b="1" i="0">
              <a:solidFill>
                <a:srgbClr val="F5F1E8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5330952" y="4544568"/>
            <a:ext cx="2331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1">
                <a:solidFill>
                  <a:srgbClr val="E8C85A"/>
                </a:solidFill>
                <a:latin typeface="Georgia" panose="02040502050405020303"/>
                <a:cs typeface="微软雅黑" panose="020B0503020204020204" charset="-122"/>
              </a:rPr>
              <a:t>Automation</a:t>
            </a:r>
            <a:endParaRPr sz="900" b="0" i="1">
              <a:solidFill>
                <a:srgbClr val="E8C85A"/>
              </a:solidFill>
              <a:latin typeface="Georgia" panose="02040502050405020303"/>
              <a:cs typeface="微软雅黑" panose="020B0503020204020204" charset="-122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5330952" y="4846320"/>
            <a:ext cx="23317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E6E6E6"/>
                </a:solidFill>
                <a:latin typeface="微软雅黑" panose="020B0503020204020204" charset="-122"/>
                <a:cs typeface="微软雅黑" panose="020B0503020204020204" charset="-122"/>
              </a:rPr>
              <a:t>连接系统、触发动作，端到端流程闭环。</a:t>
            </a:r>
            <a:endParaRPr sz="1050" b="0" i="0">
              <a:solidFill>
                <a:srgbClr val="E6E6E6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8" name="Rounded Rectangle 57"/>
          <p:cNvSpPr/>
          <p:nvPr/>
        </p:nvSpPr>
        <p:spPr>
          <a:xfrm>
            <a:off x="8010144" y="3977639"/>
            <a:ext cx="3520440" cy="1554480"/>
          </a:xfrm>
          <a:prstGeom prst="roundRect">
            <a:avLst>
              <a:gd name="adj" fmla="val 8000"/>
            </a:avLst>
          </a:prstGeom>
          <a:solidFill>
            <a:srgbClr val="1C1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8238744" y="4251959"/>
            <a:ext cx="640080" cy="640080"/>
          </a:xfrm>
          <a:prstGeom prst="ellipse">
            <a:avLst/>
          </a:prstGeom>
          <a:solidFill>
            <a:srgbClr val="14141C"/>
          </a:solidFill>
          <a:ln w="12700">
            <a:solidFill>
              <a:srgbClr val="D4A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238744" y="4270248"/>
            <a:ext cx="64008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0" i="0">
                <a:solidFill>
                  <a:srgbClr val="D4AF37"/>
                </a:solidFill>
                <a:latin typeface="Georgia" panose="02040502050405020303"/>
                <a:cs typeface="微软雅黑" panose="020B0503020204020204" charset="-122"/>
              </a:rPr>
              <a:t>♯</a:t>
            </a:r>
            <a:endParaRPr sz="2200" b="0" i="0">
              <a:solidFill>
                <a:srgbClr val="D4AF37"/>
              </a:solidFill>
              <a:latin typeface="Georgia" panose="02040502050405020303"/>
              <a:cs typeface="微软雅黑" panose="020B0503020204020204" charset="-122"/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9015984" y="4233672"/>
            <a:ext cx="2331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F5F1E8"/>
                </a:solidFill>
                <a:latin typeface="微软雅黑" panose="020B0503020204020204" charset="-122"/>
                <a:cs typeface="微软雅黑" panose="020B0503020204020204" charset="-122"/>
              </a:rPr>
              <a:t>多模态</a:t>
            </a:r>
            <a:endParaRPr sz="1500" b="1" i="0">
              <a:solidFill>
                <a:srgbClr val="F5F1E8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2" name="TextBox 61"/>
          <p:cNvSpPr txBox="1"/>
          <p:nvPr/>
        </p:nvSpPr>
        <p:spPr>
          <a:xfrm>
            <a:off x="9015984" y="4544568"/>
            <a:ext cx="2331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1">
                <a:solidFill>
                  <a:srgbClr val="E8C85A"/>
                </a:solidFill>
                <a:latin typeface="Georgia" panose="02040502050405020303"/>
                <a:cs typeface="微软雅黑" panose="020B0503020204020204" charset="-122"/>
              </a:rPr>
              <a:t>Multimodal</a:t>
            </a:r>
            <a:endParaRPr sz="900" b="0" i="1">
              <a:solidFill>
                <a:srgbClr val="E8C85A"/>
              </a:solidFill>
              <a:latin typeface="Georgia" panose="02040502050405020303"/>
              <a:cs typeface="微软雅黑" panose="020B0503020204020204" charset="-122"/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9015984" y="4846320"/>
            <a:ext cx="23317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E6E6E6"/>
                </a:solidFill>
                <a:latin typeface="微软雅黑" panose="020B0503020204020204" charset="-122"/>
                <a:cs typeface="微软雅黑" panose="020B0503020204020204" charset="-122"/>
              </a:rPr>
              <a:t>图、文、音、视频统一理解与跨模态生成。</a:t>
            </a:r>
            <a:endParaRPr sz="1050" b="0" i="0">
              <a:solidFill>
                <a:srgbClr val="E6E6E6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4" name="TextBox 63"/>
          <p:cNvSpPr txBox="1"/>
          <p:nvPr/>
        </p:nvSpPr>
        <p:spPr>
          <a:xfrm>
            <a:off x="640080" y="5623560"/>
            <a:ext cx="1091153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9A9AA8"/>
                </a:solidFill>
                <a:latin typeface="微软雅黑" panose="020B0503020204020204" charset="-122"/>
                <a:cs typeface="微软雅黑" panose="020B0503020204020204" charset="-122"/>
              </a:rPr>
              <a:t>能力已就绪——</a:t>
            </a:r>
            <a:r>
              <a:rPr sz="1200" b="1" i="0">
                <a:solidFill>
                  <a:srgbClr val="D4AF37"/>
                </a:solidFill>
                <a:latin typeface="微软雅黑" panose="020B0503020204020204" charset="-122"/>
                <a:cs typeface="微软雅黑" panose="020B0503020204020204" charset="-122"/>
              </a:rPr>
              <a:t>关键在于如何让能力「流」进业务场景。</a:t>
            </a:r>
            <a:endParaRPr sz="1200" b="1" i="0">
              <a:solidFill>
                <a:srgbClr val="D4AF37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E8C85A"/>
                </a:solidFill>
                <a:latin typeface="Georgia" panose="02040502050405020303"/>
                <a:cs typeface="微软雅黑" panose="020B0503020204020204" charset="-122"/>
              </a:rPr>
              <a:t>02-A  ·  VALUE CHAIN</a:t>
            </a:r>
            <a:endParaRPr sz="1100" b="0" i="1">
              <a:solidFill>
                <a:srgbClr val="E8C85A"/>
              </a:solidFill>
              <a:latin typeface="Georgia" panose="02040502050405020303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0584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F5F1E8"/>
                </a:solidFill>
                <a:latin typeface="微软雅黑" panose="020B0503020204020204" charset="-122"/>
                <a:cs typeface="微软雅黑" panose="020B0503020204020204" charset="-122"/>
              </a:rPr>
              <a:t>AI 企业应用全景 — 按价值链</a:t>
            </a:r>
            <a:endParaRPr sz="3000" b="1" i="0">
              <a:solidFill>
                <a:srgbClr val="F5F1E8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58368" y="1481328"/>
            <a:ext cx="548640" cy="54864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265615" y="834390"/>
            <a:ext cx="60350" cy="262890"/>
          </a:xfrm>
          <a:prstGeom prst="rect">
            <a:avLst/>
          </a:prstGeom>
          <a:solidFill>
            <a:srgbClr val="D4AF37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366199" y="1023476"/>
            <a:ext cx="60350" cy="73803"/>
          </a:xfrm>
          <a:prstGeom prst="rect">
            <a:avLst/>
          </a:prstGeom>
          <a:solidFill>
            <a:srgbClr val="D4AF37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466783" y="799298"/>
            <a:ext cx="60350" cy="297981"/>
          </a:xfrm>
          <a:prstGeom prst="rect">
            <a:avLst/>
          </a:prstGeom>
          <a:solidFill>
            <a:srgbClr val="D4AF37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567367" y="656494"/>
            <a:ext cx="60350" cy="440785"/>
          </a:xfrm>
          <a:prstGeom prst="rect">
            <a:avLst/>
          </a:prstGeom>
          <a:solidFill>
            <a:srgbClr val="D4AF37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667951" y="903419"/>
            <a:ext cx="60350" cy="193860"/>
          </a:xfrm>
          <a:prstGeom prst="rect">
            <a:avLst/>
          </a:prstGeom>
          <a:solidFill>
            <a:srgbClr val="D4AF37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768535" y="995244"/>
            <a:ext cx="60350" cy="102035"/>
          </a:xfrm>
          <a:prstGeom prst="rect">
            <a:avLst/>
          </a:prstGeom>
          <a:solidFill>
            <a:srgbClr val="D4AF37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869119" y="733693"/>
            <a:ext cx="60350" cy="363586"/>
          </a:xfrm>
          <a:prstGeom prst="rect">
            <a:avLst/>
          </a:prstGeom>
          <a:solidFill>
            <a:srgbClr val="D4AF37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969703" y="695865"/>
            <a:ext cx="60350" cy="401414"/>
          </a:xfrm>
          <a:prstGeom prst="rect">
            <a:avLst/>
          </a:prstGeom>
          <a:solidFill>
            <a:srgbClr val="D4AF37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070287" y="963443"/>
            <a:ext cx="60350" cy="133836"/>
          </a:xfrm>
          <a:prstGeom prst="rect">
            <a:avLst/>
          </a:prstGeom>
          <a:solidFill>
            <a:srgbClr val="D4AF37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170871" y="946028"/>
            <a:ext cx="60350" cy="151251"/>
          </a:xfrm>
          <a:prstGeom prst="rect">
            <a:avLst/>
          </a:prstGeom>
          <a:solidFill>
            <a:srgbClr val="D4AF37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271455" y="681224"/>
            <a:ext cx="60350" cy="416055"/>
          </a:xfrm>
          <a:prstGeom prst="rect">
            <a:avLst/>
          </a:prstGeom>
          <a:solidFill>
            <a:srgbClr val="D4AF37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0372039" y="753309"/>
            <a:ext cx="60350" cy="343970"/>
          </a:xfrm>
          <a:prstGeom prst="rect">
            <a:avLst/>
          </a:prstGeom>
          <a:solidFill>
            <a:srgbClr val="D4AF37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0472623" y="1006630"/>
            <a:ext cx="60350" cy="90649"/>
          </a:xfrm>
          <a:prstGeom prst="rect">
            <a:avLst/>
          </a:prstGeom>
          <a:solidFill>
            <a:srgbClr val="D4AF37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0573207" y="882246"/>
            <a:ext cx="60350" cy="215033"/>
          </a:xfrm>
          <a:prstGeom prst="rect">
            <a:avLst/>
          </a:prstGeom>
          <a:solidFill>
            <a:srgbClr val="D4AF37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0673791" y="648738"/>
            <a:ext cx="60350" cy="448541"/>
          </a:xfrm>
          <a:prstGeom prst="rect">
            <a:avLst/>
          </a:prstGeom>
          <a:solidFill>
            <a:srgbClr val="D4AF37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0774375" y="821330"/>
            <a:ext cx="60350" cy="275949"/>
          </a:xfrm>
          <a:prstGeom prst="rect">
            <a:avLst/>
          </a:prstGeom>
          <a:solidFill>
            <a:srgbClr val="D4AF37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0874959" y="1027347"/>
            <a:ext cx="60350" cy="69932"/>
          </a:xfrm>
          <a:prstGeom prst="rect">
            <a:avLst/>
          </a:prstGeom>
          <a:solidFill>
            <a:srgbClr val="D4AF37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0975543" y="867043"/>
            <a:ext cx="60350" cy="230236"/>
          </a:xfrm>
          <a:prstGeom prst="rect">
            <a:avLst/>
          </a:prstGeom>
          <a:solidFill>
            <a:srgbClr val="D4AF37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1076127" y="640472"/>
            <a:ext cx="60350" cy="456807"/>
          </a:xfrm>
          <a:prstGeom prst="rect">
            <a:avLst/>
          </a:prstGeom>
          <a:solidFill>
            <a:srgbClr val="D4AF37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1176711" y="836865"/>
            <a:ext cx="60350" cy="260414"/>
          </a:xfrm>
          <a:prstGeom prst="rect">
            <a:avLst/>
          </a:prstGeom>
          <a:solidFill>
            <a:srgbClr val="D4AF37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9A9AA8"/>
                </a:solidFill>
                <a:latin typeface="微软雅黑" panose="020B0503020204020204" charset="-122"/>
                <a:cs typeface="微软雅黑" panose="020B0503020204020204" charset="-122"/>
              </a:rPr>
              <a:t>刘肯  ·  北京幻道科技</a:t>
            </a:r>
            <a:endParaRPr sz="900" b="0" i="0">
              <a:solidFill>
                <a:srgbClr val="9A9AA8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9905695" y="6446520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9A9AA8"/>
                </a:solidFill>
                <a:latin typeface="Georgia" panose="02040502050405020303"/>
                <a:cs typeface="微软雅黑" panose="020B0503020204020204" charset="-122"/>
              </a:rPr>
              <a:t>05 / 12</a:t>
            </a:r>
            <a:endParaRPr sz="900" b="0" i="0">
              <a:solidFill>
                <a:srgbClr val="9A9AA8"/>
              </a:solidFill>
              <a:latin typeface="Georgia" panose="02040502050405020303"/>
              <a:cs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640080" y="169164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9A9AA8"/>
                </a:solidFill>
                <a:latin typeface="微软雅黑" panose="020B0503020204020204" charset="-122"/>
                <a:cs typeface="微软雅黑" panose="020B0503020204020204" charset="-122"/>
              </a:rPr>
              <a:t>从市场前端到研发后端，AI 已渗透企业价值链的每一个环节。</a:t>
            </a:r>
            <a:endParaRPr sz="1300" b="0" i="1">
              <a:solidFill>
                <a:srgbClr val="9A9AA8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640080" y="2194560"/>
            <a:ext cx="3657600" cy="2377440"/>
          </a:xfrm>
          <a:prstGeom prst="roundRect">
            <a:avLst>
              <a:gd name="adj" fmla="val 10000"/>
            </a:avLst>
          </a:prstGeom>
          <a:solidFill>
            <a:srgbClr val="1C1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40080" y="2194560"/>
            <a:ext cx="3657600" cy="54864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68680" y="2331720"/>
            <a:ext cx="3200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F5F1E8"/>
                </a:solidFill>
                <a:latin typeface="微软雅黑" panose="020B0503020204020204" charset="-122"/>
                <a:cs typeface="微软雅黑" panose="020B0503020204020204" charset="-122"/>
              </a:rPr>
              <a:t>市场与销售</a:t>
            </a:r>
            <a:endParaRPr sz="1600" b="1" i="0">
              <a:solidFill>
                <a:srgbClr val="F5F1E8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868680" y="2651760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1">
                <a:solidFill>
                  <a:srgbClr val="E8C85A"/>
                </a:solidFill>
                <a:latin typeface="Georgia" panose="02040502050405020303"/>
                <a:cs typeface="微软雅黑" panose="020B0503020204020204" charset="-122"/>
              </a:rPr>
              <a:t>Marketing &amp; Sales</a:t>
            </a:r>
            <a:endParaRPr sz="900" b="0" i="1">
              <a:solidFill>
                <a:srgbClr val="E8C85A"/>
              </a:solidFill>
              <a:latin typeface="Georgia" panose="02040502050405020303"/>
              <a:cs typeface="微软雅黑" panose="020B0503020204020204" charset="-122"/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868680" y="2926080"/>
            <a:ext cx="320040" cy="27432"/>
          </a:xfrm>
          <a:prstGeom prst="rect">
            <a:avLst/>
          </a:prstGeom>
          <a:solidFill>
            <a:srgbClr val="B87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68680" y="3017520"/>
            <a:ext cx="320040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b="0" i="0">
                <a:solidFill>
                  <a:srgbClr val="E6E6E6"/>
                </a:solidFill>
                <a:latin typeface="微软雅黑" panose="020B0503020204020204" charset="-122"/>
                <a:cs typeface="微软雅黑" panose="020B0503020204020204" charset="-122"/>
              </a:rPr>
              <a:t>智能获客 · 线索评分 · 客户画像</a:t>
            </a:r>
            <a:endParaRPr sz="1000" b="0" i="0">
              <a:solidFill>
                <a:srgbClr val="E6E6E6"/>
              </a:solidFill>
              <a:latin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5000"/>
              </a:lnSpc>
            </a:pPr>
            <a:r>
              <a:rPr sz="1000" b="0" i="0">
                <a:solidFill>
                  <a:srgbClr val="E6E6E6"/>
                </a:solidFill>
                <a:latin typeface="微软雅黑" panose="020B0503020204020204" charset="-122"/>
                <a:cs typeface="微软雅黑" panose="020B0503020204020204" charset="-122"/>
              </a:rPr>
              <a:t>内容生成 · 投放优化 · 销售话术辅助 · 合同初稿</a:t>
            </a:r>
            <a:endParaRPr sz="1000" b="0" i="0">
              <a:solidFill>
                <a:srgbClr val="E6E6E6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Rounded Rectangle 33"/>
          <p:cNvSpPr/>
          <p:nvPr/>
        </p:nvSpPr>
        <p:spPr>
          <a:xfrm>
            <a:off x="4526280" y="2194560"/>
            <a:ext cx="3657600" cy="2377440"/>
          </a:xfrm>
          <a:prstGeom prst="roundRect">
            <a:avLst>
              <a:gd name="adj" fmla="val 10000"/>
            </a:avLst>
          </a:prstGeom>
          <a:solidFill>
            <a:srgbClr val="1C1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526280" y="2194560"/>
            <a:ext cx="3657600" cy="54864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754880" y="2331720"/>
            <a:ext cx="3200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F5F1E8"/>
                </a:solidFill>
                <a:latin typeface="微软雅黑" panose="020B0503020204020204" charset="-122"/>
                <a:cs typeface="微软雅黑" panose="020B0503020204020204" charset="-122"/>
              </a:rPr>
              <a:t>产品与服务</a:t>
            </a:r>
            <a:endParaRPr sz="1600" b="1" i="0">
              <a:solidFill>
                <a:srgbClr val="F5F1E8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4754880" y="2651760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1">
                <a:solidFill>
                  <a:srgbClr val="E8C85A"/>
                </a:solidFill>
                <a:latin typeface="Georgia" panose="02040502050405020303"/>
                <a:cs typeface="微软雅黑" panose="020B0503020204020204" charset="-122"/>
              </a:rPr>
              <a:t>Product &amp; Service</a:t>
            </a:r>
            <a:endParaRPr sz="900" b="0" i="1">
              <a:solidFill>
                <a:srgbClr val="E8C85A"/>
              </a:solidFill>
              <a:latin typeface="Georgia" panose="02040502050405020303"/>
              <a:cs typeface="微软雅黑" panose="020B0503020204020204" charset="-122"/>
            </a:endParaRPr>
          </a:p>
        </p:txBody>
      </p:sp>
      <p:sp>
        <p:nvSpPr>
          <p:cNvPr id="38" name="Rectangle 37"/>
          <p:cNvSpPr/>
          <p:nvPr/>
        </p:nvSpPr>
        <p:spPr>
          <a:xfrm>
            <a:off x="4754880" y="2926080"/>
            <a:ext cx="320040" cy="27432"/>
          </a:xfrm>
          <a:prstGeom prst="rect">
            <a:avLst/>
          </a:prstGeom>
          <a:solidFill>
            <a:srgbClr val="B87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754880" y="3017520"/>
            <a:ext cx="320040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b="0" i="0">
                <a:solidFill>
                  <a:srgbClr val="E6E6E6"/>
                </a:solidFill>
                <a:latin typeface="微软雅黑" panose="020B0503020204020204" charset="-122"/>
                <a:cs typeface="微软雅黑" panose="020B0503020204020204" charset="-122"/>
              </a:rPr>
              <a:t>需求洞察 · 竞品分析 · 原型生成</a:t>
            </a:r>
            <a:endParaRPr sz="1000" b="0" i="0">
              <a:solidFill>
                <a:srgbClr val="E6E6E6"/>
              </a:solidFill>
              <a:latin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5000"/>
              </a:lnSpc>
            </a:pPr>
            <a:r>
              <a:rPr sz="1000" b="0" i="0">
                <a:solidFill>
                  <a:srgbClr val="E6E6E6"/>
                </a:solidFill>
                <a:latin typeface="微软雅黑" panose="020B0503020204020204" charset="-122"/>
                <a:cs typeface="微软雅黑" panose="020B0503020204020204" charset="-122"/>
              </a:rPr>
              <a:t>用户体验优化 · 智能客服 · 售后诊断</a:t>
            </a:r>
            <a:endParaRPr sz="1000" b="0" i="0">
              <a:solidFill>
                <a:srgbClr val="E6E6E6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" name="Rounded Rectangle 39"/>
          <p:cNvSpPr/>
          <p:nvPr/>
        </p:nvSpPr>
        <p:spPr>
          <a:xfrm>
            <a:off x="8412480" y="2194560"/>
            <a:ext cx="3657600" cy="2377440"/>
          </a:xfrm>
          <a:prstGeom prst="roundRect">
            <a:avLst>
              <a:gd name="adj" fmla="val 10000"/>
            </a:avLst>
          </a:prstGeom>
          <a:solidFill>
            <a:srgbClr val="1C1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412480" y="2194560"/>
            <a:ext cx="3657600" cy="54864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641080" y="2331720"/>
            <a:ext cx="3200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F5F1E8"/>
                </a:solidFill>
                <a:latin typeface="微软雅黑" panose="020B0503020204020204" charset="-122"/>
                <a:cs typeface="微软雅黑" panose="020B0503020204020204" charset="-122"/>
              </a:rPr>
              <a:t>运营与供应链</a:t>
            </a:r>
            <a:endParaRPr sz="1600" b="1" i="0">
              <a:solidFill>
                <a:srgbClr val="F5F1E8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8641080" y="2651760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1">
                <a:solidFill>
                  <a:srgbClr val="E8C85A"/>
                </a:solidFill>
                <a:latin typeface="Georgia" panose="02040502050405020303"/>
                <a:cs typeface="微软雅黑" panose="020B0503020204020204" charset="-122"/>
              </a:rPr>
              <a:t>Operations &amp; Supply</a:t>
            </a:r>
            <a:endParaRPr sz="900" b="0" i="1">
              <a:solidFill>
                <a:srgbClr val="E8C85A"/>
              </a:solidFill>
              <a:latin typeface="Georgia" panose="02040502050405020303"/>
              <a:cs typeface="微软雅黑" panose="020B0503020204020204" charset="-122"/>
            </a:endParaRPr>
          </a:p>
        </p:txBody>
      </p:sp>
      <p:sp>
        <p:nvSpPr>
          <p:cNvPr id="44" name="Rectangle 43"/>
          <p:cNvSpPr/>
          <p:nvPr/>
        </p:nvSpPr>
        <p:spPr>
          <a:xfrm>
            <a:off x="8641080" y="2926080"/>
            <a:ext cx="320040" cy="27432"/>
          </a:xfrm>
          <a:prstGeom prst="rect">
            <a:avLst/>
          </a:prstGeom>
          <a:solidFill>
            <a:srgbClr val="B87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641080" y="3017520"/>
            <a:ext cx="320040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b="0" i="0">
                <a:solidFill>
                  <a:srgbClr val="E6E6E6"/>
                </a:solidFill>
                <a:latin typeface="微软雅黑" panose="020B0503020204020204" charset="-122"/>
                <a:cs typeface="微软雅黑" panose="020B0503020204020204" charset="-122"/>
              </a:rPr>
              <a:t>需求预测 · 库存优化 · 物流调度</a:t>
            </a:r>
            <a:endParaRPr sz="1000" b="0" i="0">
              <a:solidFill>
                <a:srgbClr val="E6E6E6"/>
              </a:solidFill>
              <a:latin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5000"/>
              </a:lnSpc>
            </a:pPr>
            <a:r>
              <a:rPr sz="1000" b="0" i="0">
                <a:solidFill>
                  <a:srgbClr val="E6E6E6"/>
                </a:solidFill>
                <a:latin typeface="微软雅黑" panose="020B0503020204020204" charset="-122"/>
                <a:cs typeface="微软雅黑" panose="020B0503020204020204" charset="-122"/>
              </a:rPr>
              <a:t>采购比价 · 生产排程 · 质量检测 · RPA 流程</a:t>
            </a:r>
            <a:endParaRPr sz="1000" b="0" i="0">
              <a:solidFill>
                <a:srgbClr val="E6E6E6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6" name="Rounded Rectangle 45"/>
          <p:cNvSpPr/>
          <p:nvPr/>
        </p:nvSpPr>
        <p:spPr>
          <a:xfrm>
            <a:off x="1965960" y="4754880"/>
            <a:ext cx="3657600" cy="1463040"/>
          </a:xfrm>
          <a:prstGeom prst="roundRect">
            <a:avLst>
              <a:gd name="adj" fmla="val 10000"/>
            </a:avLst>
          </a:prstGeom>
          <a:solidFill>
            <a:srgbClr val="1C1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1965960" y="4754880"/>
            <a:ext cx="3657600" cy="54864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194560" y="4892040"/>
            <a:ext cx="3200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F5F1E8"/>
                </a:solidFill>
                <a:latin typeface="微软雅黑" panose="020B0503020204020204" charset="-122"/>
                <a:cs typeface="微软雅黑" panose="020B0503020204020204" charset="-122"/>
              </a:rPr>
              <a:t>管理与决策</a:t>
            </a:r>
            <a:endParaRPr sz="1600" b="1" i="0">
              <a:solidFill>
                <a:srgbClr val="F5F1E8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2194560" y="5212080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1">
                <a:solidFill>
                  <a:srgbClr val="E8C85A"/>
                </a:solidFill>
                <a:latin typeface="Georgia" panose="02040502050405020303"/>
                <a:cs typeface="微软雅黑" panose="020B0503020204020204" charset="-122"/>
              </a:rPr>
              <a:t>Management &amp; Decision</a:t>
            </a:r>
            <a:endParaRPr sz="900" b="0" i="1">
              <a:solidFill>
                <a:srgbClr val="E8C85A"/>
              </a:solidFill>
              <a:latin typeface="Georgia" panose="02040502050405020303"/>
              <a:cs typeface="微软雅黑" panose="020B0503020204020204" charset="-122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2194560" y="5486400"/>
            <a:ext cx="32004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E6E6E6"/>
                </a:solidFill>
                <a:latin typeface="微软雅黑" panose="020B0503020204020204" charset="-122"/>
                <a:cs typeface="微软雅黑" panose="020B0503020204020204" charset="-122"/>
              </a:rPr>
              <a:t>战略推演 · 财务分析 · 合规审查</a:t>
            </a:r>
            <a:endParaRPr sz="950" b="0" i="0">
              <a:solidFill>
                <a:srgbClr val="E6E6E6"/>
              </a:solidFill>
              <a:latin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E6E6E6"/>
                </a:solidFill>
                <a:latin typeface="微软雅黑" panose="020B0503020204020204" charset="-122"/>
                <a:cs typeface="微软雅黑" panose="020B0503020204020204" charset="-122"/>
              </a:rPr>
              <a:t>人力规划 · 绩效评估 · 风险预警 · 董事会报告</a:t>
            </a:r>
            <a:endParaRPr sz="950" b="0" i="0">
              <a:solidFill>
                <a:srgbClr val="E6E6E6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1" name="Rounded Rectangle 50"/>
          <p:cNvSpPr/>
          <p:nvPr/>
        </p:nvSpPr>
        <p:spPr>
          <a:xfrm>
            <a:off x="6217920" y="4754880"/>
            <a:ext cx="3657600" cy="1463040"/>
          </a:xfrm>
          <a:prstGeom prst="roundRect">
            <a:avLst>
              <a:gd name="adj" fmla="val 10000"/>
            </a:avLst>
          </a:prstGeom>
          <a:solidFill>
            <a:srgbClr val="1C1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6217920" y="4754880"/>
            <a:ext cx="3657600" cy="54864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446520" y="4892040"/>
            <a:ext cx="3200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F5F1E8"/>
                </a:solidFill>
                <a:latin typeface="微软雅黑" panose="020B0503020204020204" charset="-122"/>
                <a:cs typeface="微软雅黑" panose="020B0503020204020204" charset="-122"/>
              </a:rPr>
              <a:t>研发与技术</a:t>
            </a:r>
            <a:endParaRPr sz="1600" b="1" i="0">
              <a:solidFill>
                <a:srgbClr val="F5F1E8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6446520" y="5212080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1">
                <a:solidFill>
                  <a:srgbClr val="E8C85A"/>
                </a:solidFill>
                <a:latin typeface="Georgia" panose="02040502050405020303"/>
                <a:cs typeface="微软雅黑" panose="020B0503020204020204" charset="-122"/>
              </a:rPr>
              <a:t>R&amp;D &amp; Technology</a:t>
            </a:r>
            <a:endParaRPr sz="900" b="0" i="1">
              <a:solidFill>
                <a:srgbClr val="E8C85A"/>
              </a:solidFill>
              <a:latin typeface="Georgia" panose="02040502050405020303"/>
              <a:cs typeface="微软雅黑" panose="020B0503020204020204" charset="-122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6446520" y="5486400"/>
            <a:ext cx="32004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E6E6E6"/>
                </a:solidFill>
                <a:latin typeface="微软雅黑" panose="020B0503020204020204" charset="-122"/>
                <a:cs typeface="微软雅黑" panose="020B0503020204020204" charset="-122"/>
              </a:rPr>
              <a:t>代码生成 · 自动化测试 · 架构设计</a:t>
            </a:r>
            <a:endParaRPr sz="950" b="0" i="0">
              <a:solidFill>
                <a:srgbClr val="E6E6E6"/>
              </a:solidFill>
              <a:latin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E6E6E6"/>
                </a:solidFill>
                <a:latin typeface="微软雅黑" panose="020B0503020204020204" charset="-122"/>
                <a:cs typeface="微软雅黑" panose="020B0503020204020204" charset="-122"/>
              </a:rPr>
              <a:t>技术文档 · 漏洞扫描 · 数据治理 · 知识库构建</a:t>
            </a:r>
            <a:endParaRPr sz="950" b="0" i="0">
              <a:solidFill>
                <a:srgbClr val="E6E6E6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E8C85A"/>
                </a:solidFill>
                <a:latin typeface="Georgia" panose="02040502050405020303"/>
                <a:cs typeface="微软雅黑" panose="020B0503020204020204" charset="-122"/>
              </a:rPr>
              <a:t>02-B  ·  WORK NATURE</a:t>
            </a:r>
            <a:endParaRPr sz="1100" b="0" i="1">
              <a:solidFill>
                <a:srgbClr val="E8C85A"/>
              </a:solidFill>
              <a:latin typeface="Georgia" panose="02040502050405020303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0584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F5F1E8"/>
                </a:solidFill>
                <a:latin typeface="微软雅黑" panose="020B0503020204020204" charset="-122"/>
                <a:cs typeface="微软雅黑" panose="020B0503020204020204" charset="-122"/>
              </a:rPr>
              <a:t>AI 企业应用全景 — 按工作性质</a:t>
            </a:r>
            <a:endParaRPr sz="3000" b="1" i="0">
              <a:solidFill>
                <a:srgbClr val="F5F1E8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58368" y="1481328"/>
            <a:ext cx="548640" cy="54864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265615" y="834390"/>
            <a:ext cx="60350" cy="262890"/>
          </a:xfrm>
          <a:prstGeom prst="rect">
            <a:avLst/>
          </a:prstGeom>
          <a:solidFill>
            <a:srgbClr val="D4AF37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366199" y="1023476"/>
            <a:ext cx="60350" cy="73803"/>
          </a:xfrm>
          <a:prstGeom prst="rect">
            <a:avLst/>
          </a:prstGeom>
          <a:solidFill>
            <a:srgbClr val="D4AF37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466783" y="799298"/>
            <a:ext cx="60350" cy="297981"/>
          </a:xfrm>
          <a:prstGeom prst="rect">
            <a:avLst/>
          </a:prstGeom>
          <a:solidFill>
            <a:srgbClr val="D4AF37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567367" y="656494"/>
            <a:ext cx="60350" cy="440785"/>
          </a:xfrm>
          <a:prstGeom prst="rect">
            <a:avLst/>
          </a:prstGeom>
          <a:solidFill>
            <a:srgbClr val="D4AF37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667951" y="903419"/>
            <a:ext cx="60350" cy="193860"/>
          </a:xfrm>
          <a:prstGeom prst="rect">
            <a:avLst/>
          </a:prstGeom>
          <a:solidFill>
            <a:srgbClr val="D4AF37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768535" y="995244"/>
            <a:ext cx="60350" cy="102035"/>
          </a:xfrm>
          <a:prstGeom prst="rect">
            <a:avLst/>
          </a:prstGeom>
          <a:solidFill>
            <a:srgbClr val="D4AF37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869119" y="733693"/>
            <a:ext cx="60350" cy="363586"/>
          </a:xfrm>
          <a:prstGeom prst="rect">
            <a:avLst/>
          </a:prstGeom>
          <a:solidFill>
            <a:srgbClr val="D4AF37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969703" y="695865"/>
            <a:ext cx="60350" cy="401414"/>
          </a:xfrm>
          <a:prstGeom prst="rect">
            <a:avLst/>
          </a:prstGeom>
          <a:solidFill>
            <a:srgbClr val="D4AF37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070287" y="963443"/>
            <a:ext cx="60350" cy="133836"/>
          </a:xfrm>
          <a:prstGeom prst="rect">
            <a:avLst/>
          </a:prstGeom>
          <a:solidFill>
            <a:srgbClr val="D4AF37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170871" y="946028"/>
            <a:ext cx="60350" cy="151251"/>
          </a:xfrm>
          <a:prstGeom prst="rect">
            <a:avLst/>
          </a:prstGeom>
          <a:solidFill>
            <a:srgbClr val="D4AF37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271455" y="681224"/>
            <a:ext cx="60350" cy="416055"/>
          </a:xfrm>
          <a:prstGeom prst="rect">
            <a:avLst/>
          </a:prstGeom>
          <a:solidFill>
            <a:srgbClr val="D4AF37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0372039" y="753309"/>
            <a:ext cx="60350" cy="343970"/>
          </a:xfrm>
          <a:prstGeom prst="rect">
            <a:avLst/>
          </a:prstGeom>
          <a:solidFill>
            <a:srgbClr val="D4AF37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0472623" y="1006630"/>
            <a:ext cx="60350" cy="90649"/>
          </a:xfrm>
          <a:prstGeom prst="rect">
            <a:avLst/>
          </a:prstGeom>
          <a:solidFill>
            <a:srgbClr val="D4AF37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0573207" y="882246"/>
            <a:ext cx="60350" cy="215033"/>
          </a:xfrm>
          <a:prstGeom prst="rect">
            <a:avLst/>
          </a:prstGeom>
          <a:solidFill>
            <a:srgbClr val="D4AF37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0673791" y="648738"/>
            <a:ext cx="60350" cy="448541"/>
          </a:xfrm>
          <a:prstGeom prst="rect">
            <a:avLst/>
          </a:prstGeom>
          <a:solidFill>
            <a:srgbClr val="D4AF37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0774375" y="821330"/>
            <a:ext cx="60350" cy="275949"/>
          </a:xfrm>
          <a:prstGeom prst="rect">
            <a:avLst/>
          </a:prstGeom>
          <a:solidFill>
            <a:srgbClr val="D4AF37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0874959" y="1027347"/>
            <a:ext cx="60350" cy="69932"/>
          </a:xfrm>
          <a:prstGeom prst="rect">
            <a:avLst/>
          </a:prstGeom>
          <a:solidFill>
            <a:srgbClr val="D4AF37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0975543" y="867043"/>
            <a:ext cx="60350" cy="230236"/>
          </a:xfrm>
          <a:prstGeom prst="rect">
            <a:avLst/>
          </a:prstGeom>
          <a:solidFill>
            <a:srgbClr val="D4AF37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1076127" y="640472"/>
            <a:ext cx="60350" cy="456807"/>
          </a:xfrm>
          <a:prstGeom prst="rect">
            <a:avLst/>
          </a:prstGeom>
          <a:solidFill>
            <a:srgbClr val="D4AF37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1176711" y="836865"/>
            <a:ext cx="60350" cy="260414"/>
          </a:xfrm>
          <a:prstGeom prst="rect">
            <a:avLst/>
          </a:prstGeom>
          <a:solidFill>
            <a:srgbClr val="D4AF37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9A9AA8"/>
                </a:solidFill>
                <a:latin typeface="微软雅黑" panose="020B0503020204020204" charset="-122"/>
                <a:cs typeface="微软雅黑" panose="020B0503020204020204" charset="-122"/>
              </a:rPr>
              <a:t>刘肯  ·  北京幻道科技</a:t>
            </a:r>
            <a:endParaRPr sz="900" b="0" i="0">
              <a:solidFill>
                <a:srgbClr val="9A9AA8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9905695" y="6446520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9A9AA8"/>
                </a:solidFill>
                <a:latin typeface="Georgia" panose="02040502050405020303"/>
                <a:cs typeface="微软雅黑" panose="020B0503020204020204" charset="-122"/>
              </a:rPr>
              <a:t>06 / 12</a:t>
            </a:r>
            <a:endParaRPr sz="900" b="0" i="0">
              <a:solidFill>
                <a:srgbClr val="9A9AA8"/>
              </a:solidFill>
              <a:latin typeface="Georgia" panose="02040502050405020303"/>
              <a:cs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640080" y="169164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9A9AA8"/>
                </a:solidFill>
                <a:latin typeface="微软雅黑" panose="020B0503020204020204" charset="-122"/>
                <a:cs typeface="微软雅黑" panose="020B0503020204020204" charset="-122"/>
              </a:rPr>
              <a:t>跳出部门边界，按人类工作的本质特征，看 AI 如何重塑企业劳动形态。</a:t>
            </a:r>
            <a:endParaRPr sz="1300" b="0" i="1">
              <a:solidFill>
                <a:srgbClr val="9A9AA8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640080" y="2194560"/>
            <a:ext cx="3657600" cy="2377440"/>
          </a:xfrm>
          <a:prstGeom prst="roundRect">
            <a:avLst>
              <a:gd name="adj" fmla="val 10000"/>
            </a:avLst>
          </a:prstGeom>
          <a:solidFill>
            <a:srgbClr val="1C1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40080" y="2194560"/>
            <a:ext cx="3657600" cy="54864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68680" y="2331720"/>
            <a:ext cx="3200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F5F1E8"/>
                </a:solidFill>
                <a:latin typeface="微软雅黑" panose="020B0503020204020204" charset="-122"/>
                <a:cs typeface="微软雅黑" panose="020B0503020204020204" charset="-122"/>
              </a:rPr>
              <a:t>重复性事务</a:t>
            </a:r>
            <a:endParaRPr sz="1600" b="1" i="0">
              <a:solidFill>
                <a:srgbClr val="F5F1E8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868680" y="2651760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1">
                <a:solidFill>
                  <a:srgbClr val="E8C85A"/>
                </a:solidFill>
                <a:latin typeface="Georgia" panose="02040502050405020303"/>
                <a:cs typeface="微软雅黑" panose="020B0503020204020204" charset="-122"/>
              </a:rPr>
              <a:t>Repetitive Tasks</a:t>
            </a:r>
            <a:endParaRPr sz="900" b="0" i="1">
              <a:solidFill>
                <a:srgbClr val="E8C85A"/>
              </a:solidFill>
              <a:latin typeface="Georgia" panose="02040502050405020303"/>
              <a:cs typeface="微软雅黑" panose="020B0503020204020204" charset="-122"/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868680" y="2926080"/>
            <a:ext cx="320040" cy="27432"/>
          </a:xfrm>
          <a:prstGeom prst="rect">
            <a:avLst/>
          </a:prstGeom>
          <a:solidFill>
            <a:srgbClr val="B87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68680" y="3017520"/>
            <a:ext cx="320040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b="0" i="0">
                <a:solidFill>
                  <a:srgbClr val="E6E6E6"/>
                </a:solidFill>
                <a:latin typeface="微软雅黑" panose="020B0503020204020204" charset="-122"/>
                <a:cs typeface="微软雅黑" panose="020B0503020204020204" charset="-122"/>
              </a:rPr>
              <a:t>数据录入 · 票据处理 · 报表生成</a:t>
            </a:r>
            <a:endParaRPr sz="1000" b="0" i="0">
              <a:solidFill>
                <a:srgbClr val="E6E6E6"/>
              </a:solidFill>
              <a:latin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5000"/>
              </a:lnSpc>
            </a:pPr>
            <a:r>
              <a:rPr sz="1000" b="0" i="0">
                <a:solidFill>
                  <a:srgbClr val="E6E6E6"/>
                </a:solidFill>
                <a:latin typeface="微软雅黑" panose="020B0503020204020204" charset="-122"/>
                <a:cs typeface="微软雅黑" panose="020B0503020204020204" charset="-122"/>
              </a:rPr>
              <a:t>流程审批 · 邮件分拣 · 档案归档 · 系统巡检</a:t>
            </a:r>
            <a:endParaRPr sz="1000" b="0" i="0">
              <a:solidFill>
                <a:srgbClr val="E6E6E6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Rounded Rectangle 33"/>
          <p:cNvSpPr/>
          <p:nvPr/>
        </p:nvSpPr>
        <p:spPr>
          <a:xfrm>
            <a:off x="4526280" y="2194560"/>
            <a:ext cx="3657600" cy="2377440"/>
          </a:xfrm>
          <a:prstGeom prst="roundRect">
            <a:avLst>
              <a:gd name="adj" fmla="val 10000"/>
            </a:avLst>
          </a:prstGeom>
          <a:solidFill>
            <a:srgbClr val="1C1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526280" y="2194560"/>
            <a:ext cx="3657600" cy="54864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754880" y="2331720"/>
            <a:ext cx="3200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F5F1E8"/>
                </a:solidFill>
                <a:latin typeface="微软雅黑" panose="020B0503020204020204" charset="-122"/>
                <a:cs typeface="微软雅黑" panose="020B0503020204020204" charset="-122"/>
              </a:rPr>
              <a:t>知识密集型</a:t>
            </a:r>
            <a:endParaRPr sz="1600" b="1" i="0">
              <a:solidFill>
                <a:srgbClr val="F5F1E8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4754880" y="2651760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1">
                <a:solidFill>
                  <a:srgbClr val="E8C85A"/>
                </a:solidFill>
                <a:latin typeface="Georgia" panose="02040502050405020303"/>
                <a:cs typeface="微软雅黑" panose="020B0503020204020204" charset="-122"/>
              </a:rPr>
              <a:t>Knowledge Work</a:t>
            </a:r>
            <a:endParaRPr sz="900" b="0" i="1">
              <a:solidFill>
                <a:srgbClr val="E8C85A"/>
              </a:solidFill>
              <a:latin typeface="Georgia" panose="02040502050405020303"/>
              <a:cs typeface="微软雅黑" panose="020B0503020204020204" charset="-122"/>
            </a:endParaRPr>
          </a:p>
        </p:txBody>
      </p:sp>
      <p:sp>
        <p:nvSpPr>
          <p:cNvPr id="38" name="Rectangle 37"/>
          <p:cNvSpPr/>
          <p:nvPr/>
        </p:nvSpPr>
        <p:spPr>
          <a:xfrm>
            <a:off x="4754880" y="2926080"/>
            <a:ext cx="320040" cy="27432"/>
          </a:xfrm>
          <a:prstGeom prst="rect">
            <a:avLst/>
          </a:prstGeom>
          <a:solidFill>
            <a:srgbClr val="B87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754880" y="3017520"/>
            <a:ext cx="320040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b="0" i="0">
                <a:solidFill>
                  <a:srgbClr val="E6E6E6"/>
                </a:solidFill>
                <a:latin typeface="微软雅黑" panose="020B0503020204020204" charset="-122"/>
                <a:cs typeface="微软雅黑" panose="020B0503020204020204" charset="-122"/>
              </a:rPr>
              <a:t>行业研究 · 合同审查 · 财务分析</a:t>
            </a:r>
            <a:endParaRPr sz="1000" b="0" i="0">
              <a:solidFill>
                <a:srgbClr val="E6E6E6"/>
              </a:solidFill>
              <a:latin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5000"/>
              </a:lnSpc>
            </a:pPr>
            <a:r>
              <a:rPr sz="1000" b="0" i="0">
                <a:solidFill>
                  <a:srgbClr val="E6E6E6"/>
                </a:solidFill>
                <a:latin typeface="微软雅黑" panose="020B0503020204020204" charset="-122"/>
                <a:cs typeface="微软雅黑" panose="020B0503020204020204" charset="-122"/>
              </a:rPr>
              <a:t>合规检查 · 专利检索 · 竞品监控 · 法规追踪</a:t>
            </a:r>
            <a:endParaRPr sz="1000" b="0" i="0">
              <a:solidFill>
                <a:srgbClr val="E6E6E6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" name="Rounded Rectangle 39"/>
          <p:cNvSpPr/>
          <p:nvPr/>
        </p:nvSpPr>
        <p:spPr>
          <a:xfrm>
            <a:off x="8412480" y="2194560"/>
            <a:ext cx="3657600" cy="2377440"/>
          </a:xfrm>
          <a:prstGeom prst="roundRect">
            <a:avLst>
              <a:gd name="adj" fmla="val 10000"/>
            </a:avLst>
          </a:prstGeom>
          <a:solidFill>
            <a:srgbClr val="1C1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412480" y="2194560"/>
            <a:ext cx="3657600" cy="54864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641080" y="2331720"/>
            <a:ext cx="3200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F5F1E8"/>
                </a:solidFill>
                <a:latin typeface="微软雅黑" panose="020B0503020204020204" charset="-122"/>
                <a:cs typeface="微软雅黑" panose="020B0503020204020204" charset="-122"/>
              </a:rPr>
              <a:t>决策支持型</a:t>
            </a:r>
            <a:endParaRPr sz="1600" b="1" i="0">
              <a:solidFill>
                <a:srgbClr val="F5F1E8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8641080" y="2651760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1">
                <a:solidFill>
                  <a:srgbClr val="E8C85A"/>
                </a:solidFill>
                <a:latin typeface="Georgia" panose="02040502050405020303"/>
                <a:cs typeface="微软雅黑" panose="020B0503020204020204" charset="-122"/>
              </a:rPr>
              <a:t>Decision Support</a:t>
            </a:r>
            <a:endParaRPr sz="900" b="0" i="1">
              <a:solidFill>
                <a:srgbClr val="E8C85A"/>
              </a:solidFill>
              <a:latin typeface="Georgia" panose="02040502050405020303"/>
              <a:cs typeface="微软雅黑" panose="020B0503020204020204" charset="-122"/>
            </a:endParaRPr>
          </a:p>
        </p:txBody>
      </p:sp>
      <p:sp>
        <p:nvSpPr>
          <p:cNvPr id="44" name="Rectangle 43"/>
          <p:cNvSpPr/>
          <p:nvPr/>
        </p:nvSpPr>
        <p:spPr>
          <a:xfrm>
            <a:off x="8641080" y="2926080"/>
            <a:ext cx="320040" cy="27432"/>
          </a:xfrm>
          <a:prstGeom prst="rect">
            <a:avLst/>
          </a:prstGeom>
          <a:solidFill>
            <a:srgbClr val="B87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641080" y="3017520"/>
            <a:ext cx="320040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b="0" i="0">
                <a:solidFill>
                  <a:srgbClr val="E6E6E6"/>
                </a:solidFill>
                <a:latin typeface="微软雅黑" panose="020B0503020204020204" charset="-122"/>
                <a:cs typeface="微软雅黑" panose="020B0503020204020204" charset="-122"/>
              </a:rPr>
              <a:t>预测建模 · 风险评估 · 资源调度</a:t>
            </a:r>
            <a:endParaRPr sz="1000" b="0" i="0">
              <a:solidFill>
                <a:srgbClr val="E6E6E6"/>
              </a:solidFill>
              <a:latin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5000"/>
              </a:lnSpc>
            </a:pPr>
            <a:r>
              <a:rPr sz="1000" b="0" i="0">
                <a:solidFill>
                  <a:srgbClr val="E6E6E6"/>
                </a:solidFill>
                <a:latin typeface="微软雅黑" panose="020B0503020204020204" charset="-122"/>
                <a:cs typeface="微软雅黑" panose="020B0503020204020204" charset="-122"/>
              </a:rPr>
              <a:t>策略推荐 · 定价优化 · 选址分析 · 预算推演</a:t>
            </a:r>
            <a:endParaRPr sz="1000" b="0" i="0">
              <a:solidFill>
                <a:srgbClr val="E6E6E6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6" name="Rounded Rectangle 45"/>
          <p:cNvSpPr/>
          <p:nvPr/>
        </p:nvSpPr>
        <p:spPr>
          <a:xfrm>
            <a:off x="1965960" y="4754880"/>
            <a:ext cx="3657600" cy="1463040"/>
          </a:xfrm>
          <a:prstGeom prst="roundRect">
            <a:avLst>
              <a:gd name="adj" fmla="val 10000"/>
            </a:avLst>
          </a:prstGeom>
          <a:solidFill>
            <a:srgbClr val="1C1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1965960" y="4754880"/>
            <a:ext cx="3657600" cy="54864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194560" y="4892040"/>
            <a:ext cx="3200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F5F1E8"/>
                </a:solidFill>
                <a:latin typeface="微软雅黑" panose="020B0503020204020204" charset="-122"/>
                <a:cs typeface="微软雅黑" panose="020B0503020204020204" charset="-122"/>
              </a:rPr>
              <a:t>创造生成型</a:t>
            </a:r>
            <a:endParaRPr sz="1600" b="1" i="0">
              <a:solidFill>
                <a:srgbClr val="F5F1E8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2194560" y="5212080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1">
                <a:solidFill>
                  <a:srgbClr val="E8C85A"/>
                </a:solidFill>
                <a:latin typeface="Georgia" panose="02040502050405020303"/>
                <a:cs typeface="微软雅黑" panose="020B0503020204020204" charset="-122"/>
              </a:rPr>
              <a:t>Creative Generation</a:t>
            </a:r>
            <a:endParaRPr sz="900" b="0" i="1">
              <a:solidFill>
                <a:srgbClr val="E8C85A"/>
              </a:solidFill>
              <a:latin typeface="Georgia" panose="02040502050405020303"/>
              <a:cs typeface="微软雅黑" panose="020B0503020204020204" charset="-122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2194560" y="5486400"/>
            <a:ext cx="32004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E6E6E6"/>
                </a:solidFill>
                <a:latin typeface="微软雅黑" panose="020B0503020204020204" charset="-122"/>
                <a:cs typeface="微软雅黑" panose="020B0503020204020204" charset="-122"/>
              </a:rPr>
              <a:t>文案撰写 · 视觉设计 · 代码开发</a:t>
            </a:r>
            <a:endParaRPr sz="950" b="0" i="0">
              <a:solidFill>
                <a:srgbClr val="E6E6E6"/>
              </a:solidFill>
              <a:latin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E6E6E6"/>
                </a:solidFill>
                <a:latin typeface="微软雅黑" panose="020B0503020204020204" charset="-122"/>
                <a:cs typeface="微软雅黑" panose="020B0503020204020204" charset="-122"/>
              </a:rPr>
              <a:t>方案策划 · 视频剪辑 · 产品命名 · 广告创意</a:t>
            </a:r>
            <a:endParaRPr sz="950" b="0" i="0">
              <a:solidFill>
                <a:srgbClr val="E6E6E6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1" name="Rounded Rectangle 50"/>
          <p:cNvSpPr/>
          <p:nvPr/>
        </p:nvSpPr>
        <p:spPr>
          <a:xfrm>
            <a:off x="6217920" y="4754880"/>
            <a:ext cx="3657600" cy="1463040"/>
          </a:xfrm>
          <a:prstGeom prst="roundRect">
            <a:avLst>
              <a:gd name="adj" fmla="val 10000"/>
            </a:avLst>
          </a:prstGeom>
          <a:solidFill>
            <a:srgbClr val="1C1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6217920" y="4754880"/>
            <a:ext cx="3657600" cy="54864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446520" y="4892040"/>
            <a:ext cx="3200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F5F1E8"/>
                </a:solidFill>
                <a:latin typeface="微软雅黑" panose="020B0503020204020204" charset="-122"/>
                <a:cs typeface="微软雅黑" panose="020B0503020204020204" charset="-122"/>
              </a:rPr>
              <a:t>交互服务型</a:t>
            </a:r>
            <a:endParaRPr sz="1600" b="1" i="0">
              <a:solidFill>
                <a:srgbClr val="F5F1E8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6446520" y="5212080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1">
                <a:solidFill>
                  <a:srgbClr val="E8C85A"/>
                </a:solidFill>
                <a:latin typeface="Georgia" panose="02040502050405020303"/>
                <a:cs typeface="微软雅黑" panose="020B0503020204020204" charset="-122"/>
              </a:rPr>
              <a:t>Interactive Service</a:t>
            </a:r>
            <a:endParaRPr sz="900" b="0" i="1">
              <a:solidFill>
                <a:srgbClr val="E8C85A"/>
              </a:solidFill>
              <a:latin typeface="Georgia" panose="02040502050405020303"/>
              <a:cs typeface="微软雅黑" panose="020B0503020204020204" charset="-122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6446520" y="5486400"/>
            <a:ext cx="32004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E6E6E6"/>
                </a:solidFill>
                <a:latin typeface="微软雅黑" panose="020B0503020204020204" charset="-122"/>
                <a:cs typeface="微软雅黑" panose="020B0503020204020204" charset="-122"/>
              </a:rPr>
              <a:t>客户接待 · 内部培训 · IT 支持</a:t>
            </a:r>
            <a:endParaRPr sz="950" b="0" i="0">
              <a:solidFill>
                <a:srgbClr val="E6E6E6"/>
              </a:solidFill>
              <a:latin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E6E6E6"/>
                </a:solidFill>
                <a:latin typeface="微软雅黑" panose="020B0503020204020204" charset="-122"/>
                <a:cs typeface="微软雅黑" panose="020B0503020204020204" charset="-122"/>
              </a:rPr>
              <a:t>HR 沟通 · 会议记录 · 多语言翻译 · 员工助手</a:t>
            </a:r>
            <a:endParaRPr sz="950" b="0" i="0">
              <a:solidFill>
                <a:srgbClr val="E6E6E6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097280"/>
            <a:ext cx="10332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1">
                <a:solidFill>
                  <a:srgbClr val="E8C85A"/>
                </a:solidFill>
                <a:latin typeface="Georgia" panose="02040502050405020303"/>
                <a:cs typeface="微软雅黑" panose="020B0503020204020204" charset="-122"/>
              </a:rPr>
              <a:t>05  ·  NEW PARADIGM</a:t>
            </a:r>
            <a:endParaRPr sz="1100" b="0" i="1">
              <a:solidFill>
                <a:srgbClr val="E8C85A"/>
              </a:solidFill>
              <a:latin typeface="Georgia" panose="02040502050405020303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914400" y="2377440"/>
            <a:ext cx="1033272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4400" b="1" i="1">
                <a:solidFill>
                  <a:srgbClr val="F5F1E8"/>
                </a:solidFill>
                <a:latin typeface="Georgia" panose="02040502050405020303"/>
                <a:cs typeface="微软雅黑" panose="020B0503020204020204" charset="-122"/>
              </a:rPr>
              <a:t>Forward Deployed Engineer</a:t>
            </a:r>
            <a:endParaRPr sz="4400" b="1" i="1">
              <a:solidFill>
                <a:srgbClr val="F5F1E8"/>
              </a:solidFill>
              <a:latin typeface="Georgia" panose="02040502050405020303"/>
              <a:cs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14400" y="3474720"/>
            <a:ext cx="1033272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2200" b="1" i="0">
                <a:solidFill>
                  <a:srgbClr val="D4AF37"/>
                </a:solidFill>
                <a:latin typeface="微软雅黑" panose="020B0503020204020204" charset="-122"/>
                <a:cs typeface="微软雅黑" panose="020B0503020204020204" charset="-122"/>
              </a:rPr>
              <a:t>前 线 部 署 工 程 师</a:t>
            </a:r>
            <a:endParaRPr sz="2200" b="1" i="0">
              <a:solidFill>
                <a:srgbClr val="D4AF37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Oval 4"/>
          <p:cNvSpPr/>
          <p:nvPr/>
        </p:nvSpPr>
        <p:spPr>
          <a:xfrm>
            <a:off x="4651095" y="4498848"/>
            <a:ext cx="146304" cy="146304"/>
          </a:xfrm>
          <a:prstGeom prst="ellipse">
            <a:avLst/>
          </a:prstGeom>
          <a:solidFill>
            <a:srgbClr val="D4AF37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4790084" y="4297680"/>
            <a:ext cx="0" cy="274320"/>
          </a:xfrm>
          <a:prstGeom prst="line">
            <a:avLst/>
          </a:prstGeom>
          <a:ln w="19050">
            <a:solidFill>
              <a:srgbClr val="D4AF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6022695" y="4453128"/>
            <a:ext cx="146304" cy="146304"/>
          </a:xfrm>
          <a:prstGeom prst="ellipse">
            <a:avLst/>
          </a:prstGeom>
          <a:solidFill>
            <a:srgbClr val="E8C85A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>
            <a:off x="6030010" y="4526280"/>
            <a:ext cx="0" cy="320040"/>
          </a:xfrm>
          <a:prstGeom prst="line">
            <a:avLst/>
          </a:prstGeom>
          <a:ln w="19050">
            <a:solidFill>
              <a:srgbClr val="E8C85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7394295" y="4498848"/>
            <a:ext cx="146304" cy="146304"/>
          </a:xfrm>
          <a:prstGeom prst="ellipse">
            <a:avLst/>
          </a:prstGeom>
          <a:solidFill>
            <a:srgbClr val="D4AF37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" name="Connector 9"/>
          <p:cNvCxnSpPr/>
          <p:nvPr/>
        </p:nvCxnSpPr>
        <p:spPr>
          <a:xfrm>
            <a:off x="7533284" y="4297680"/>
            <a:ext cx="0" cy="274320"/>
          </a:xfrm>
          <a:prstGeom prst="line">
            <a:avLst/>
          </a:prstGeom>
          <a:ln w="19050">
            <a:solidFill>
              <a:srgbClr val="D4AF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914400" y="4937760"/>
            <a:ext cx="103327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0" i="1">
                <a:solidFill>
                  <a:srgbClr val="9A9AA8"/>
                </a:solidFill>
                <a:latin typeface="微软雅黑" panose="020B0503020204020204" charset="-122"/>
                <a:cs typeface="微软雅黑" panose="020B0503020204020204" charset="-122"/>
              </a:rPr>
              <a:t>把工程师部署到前线，把能力嵌进业务流。</a:t>
            </a:r>
            <a:endParaRPr sz="1400" b="0" i="1">
              <a:solidFill>
                <a:srgbClr val="9A9AA8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9A9AA8"/>
                </a:solidFill>
                <a:latin typeface="微软雅黑" panose="020B0503020204020204" charset="-122"/>
                <a:cs typeface="微软雅黑" panose="020B0503020204020204" charset="-122"/>
              </a:rPr>
              <a:t>刘肯  ·  北京幻道科技</a:t>
            </a:r>
            <a:endParaRPr sz="900" b="0" i="0">
              <a:solidFill>
                <a:srgbClr val="9A9AA8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9905695" y="6446520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9A9AA8"/>
                </a:solidFill>
                <a:latin typeface="Georgia" panose="02040502050405020303"/>
                <a:cs typeface="微软雅黑" panose="020B0503020204020204" charset="-122"/>
              </a:rPr>
              <a:t>07 / 12</a:t>
            </a:r>
            <a:endParaRPr sz="900" b="0" i="0">
              <a:solidFill>
                <a:srgbClr val="9A9AA8"/>
              </a:solidFill>
              <a:latin typeface="Georgia" panose="02040502050405020303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E8C85A"/>
                </a:solidFill>
                <a:latin typeface="Georgia" panose="02040502050405020303"/>
                <a:cs typeface="微软雅黑" panose="020B0503020204020204" charset="-122"/>
              </a:rPr>
              <a:t>06  ·  LIMITATIONS</a:t>
            </a:r>
            <a:endParaRPr sz="1100" b="0" i="1">
              <a:solidFill>
                <a:srgbClr val="E8C85A"/>
              </a:solidFill>
              <a:latin typeface="Georgia" panose="02040502050405020303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0584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F5F1E8"/>
                </a:solidFill>
                <a:latin typeface="微软雅黑" panose="020B0503020204020204" charset="-122"/>
                <a:cs typeface="微软雅黑" panose="020B0503020204020204" charset="-122"/>
              </a:rPr>
              <a:t>传统咨询的短板</a:t>
            </a:r>
            <a:endParaRPr sz="3000" b="1" i="0">
              <a:solidFill>
                <a:srgbClr val="F5F1E8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58368" y="1481328"/>
            <a:ext cx="548640" cy="54864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265615" y="834390"/>
            <a:ext cx="60350" cy="262890"/>
          </a:xfrm>
          <a:prstGeom prst="rect">
            <a:avLst/>
          </a:prstGeom>
          <a:solidFill>
            <a:srgbClr val="D4AF37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366199" y="1023476"/>
            <a:ext cx="60350" cy="73803"/>
          </a:xfrm>
          <a:prstGeom prst="rect">
            <a:avLst/>
          </a:prstGeom>
          <a:solidFill>
            <a:srgbClr val="D4AF37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466783" y="799298"/>
            <a:ext cx="60350" cy="297981"/>
          </a:xfrm>
          <a:prstGeom prst="rect">
            <a:avLst/>
          </a:prstGeom>
          <a:solidFill>
            <a:srgbClr val="D4AF37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567367" y="656494"/>
            <a:ext cx="60350" cy="440785"/>
          </a:xfrm>
          <a:prstGeom prst="rect">
            <a:avLst/>
          </a:prstGeom>
          <a:solidFill>
            <a:srgbClr val="D4AF37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667951" y="903419"/>
            <a:ext cx="60350" cy="193860"/>
          </a:xfrm>
          <a:prstGeom prst="rect">
            <a:avLst/>
          </a:prstGeom>
          <a:solidFill>
            <a:srgbClr val="D4AF37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768535" y="995244"/>
            <a:ext cx="60350" cy="102035"/>
          </a:xfrm>
          <a:prstGeom prst="rect">
            <a:avLst/>
          </a:prstGeom>
          <a:solidFill>
            <a:srgbClr val="D4AF37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869119" y="733693"/>
            <a:ext cx="60350" cy="363586"/>
          </a:xfrm>
          <a:prstGeom prst="rect">
            <a:avLst/>
          </a:prstGeom>
          <a:solidFill>
            <a:srgbClr val="D4AF37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969703" y="695865"/>
            <a:ext cx="60350" cy="401414"/>
          </a:xfrm>
          <a:prstGeom prst="rect">
            <a:avLst/>
          </a:prstGeom>
          <a:solidFill>
            <a:srgbClr val="D4AF37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070287" y="963443"/>
            <a:ext cx="60350" cy="133836"/>
          </a:xfrm>
          <a:prstGeom prst="rect">
            <a:avLst/>
          </a:prstGeom>
          <a:solidFill>
            <a:srgbClr val="D4AF37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170871" y="946028"/>
            <a:ext cx="60350" cy="151251"/>
          </a:xfrm>
          <a:prstGeom prst="rect">
            <a:avLst/>
          </a:prstGeom>
          <a:solidFill>
            <a:srgbClr val="D4AF37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271455" y="681224"/>
            <a:ext cx="60350" cy="416055"/>
          </a:xfrm>
          <a:prstGeom prst="rect">
            <a:avLst/>
          </a:prstGeom>
          <a:solidFill>
            <a:srgbClr val="D4AF37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0372039" y="753309"/>
            <a:ext cx="60350" cy="343970"/>
          </a:xfrm>
          <a:prstGeom prst="rect">
            <a:avLst/>
          </a:prstGeom>
          <a:solidFill>
            <a:srgbClr val="D4AF37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0472623" y="1006630"/>
            <a:ext cx="60350" cy="90649"/>
          </a:xfrm>
          <a:prstGeom prst="rect">
            <a:avLst/>
          </a:prstGeom>
          <a:solidFill>
            <a:srgbClr val="D4AF37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0573207" y="882246"/>
            <a:ext cx="60350" cy="215033"/>
          </a:xfrm>
          <a:prstGeom prst="rect">
            <a:avLst/>
          </a:prstGeom>
          <a:solidFill>
            <a:srgbClr val="D4AF37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0673791" y="648738"/>
            <a:ext cx="60350" cy="448541"/>
          </a:xfrm>
          <a:prstGeom prst="rect">
            <a:avLst/>
          </a:prstGeom>
          <a:solidFill>
            <a:srgbClr val="D4AF37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0774375" y="821330"/>
            <a:ext cx="60350" cy="275949"/>
          </a:xfrm>
          <a:prstGeom prst="rect">
            <a:avLst/>
          </a:prstGeom>
          <a:solidFill>
            <a:srgbClr val="D4AF37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0874959" y="1027347"/>
            <a:ext cx="60350" cy="69932"/>
          </a:xfrm>
          <a:prstGeom prst="rect">
            <a:avLst/>
          </a:prstGeom>
          <a:solidFill>
            <a:srgbClr val="D4AF37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0975543" y="867043"/>
            <a:ext cx="60350" cy="230236"/>
          </a:xfrm>
          <a:prstGeom prst="rect">
            <a:avLst/>
          </a:prstGeom>
          <a:solidFill>
            <a:srgbClr val="D4AF37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1076127" y="640472"/>
            <a:ext cx="60350" cy="456807"/>
          </a:xfrm>
          <a:prstGeom prst="rect">
            <a:avLst/>
          </a:prstGeom>
          <a:solidFill>
            <a:srgbClr val="D4AF37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1176711" y="836865"/>
            <a:ext cx="60350" cy="260414"/>
          </a:xfrm>
          <a:prstGeom prst="rect">
            <a:avLst/>
          </a:prstGeom>
          <a:solidFill>
            <a:srgbClr val="D4AF37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9A9AA8"/>
                </a:solidFill>
                <a:latin typeface="微软雅黑" panose="020B0503020204020204" charset="-122"/>
                <a:cs typeface="微软雅黑" panose="020B0503020204020204" charset="-122"/>
              </a:rPr>
              <a:t>刘肯  ·  北京幻道科技</a:t>
            </a:r>
            <a:endParaRPr sz="900" b="0" i="0">
              <a:solidFill>
                <a:srgbClr val="9A9AA8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9905695" y="6446520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9A9AA8"/>
                </a:solidFill>
                <a:latin typeface="Georgia" panose="02040502050405020303"/>
                <a:cs typeface="微软雅黑" panose="020B0503020204020204" charset="-122"/>
              </a:rPr>
              <a:t>08 / 12</a:t>
            </a:r>
            <a:endParaRPr sz="900" b="0" i="0">
              <a:solidFill>
                <a:srgbClr val="9A9AA8"/>
              </a:solidFill>
              <a:latin typeface="Georgia" panose="02040502050405020303"/>
              <a:cs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640080" y="169164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9A9AA8"/>
                </a:solidFill>
                <a:latin typeface="微软雅黑" panose="020B0503020204020204" charset="-122"/>
                <a:cs typeface="微软雅黑" panose="020B0503020204020204" charset="-122"/>
              </a:rPr>
              <a:t>方案停在 PPT，落地靠人推——「知」与「行」之间存在巨大鸿沟。</a:t>
            </a:r>
            <a:endParaRPr sz="1300" b="0" i="1">
              <a:solidFill>
                <a:srgbClr val="9A9AA8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640080" y="2240280"/>
            <a:ext cx="5303520" cy="3383280"/>
          </a:xfrm>
          <a:prstGeom prst="roundRect">
            <a:avLst>
              <a:gd name="adj" fmla="val 5000"/>
            </a:avLst>
          </a:prstGeom>
          <a:solidFill>
            <a:srgbClr val="1414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40080" y="2240280"/>
            <a:ext cx="5303520" cy="54864"/>
          </a:xfrm>
          <a:prstGeom prst="rect">
            <a:avLst/>
          </a:prstGeom>
          <a:solidFill>
            <a:srgbClr val="C93F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4400" y="2423160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F5F1E8"/>
                </a:solidFill>
                <a:latin typeface="微软雅黑" panose="020B0503020204020204" charset="-122"/>
                <a:cs typeface="微软雅黑" panose="020B0503020204020204" charset="-122"/>
              </a:rPr>
              <a:t>传统咨询模式</a:t>
            </a:r>
            <a:endParaRPr sz="1600" b="1" i="0">
              <a:solidFill>
                <a:srgbClr val="F5F1E8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914400" y="2743200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1">
                <a:solidFill>
                  <a:srgbClr val="9A9AA8"/>
                </a:solidFill>
                <a:latin typeface="Georgia" panose="02040502050405020303"/>
                <a:cs typeface="微软雅黑" panose="020B0503020204020204" charset="-122"/>
              </a:rPr>
              <a:t>Traditional Consulting</a:t>
            </a:r>
            <a:endParaRPr sz="1000" b="0" i="1">
              <a:solidFill>
                <a:srgbClr val="9A9AA8"/>
              </a:solidFill>
              <a:latin typeface="Georgia" panose="02040502050405020303"/>
              <a:cs typeface="微软雅黑" panose="020B0503020204020204" charset="-122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914400" y="315468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C93F3F"/>
                </a:solidFill>
                <a:latin typeface="Georgia" panose="02040502050405020303"/>
                <a:cs typeface="微软雅黑" panose="020B0503020204020204" charset="-122"/>
              </a:rPr>
              <a:t>—</a:t>
            </a:r>
            <a:endParaRPr sz="1400" b="1" i="0">
              <a:solidFill>
                <a:srgbClr val="C93F3F"/>
              </a:solidFill>
              <a:latin typeface="Georgia" panose="02040502050405020303"/>
              <a:cs typeface="微软雅黑" panose="020B0503020204020204" charset="-122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1280160" y="3136392"/>
            <a:ext cx="1645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F5F1E8"/>
                </a:solidFill>
                <a:latin typeface="微软雅黑" panose="020B0503020204020204" charset="-122"/>
                <a:cs typeface="微软雅黑" panose="020B0503020204020204" charset="-122"/>
              </a:rPr>
              <a:t>交付即终点</a:t>
            </a:r>
            <a:endParaRPr sz="1200" b="1" i="0">
              <a:solidFill>
                <a:srgbClr val="F5F1E8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2971800" y="3136392"/>
            <a:ext cx="29260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E6E6E6"/>
                </a:solidFill>
                <a:latin typeface="微软雅黑" panose="020B0503020204020204" charset="-122"/>
                <a:cs typeface="微软雅黑" panose="020B0503020204020204" charset="-122"/>
              </a:rPr>
              <a:t>报告交付后，落地实施依赖客户自身能力。</a:t>
            </a:r>
            <a:endParaRPr sz="1000" b="0" i="0">
              <a:solidFill>
                <a:srgbClr val="E6E6E6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914400" y="3776472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C93F3F"/>
                </a:solidFill>
                <a:latin typeface="Georgia" panose="02040502050405020303"/>
                <a:cs typeface="微软雅黑" panose="020B0503020204020204" charset="-122"/>
              </a:rPr>
              <a:t>—</a:t>
            </a:r>
            <a:endParaRPr sz="1400" b="1" i="0">
              <a:solidFill>
                <a:srgbClr val="C93F3F"/>
              </a:solidFill>
              <a:latin typeface="Georgia" panose="02040502050405020303"/>
              <a:cs typeface="微软雅黑" panose="020B0503020204020204" charset="-122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1280160" y="3758184"/>
            <a:ext cx="1645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F5F1E8"/>
                </a:solidFill>
                <a:latin typeface="微软雅黑" panose="020B0503020204020204" charset="-122"/>
                <a:cs typeface="微软雅黑" panose="020B0503020204020204" charset="-122"/>
              </a:rPr>
              <a:t>周期长成本高</a:t>
            </a:r>
            <a:endParaRPr sz="1200" b="1" i="0">
              <a:solidFill>
                <a:srgbClr val="F5F1E8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2971800" y="3758184"/>
            <a:ext cx="29260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E6E6E6"/>
                </a:solidFill>
                <a:latin typeface="微软雅黑" panose="020B0503020204020204" charset="-122"/>
                <a:cs typeface="微软雅黑" panose="020B0503020204020204" charset="-122"/>
              </a:rPr>
              <a:t>数月调研、百万预算，难以快速验证与迭代。</a:t>
            </a:r>
            <a:endParaRPr sz="1000" b="0" i="0">
              <a:solidFill>
                <a:srgbClr val="E6E6E6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914400" y="4398264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C93F3F"/>
                </a:solidFill>
                <a:latin typeface="Georgia" panose="02040502050405020303"/>
                <a:cs typeface="微软雅黑" panose="020B0503020204020204" charset="-122"/>
              </a:rPr>
              <a:t>—</a:t>
            </a:r>
            <a:endParaRPr sz="1400" b="1" i="0">
              <a:solidFill>
                <a:srgbClr val="C93F3F"/>
              </a:solidFill>
              <a:latin typeface="Georgia" panose="02040502050405020303"/>
              <a:cs typeface="微软雅黑" panose="020B0503020204020204" charset="-122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1280160" y="4379976"/>
            <a:ext cx="1645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F5F1E8"/>
                </a:solidFill>
                <a:latin typeface="微软雅黑" panose="020B0503020204020204" charset="-122"/>
                <a:cs typeface="微软雅黑" panose="020B0503020204020204" charset="-122"/>
              </a:rPr>
              <a:t>方案通用化</a:t>
            </a:r>
            <a:endParaRPr sz="1200" b="1" i="0">
              <a:solidFill>
                <a:srgbClr val="F5F1E8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2971800" y="4379976"/>
            <a:ext cx="29260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E6E6E6"/>
                </a:solidFill>
                <a:latin typeface="微软雅黑" panose="020B0503020204020204" charset="-122"/>
                <a:cs typeface="微软雅黑" panose="020B0503020204020204" charset="-122"/>
              </a:rPr>
              <a:t>标准化方法论难以贴合企业真实场景。</a:t>
            </a:r>
            <a:endParaRPr sz="1000" b="0" i="0">
              <a:solidFill>
                <a:srgbClr val="E6E6E6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914400" y="5020056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C93F3F"/>
                </a:solidFill>
                <a:latin typeface="Georgia" panose="02040502050405020303"/>
                <a:cs typeface="微软雅黑" panose="020B0503020204020204" charset="-122"/>
              </a:rPr>
              <a:t>—</a:t>
            </a:r>
            <a:endParaRPr sz="1400" b="1" i="0">
              <a:solidFill>
                <a:srgbClr val="C93F3F"/>
              </a:solidFill>
              <a:latin typeface="Georgia" panose="02040502050405020303"/>
              <a:cs typeface="微软雅黑" panose="020B0503020204020204" charset="-122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1280160" y="5001768"/>
            <a:ext cx="1645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F5F1E8"/>
                </a:solidFill>
                <a:latin typeface="微软雅黑" panose="020B0503020204020204" charset="-122"/>
                <a:cs typeface="微软雅黑" panose="020B0503020204020204" charset="-122"/>
              </a:rPr>
              <a:t>知行分离</a:t>
            </a:r>
            <a:endParaRPr sz="1200" b="1" i="0">
              <a:solidFill>
                <a:srgbClr val="F5F1E8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2971800" y="5001768"/>
            <a:ext cx="29260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E6E6E6"/>
                </a:solidFill>
                <a:latin typeface="微软雅黑" panose="020B0503020204020204" charset="-122"/>
                <a:cs typeface="微软雅黑" panose="020B0503020204020204" charset="-122"/>
              </a:rPr>
              <a:t>「懂」的人不落地，「做」的人不懂方法。</a:t>
            </a:r>
            <a:endParaRPr sz="1000" b="0" i="0">
              <a:solidFill>
                <a:srgbClr val="E6E6E6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4" name="Rounded Rectangle 43"/>
          <p:cNvSpPr/>
          <p:nvPr/>
        </p:nvSpPr>
        <p:spPr>
          <a:xfrm>
            <a:off x="6263640" y="2240280"/>
            <a:ext cx="5285232" cy="3383280"/>
          </a:xfrm>
          <a:prstGeom prst="roundRect">
            <a:avLst>
              <a:gd name="adj" fmla="val 5000"/>
            </a:avLst>
          </a:prstGeom>
          <a:solidFill>
            <a:srgbClr val="1C1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263640" y="2240280"/>
            <a:ext cx="5285232" cy="54864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537960" y="2423160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D4AF37"/>
                </a:solidFill>
                <a:latin typeface="微软雅黑" panose="020B0503020204020204" charset="-122"/>
                <a:cs typeface="微软雅黑" panose="020B0503020204020204" charset="-122"/>
              </a:rPr>
              <a:t>FDE 新范式</a:t>
            </a:r>
            <a:endParaRPr sz="1600" b="1" i="0">
              <a:solidFill>
                <a:srgbClr val="D4AF37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6537960" y="2743200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1">
                <a:solidFill>
                  <a:srgbClr val="E8C85A"/>
                </a:solidFill>
                <a:latin typeface="Georgia" panose="02040502050405020303"/>
                <a:cs typeface="微软雅黑" panose="020B0503020204020204" charset="-122"/>
              </a:rPr>
              <a:t>Forward Deployed Engineer</a:t>
            </a:r>
            <a:endParaRPr sz="1000" b="0" i="1">
              <a:solidFill>
                <a:srgbClr val="E8C85A"/>
              </a:solidFill>
              <a:latin typeface="Georgia" panose="02040502050405020303"/>
              <a:cs typeface="微软雅黑" panose="020B0503020204020204" charset="-122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6537960" y="315468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D4AF37"/>
                </a:solidFill>
                <a:latin typeface="Georgia" panose="02040502050405020303"/>
                <a:cs typeface="微软雅黑" panose="020B0503020204020204" charset="-122"/>
              </a:rPr>
              <a:t>+</a:t>
            </a:r>
            <a:endParaRPr sz="1600" b="1" i="0">
              <a:solidFill>
                <a:srgbClr val="D4AF37"/>
              </a:solidFill>
              <a:latin typeface="Georgia" panose="02040502050405020303"/>
              <a:cs typeface="微软雅黑" panose="020B0503020204020204" charset="-122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6903720" y="3136392"/>
            <a:ext cx="1645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F5F1E8"/>
                </a:solidFill>
                <a:latin typeface="微软雅黑" panose="020B0503020204020204" charset="-122"/>
                <a:cs typeface="微软雅黑" panose="020B0503020204020204" charset="-122"/>
              </a:rPr>
              <a:t>交付即起点</a:t>
            </a:r>
            <a:endParaRPr sz="1200" b="1" i="0">
              <a:solidFill>
                <a:srgbClr val="F5F1E8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8595360" y="3136392"/>
            <a:ext cx="29260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E6E6E6"/>
                </a:solidFill>
                <a:latin typeface="微软雅黑" panose="020B0503020204020204" charset="-122"/>
                <a:cs typeface="微软雅黑" panose="020B0503020204020204" charset="-122"/>
              </a:rPr>
              <a:t>方案与代码同步交付，上线即开始产生价值。</a:t>
            </a:r>
            <a:endParaRPr sz="1000" b="0" i="0">
              <a:solidFill>
                <a:srgbClr val="E6E6E6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6537960" y="3776472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D4AF37"/>
                </a:solidFill>
                <a:latin typeface="Georgia" panose="02040502050405020303"/>
                <a:cs typeface="微软雅黑" panose="020B0503020204020204" charset="-122"/>
              </a:rPr>
              <a:t>+</a:t>
            </a:r>
            <a:endParaRPr sz="1600" b="1" i="0">
              <a:solidFill>
                <a:srgbClr val="D4AF37"/>
              </a:solidFill>
              <a:latin typeface="Georgia" panose="02040502050405020303"/>
              <a:cs typeface="微软雅黑" panose="020B0503020204020204" charset="-122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6903720" y="3758184"/>
            <a:ext cx="1645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F5F1E8"/>
                </a:solidFill>
                <a:latin typeface="微软雅黑" panose="020B0503020204020204" charset="-122"/>
                <a:cs typeface="微软雅黑" panose="020B0503020204020204" charset="-122"/>
              </a:rPr>
              <a:t>周级迭代</a:t>
            </a:r>
            <a:endParaRPr sz="1200" b="1" i="0">
              <a:solidFill>
                <a:srgbClr val="F5F1E8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8595360" y="3758184"/>
            <a:ext cx="29260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E6E6E6"/>
                </a:solidFill>
                <a:latin typeface="微软雅黑" panose="020B0503020204020204" charset="-122"/>
                <a:cs typeface="微软雅黑" panose="020B0503020204020204" charset="-122"/>
              </a:rPr>
              <a:t>以周为单位快速验证，小步快跑持续优化。</a:t>
            </a:r>
            <a:endParaRPr sz="1000" b="0" i="0">
              <a:solidFill>
                <a:srgbClr val="E6E6E6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6537960" y="4398264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D4AF37"/>
                </a:solidFill>
                <a:latin typeface="Georgia" panose="02040502050405020303"/>
                <a:cs typeface="微软雅黑" panose="020B0503020204020204" charset="-122"/>
              </a:rPr>
              <a:t>+</a:t>
            </a:r>
            <a:endParaRPr sz="1600" b="1" i="0">
              <a:solidFill>
                <a:srgbClr val="D4AF37"/>
              </a:solidFill>
              <a:latin typeface="Georgia" panose="02040502050405020303"/>
              <a:cs typeface="微软雅黑" panose="020B0503020204020204" charset="-122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6903720" y="4379976"/>
            <a:ext cx="1645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F5F1E8"/>
                </a:solidFill>
                <a:latin typeface="微软雅黑" panose="020B0503020204020204" charset="-122"/>
                <a:cs typeface="微软雅黑" panose="020B0503020204020204" charset="-122"/>
              </a:rPr>
              <a:t>场景定制</a:t>
            </a:r>
            <a:endParaRPr sz="1200" b="1" i="0">
              <a:solidFill>
                <a:srgbClr val="F5F1E8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8595360" y="4379976"/>
            <a:ext cx="29260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E6E6E6"/>
                </a:solidFill>
                <a:latin typeface="微软雅黑" panose="020B0503020204020204" charset="-122"/>
                <a:cs typeface="微软雅黑" panose="020B0503020204020204" charset="-122"/>
              </a:rPr>
              <a:t>深入真实业务流，量身打造而非套模板。</a:t>
            </a:r>
            <a:endParaRPr sz="1000" b="0" i="0">
              <a:solidFill>
                <a:srgbClr val="E6E6E6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6537960" y="5020056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D4AF37"/>
                </a:solidFill>
                <a:latin typeface="Georgia" panose="02040502050405020303"/>
                <a:cs typeface="微软雅黑" panose="020B0503020204020204" charset="-122"/>
              </a:rPr>
              <a:t>+</a:t>
            </a:r>
            <a:endParaRPr sz="1600" b="1" i="0">
              <a:solidFill>
                <a:srgbClr val="D4AF37"/>
              </a:solidFill>
              <a:latin typeface="Georgia" panose="02040502050405020303"/>
              <a:cs typeface="微软雅黑" panose="020B0503020204020204" charset="-122"/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6903720" y="5001768"/>
            <a:ext cx="1645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F5F1E8"/>
                </a:solidFill>
                <a:latin typeface="微软雅黑" panose="020B0503020204020204" charset="-122"/>
                <a:cs typeface="微软雅黑" panose="020B0503020204020204" charset="-122"/>
              </a:rPr>
              <a:t>知行合一</a:t>
            </a:r>
            <a:endParaRPr sz="1200" b="1" i="0">
              <a:solidFill>
                <a:srgbClr val="F5F1E8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8595360" y="5001768"/>
            <a:ext cx="29260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E6E6E6"/>
                </a:solidFill>
                <a:latin typeface="微软雅黑" panose="020B0503020204020204" charset="-122"/>
                <a:cs typeface="微软雅黑" panose="020B0503020204020204" charset="-122"/>
              </a:rPr>
              <a:t>一人兼具方法与工程，从设计到落地贯通。</a:t>
            </a:r>
            <a:endParaRPr sz="1000" b="0" i="0">
              <a:solidFill>
                <a:srgbClr val="E6E6E6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0" name="Oval 59"/>
          <p:cNvSpPr/>
          <p:nvPr/>
        </p:nvSpPr>
        <p:spPr>
          <a:xfrm>
            <a:off x="5775807" y="3657600"/>
            <a:ext cx="640080" cy="640080"/>
          </a:xfrm>
          <a:prstGeom prst="ellipse">
            <a:avLst/>
          </a:prstGeom>
          <a:solidFill>
            <a:srgbClr val="0A0A0F"/>
          </a:solidFill>
          <a:ln w="19050">
            <a:solidFill>
              <a:srgbClr val="D4A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775807" y="3657600"/>
            <a:ext cx="64008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D4AF37"/>
                </a:solidFill>
                <a:latin typeface="Georgia" panose="02040502050405020303"/>
                <a:cs typeface="微软雅黑" panose="020B0503020204020204" charset="-122"/>
              </a:rPr>
              <a:t>VS</a:t>
            </a:r>
            <a:endParaRPr sz="1600" b="1" i="0">
              <a:solidFill>
                <a:srgbClr val="D4AF37"/>
              </a:solidFill>
              <a:latin typeface="Georgia" panose="02040502050405020303"/>
              <a:cs typeface="微软雅黑" panose="020B0503020204020204" charset="-122"/>
            </a:endParaRPr>
          </a:p>
        </p:txBody>
      </p:sp>
      <p:sp>
        <p:nvSpPr>
          <p:cNvPr id="62" name="TextBox 61"/>
          <p:cNvSpPr txBox="1"/>
          <p:nvPr/>
        </p:nvSpPr>
        <p:spPr>
          <a:xfrm>
            <a:off x="640080" y="5806440"/>
            <a:ext cx="1091153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9A9AA8"/>
                </a:solidFill>
                <a:latin typeface="微软雅黑" panose="020B0503020204020204" charset="-122"/>
                <a:cs typeface="微软雅黑" panose="020B0503020204020204" charset="-122"/>
              </a:rPr>
              <a:t>差距不在「想清楚」，而在「</a:t>
            </a:r>
            <a:r>
              <a:rPr sz="1200" b="1" i="0">
                <a:solidFill>
                  <a:srgbClr val="D4AF37"/>
                </a:solidFill>
                <a:latin typeface="微软雅黑" panose="020B0503020204020204" charset="-122"/>
                <a:cs typeface="微软雅黑" panose="020B0503020204020204" charset="-122"/>
              </a:rPr>
              <a:t>做出来</a:t>
            </a:r>
            <a:r>
              <a:rPr sz="1200" b="0" i="0">
                <a:solidFill>
                  <a:srgbClr val="9A9AA8"/>
                </a:solidFill>
                <a:latin typeface="微软雅黑" panose="020B0503020204020204" charset="-122"/>
                <a:cs typeface="微软雅黑" panose="020B0503020204020204" charset="-122"/>
              </a:rPr>
              <a:t>」。</a:t>
            </a:r>
            <a:endParaRPr sz="1200" b="0" i="0">
              <a:solidFill>
                <a:srgbClr val="9A9AA8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E8C85A"/>
                </a:solidFill>
                <a:latin typeface="Georgia" panose="02040502050405020303"/>
                <a:cs typeface="微软雅黑" panose="020B0503020204020204" charset="-122"/>
              </a:rPr>
              <a:t>05  ·  FDE WORKFLOW</a:t>
            </a:r>
            <a:endParaRPr sz="1100" b="0" i="1">
              <a:solidFill>
                <a:srgbClr val="E8C85A"/>
              </a:solidFill>
              <a:latin typeface="Georgia" panose="02040502050405020303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0584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F5F1E8"/>
                </a:solidFill>
                <a:latin typeface="微软雅黑" panose="020B0503020204020204" charset="-122"/>
                <a:cs typeface="微软雅黑" panose="020B0503020204020204" charset="-122"/>
              </a:rPr>
              <a:t>FDE 工作流程</a:t>
            </a:r>
            <a:endParaRPr sz="3000" b="1" i="0">
              <a:solidFill>
                <a:srgbClr val="F5F1E8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58368" y="1481328"/>
            <a:ext cx="548640" cy="54864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265615" y="834390"/>
            <a:ext cx="60350" cy="262890"/>
          </a:xfrm>
          <a:prstGeom prst="rect">
            <a:avLst/>
          </a:prstGeom>
          <a:solidFill>
            <a:srgbClr val="D4AF37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366199" y="1023476"/>
            <a:ext cx="60350" cy="73803"/>
          </a:xfrm>
          <a:prstGeom prst="rect">
            <a:avLst/>
          </a:prstGeom>
          <a:solidFill>
            <a:srgbClr val="D4AF37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466783" y="799298"/>
            <a:ext cx="60350" cy="297981"/>
          </a:xfrm>
          <a:prstGeom prst="rect">
            <a:avLst/>
          </a:prstGeom>
          <a:solidFill>
            <a:srgbClr val="D4AF37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567367" y="656494"/>
            <a:ext cx="60350" cy="440785"/>
          </a:xfrm>
          <a:prstGeom prst="rect">
            <a:avLst/>
          </a:prstGeom>
          <a:solidFill>
            <a:srgbClr val="D4AF37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667951" y="903419"/>
            <a:ext cx="60350" cy="193860"/>
          </a:xfrm>
          <a:prstGeom prst="rect">
            <a:avLst/>
          </a:prstGeom>
          <a:solidFill>
            <a:srgbClr val="D4AF37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768535" y="995244"/>
            <a:ext cx="60350" cy="102035"/>
          </a:xfrm>
          <a:prstGeom prst="rect">
            <a:avLst/>
          </a:prstGeom>
          <a:solidFill>
            <a:srgbClr val="D4AF37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869119" y="733693"/>
            <a:ext cx="60350" cy="363586"/>
          </a:xfrm>
          <a:prstGeom prst="rect">
            <a:avLst/>
          </a:prstGeom>
          <a:solidFill>
            <a:srgbClr val="D4AF37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969703" y="695865"/>
            <a:ext cx="60350" cy="401414"/>
          </a:xfrm>
          <a:prstGeom prst="rect">
            <a:avLst/>
          </a:prstGeom>
          <a:solidFill>
            <a:srgbClr val="D4AF37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070287" y="963443"/>
            <a:ext cx="60350" cy="133836"/>
          </a:xfrm>
          <a:prstGeom prst="rect">
            <a:avLst/>
          </a:prstGeom>
          <a:solidFill>
            <a:srgbClr val="D4AF37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170871" y="946028"/>
            <a:ext cx="60350" cy="151251"/>
          </a:xfrm>
          <a:prstGeom prst="rect">
            <a:avLst/>
          </a:prstGeom>
          <a:solidFill>
            <a:srgbClr val="D4AF37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271455" y="681224"/>
            <a:ext cx="60350" cy="416055"/>
          </a:xfrm>
          <a:prstGeom prst="rect">
            <a:avLst/>
          </a:prstGeom>
          <a:solidFill>
            <a:srgbClr val="D4AF37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0372039" y="753309"/>
            <a:ext cx="60350" cy="343970"/>
          </a:xfrm>
          <a:prstGeom prst="rect">
            <a:avLst/>
          </a:prstGeom>
          <a:solidFill>
            <a:srgbClr val="D4AF37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0472623" y="1006630"/>
            <a:ext cx="60350" cy="90649"/>
          </a:xfrm>
          <a:prstGeom prst="rect">
            <a:avLst/>
          </a:prstGeom>
          <a:solidFill>
            <a:srgbClr val="D4AF37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0573207" y="882246"/>
            <a:ext cx="60350" cy="215033"/>
          </a:xfrm>
          <a:prstGeom prst="rect">
            <a:avLst/>
          </a:prstGeom>
          <a:solidFill>
            <a:srgbClr val="D4AF37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0673791" y="648738"/>
            <a:ext cx="60350" cy="448541"/>
          </a:xfrm>
          <a:prstGeom prst="rect">
            <a:avLst/>
          </a:prstGeom>
          <a:solidFill>
            <a:srgbClr val="D4AF37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0774375" y="821330"/>
            <a:ext cx="60350" cy="275949"/>
          </a:xfrm>
          <a:prstGeom prst="rect">
            <a:avLst/>
          </a:prstGeom>
          <a:solidFill>
            <a:srgbClr val="D4AF37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0874959" y="1027347"/>
            <a:ext cx="60350" cy="69932"/>
          </a:xfrm>
          <a:prstGeom prst="rect">
            <a:avLst/>
          </a:prstGeom>
          <a:solidFill>
            <a:srgbClr val="D4AF37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0975543" y="867043"/>
            <a:ext cx="60350" cy="230236"/>
          </a:xfrm>
          <a:prstGeom prst="rect">
            <a:avLst/>
          </a:prstGeom>
          <a:solidFill>
            <a:srgbClr val="D4AF37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1076127" y="640472"/>
            <a:ext cx="60350" cy="456807"/>
          </a:xfrm>
          <a:prstGeom prst="rect">
            <a:avLst/>
          </a:prstGeom>
          <a:solidFill>
            <a:srgbClr val="D4AF37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1176711" y="836865"/>
            <a:ext cx="60350" cy="260414"/>
          </a:xfrm>
          <a:prstGeom prst="rect">
            <a:avLst/>
          </a:prstGeom>
          <a:solidFill>
            <a:srgbClr val="D4AF37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9A9AA8"/>
                </a:solidFill>
                <a:latin typeface="微软雅黑" panose="020B0503020204020204" charset="-122"/>
                <a:cs typeface="微软雅黑" panose="020B0503020204020204" charset="-122"/>
              </a:rPr>
              <a:t>刘肯  ·  北京幻道科技</a:t>
            </a:r>
            <a:endParaRPr sz="900" b="0" i="0">
              <a:solidFill>
                <a:srgbClr val="9A9AA8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9905695" y="6446520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9A9AA8"/>
                </a:solidFill>
                <a:latin typeface="Georgia" panose="02040502050405020303"/>
                <a:cs typeface="微软雅黑" panose="020B0503020204020204" charset="-122"/>
              </a:rPr>
              <a:t>09 / 12</a:t>
            </a:r>
            <a:endParaRPr sz="900" b="0" i="0">
              <a:solidFill>
                <a:srgbClr val="9A9AA8"/>
              </a:solidFill>
              <a:latin typeface="Georgia" panose="02040502050405020303"/>
              <a:cs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640080" y="169164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9A9AA8"/>
                </a:solidFill>
                <a:latin typeface="微软雅黑" panose="020B0503020204020204" charset="-122"/>
                <a:cs typeface="微软雅黑" panose="020B0503020204020204" charset="-122"/>
              </a:rPr>
              <a:t>以「周」为节奏的五步闭环——从洞察到落地，每一步都可度量、可迭代。</a:t>
            </a:r>
            <a:endParaRPr sz="1300" b="0" i="1">
              <a:solidFill>
                <a:srgbClr val="9A9AA8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640080" y="2468880"/>
            <a:ext cx="1962851" cy="2377440"/>
          </a:xfrm>
          <a:prstGeom prst="roundRect">
            <a:avLst>
              <a:gd name="adj" fmla="val 8000"/>
            </a:avLst>
          </a:prstGeom>
          <a:solidFill>
            <a:srgbClr val="1C1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40080" y="2468880"/>
            <a:ext cx="1962851" cy="54864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2959" y="2651760"/>
            <a:ext cx="1597091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D4AF37"/>
                </a:solidFill>
                <a:latin typeface="Georgia" panose="02040502050405020303"/>
                <a:cs typeface="微软雅黑" panose="020B0503020204020204" charset="-122"/>
              </a:rPr>
              <a:t>01</a:t>
            </a:r>
            <a:endParaRPr sz="3000" b="1" i="0">
              <a:solidFill>
                <a:srgbClr val="D4AF37"/>
              </a:solidFill>
              <a:latin typeface="Georgia" panose="02040502050405020303"/>
              <a:cs typeface="微软雅黑" panose="020B0503020204020204" charset="-122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822959" y="3246120"/>
            <a:ext cx="1597091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F5F1E8"/>
                </a:solidFill>
                <a:latin typeface="微软雅黑" panose="020B0503020204020204" charset="-122"/>
                <a:cs typeface="微软雅黑" panose="020B0503020204020204" charset="-122"/>
              </a:rPr>
              <a:t>现场勘察</a:t>
            </a:r>
            <a:endParaRPr sz="1500" b="1" i="0">
              <a:solidFill>
                <a:srgbClr val="F5F1E8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822959" y="3566160"/>
            <a:ext cx="1597091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1">
                <a:solidFill>
                  <a:srgbClr val="E8C85A"/>
                </a:solidFill>
                <a:latin typeface="Georgia" panose="02040502050405020303"/>
                <a:cs typeface="微软雅黑" panose="020B0503020204020204" charset="-122"/>
              </a:rPr>
              <a:t>Recon</a:t>
            </a:r>
            <a:endParaRPr sz="1000" b="0" i="1">
              <a:solidFill>
                <a:srgbClr val="E8C85A"/>
              </a:solidFill>
              <a:latin typeface="Georgia" panose="02040502050405020303"/>
              <a:cs typeface="微软雅黑" panose="020B0503020204020204" charset="-122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822959" y="3886200"/>
            <a:ext cx="274320" cy="27432"/>
          </a:xfrm>
          <a:prstGeom prst="rect">
            <a:avLst/>
          </a:prstGeom>
          <a:solidFill>
            <a:srgbClr val="B87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2959" y="4023360"/>
            <a:ext cx="1597091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E6E6E6"/>
                </a:solidFill>
                <a:latin typeface="微软雅黑" panose="020B0503020204020204" charset="-122"/>
                <a:cs typeface="微软雅黑" panose="020B0503020204020204" charset="-122"/>
              </a:rPr>
              <a:t>深入业务一线，理解真实流程与痛点。</a:t>
            </a:r>
            <a:endParaRPr sz="1000" b="0" i="0">
              <a:solidFill>
                <a:srgbClr val="E6E6E6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" name="Right Arrow 34"/>
          <p:cNvSpPr/>
          <p:nvPr/>
        </p:nvSpPr>
        <p:spPr>
          <a:xfrm>
            <a:off x="2621219" y="3547872"/>
            <a:ext cx="237744" cy="219456"/>
          </a:xfrm>
          <a:prstGeom prst="rightArrow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2877251" y="2468880"/>
            <a:ext cx="1962851" cy="2377440"/>
          </a:xfrm>
          <a:prstGeom prst="roundRect">
            <a:avLst>
              <a:gd name="adj" fmla="val 8000"/>
            </a:avLst>
          </a:prstGeom>
          <a:solidFill>
            <a:srgbClr val="1C1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877251" y="2468880"/>
            <a:ext cx="1962851" cy="54864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060131" y="2651760"/>
            <a:ext cx="1597091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D4AF37"/>
                </a:solidFill>
                <a:latin typeface="Georgia" panose="02040502050405020303"/>
                <a:cs typeface="微软雅黑" panose="020B0503020204020204" charset="-122"/>
              </a:rPr>
              <a:t>02</a:t>
            </a:r>
            <a:endParaRPr sz="3000" b="1" i="0">
              <a:solidFill>
                <a:srgbClr val="D4AF37"/>
              </a:solidFill>
              <a:latin typeface="Georgia" panose="02040502050405020303"/>
              <a:cs typeface="微软雅黑" panose="020B0503020204020204" charset="-122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3060131" y="3246120"/>
            <a:ext cx="1597091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F5F1E8"/>
                </a:solidFill>
                <a:latin typeface="微软雅黑" panose="020B0503020204020204" charset="-122"/>
                <a:cs typeface="微软雅黑" panose="020B0503020204020204" charset="-122"/>
              </a:rPr>
              <a:t>方案设计</a:t>
            </a:r>
            <a:endParaRPr sz="1500" b="1" i="0">
              <a:solidFill>
                <a:srgbClr val="F5F1E8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3060131" y="3566160"/>
            <a:ext cx="1597091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1">
                <a:solidFill>
                  <a:srgbClr val="E8C85A"/>
                </a:solidFill>
                <a:latin typeface="Georgia" panose="02040502050405020303"/>
                <a:cs typeface="微软雅黑" panose="020B0503020204020204" charset="-122"/>
              </a:rPr>
              <a:t>Design</a:t>
            </a:r>
            <a:endParaRPr sz="1000" b="0" i="1">
              <a:solidFill>
                <a:srgbClr val="E8C85A"/>
              </a:solidFill>
              <a:latin typeface="Georgia" panose="02040502050405020303"/>
              <a:cs typeface="微软雅黑" panose="020B0503020204020204" charset="-122"/>
            </a:endParaRPr>
          </a:p>
        </p:txBody>
      </p:sp>
      <p:sp>
        <p:nvSpPr>
          <p:cNvPr id="41" name="Rectangle 40"/>
          <p:cNvSpPr/>
          <p:nvPr/>
        </p:nvSpPr>
        <p:spPr>
          <a:xfrm>
            <a:off x="3060131" y="3886200"/>
            <a:ext cx="274320" cy="27432"/>
          </a:xfrm>
          <a:prstGeom prst="rect">
            <a:avLst/>
          </a:prstGeom>
          <a:solidFill>
            <a:srgbClr val="B87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060131" y="4023360"/>
            <a:ext cx="1597091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E6E6E6"/>
                </a:solidFill>
                <a:latin typeface="微软雅黑" panose="020B0503020204020204" charset="-122"/>
                <a:cs typeface="微软雅黑" panose="020B0503020204020204" charset="-122"/>
              </a:rPr>
              <a:t>结合 AI 能力，设计可落地的解决方案。</a:t>
            </a:r>
            <a:endParaRPr sz="1000" b="0" i="0">
              <a:solidFill>
                <a:srgbClr val="E6E6E6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3" name="Right Arrow 42"/>
          <p:cNvSpPr/>
          <p:nvPr/>
        </p:nvSpPr>
        <p:spPr>
          <a:xfrm>
            <a:off x="4858390" y="3547872"/>
            <a:ext cx="237744" cy="219456"/>
          </a:xfrm>
          <a:prstGeom prst="rightArrow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5114422" y="2468880"/>
            <a:ext cx="1962851" cy="2377440"/>
          </a:xfrm>
          <a:prstGeom prst="roundRect">
            <a:avLst>
              <a:gd name="adj" fmla="val 8000"/>
            </a:avLst>
          </a:prstGeom>
          <a:solidFill>
            <a:srgbClr val="1C1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5114422" y="2468880"/>
            <a:ext cx="1962851" cy="54864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297302" y="2651760"/>
            <a:ext cx="1597091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D4AF37"/>
                </a:solidFill>
                <a:latin typeface="Georgia" panose="02040502050405020303"/>
                <a:cs typeface="微软雅黑" panose="020B0503020204020204" charset="-122"/>
              </a:rPr>
              <a:t>03</a:t>
            </a:r>
            <a:endParaRPr sz="3000" b="1" i="0">
              <a:solidFill>
                <a:srgbClr val="D4AF37"/>
              </a:solidFill>
              <a:latin typeface="Georgia" panose="02040502050405020303"/>
              <a:cs typeface="微软雅黑" panose="020B0503020204020204" charset="-122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5297302" y="3246120"/>
            <a:ext cx="1597091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F5F1E8"/>
                </a:solidFill>
                <a:latin typeface="微软雅黑" panose="020B0503020204020204" charset="-122"/>
                <a:cs typeface="微软雅黑" panose="020B0503020204020204" charset="-122"/>
              </a:rPr>
              <a:t>快速构建</a:t>
            </a:r>
            <a:endParaRPr sz="1500" b="1" i="0">
              <a:solidFill>
                <a:srgbClr val="F5F1E8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5297302" y="3566160"/>
            <a:ext cx="1597091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1">
                <a:solidFill>
                  <a:srgbClr val="E8C85A"/>
                </a:solidFill>
                <a:latin typeface="Georgia" panose="02040502050405020303"/>
                <a:cs typeface="微软雅黑" panose="020B0503020204020204" charset="-122"/>
              </a:rPr>
              <a:t>Build</a:t>
            </a:r>
            <a:endParaRPr sz="1000" b="0" i="1">
              <a:solidFill>
                <a:srgbClr val="E8C85A"/>
              </a:solidFill>
              <a:latin typeface="Georgia" panose="02040502050405020303"/>
              <a:cs typeface="微软雅黑" panose="020B0503020204020204" charset="-122"/>
            </a:endParaRPr>
          </a:p>
        </p:txBody>
      </p:sp>
      <p:sp>
        <p:nvSpPr>
          <p:cNvPr id="49" name="Rectangle 48"/>
          <p:cNvSpPr/>
          <p:nvPr/>
        </p:nvSpPr>
        <p:spPr>
          <a:xfrm>
            <a:off x="5297302" y="3886200"/>
            <a:ext cx="274320" cy="27432"/>
          </a:xfrm>
          <a:prstGeom prst="rect">
            <a:avLst/>
          </a:prstGeom>
          <a:solidFill>
            <a:srgbClr val="B87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297302" y="4023360"/>
            <a:ext cx="1597091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E6E6E6"/>
                </a:solidFill>
                <a:latin typeface="微软雅黑" panose="020B0503020204020204" charset="-122"/>
                <a:cs typeface="微软雅黑" panose="020B0503020204020204" charset="-122"/>
              </a:rPr>
              <a:t>工程化实现，周级交付可用原型。</a:t>
            </a:r>
            <a:endParaRPr sz="1000" b="0" i="0">
              <a:solidFill>
                <a:srgbClr val="E6E6E6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1" name="Right Arrow 50"/>
          <p:cNvSpPr/>
          <p:nvPr/>
        </p:nvSpPr>
        <p:spPr>
          <a:xfrm>
            <a:off x="7095561" y="3547872"/>
            <a:ext cx="237744" cy="219456"/>
          </a:xfrm>
          <a:prstGeom prst="rightArrow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7351593" y="2468880"/>
            <a:ext cx="1962851" cy="2377440"/>
          </a:xfrm>
          <a:prstGeom prst="roundRect">
            <a:avLst>
              <a:gd name="adj" fmla="val 8000"/>
            </a:avLst>
          </a:prstGeom>
          <a:solidFill>
            <a:srgbClr val="1C1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7351593" y="2468880"/>
            <a:ext cx="1962851" cy="54864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534473" y="2651760"/>
            <a:ext cx="1597091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D4AF37"/>
                </a:solidFill>
                <a:latin typeface="Georgia" panose="02040502050405020303"/>
                <a:cs typeface="微软雅黑" panose="020B0503020204020204" charset="-122"/>
              </a:rPr>
              <a:t>04</a:t>
            </a:r>
            <a:endParaRPr sz="3000" b="1" i="0">
              <a:solidFill>
                <a:srgbClr val="D4AF37"/>
              </a:solidFill>
              <a:latin typeface="Georgia" panose="02040502050405020303"/>
              <a:cs typeface="微软雅黑" panose="020B0503020204020204" charset="-122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7534473" y="3246120"/>
            <a:ext cx="1597091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F5F1E8"/>
                </a:solidFill>
                <a:latin typeface="微软雅黑" panose="020B0503020204020204" charset="-122"/>
                <a:cs typeface="微软雅黑" panose="020B0503020204020204" charset="-122"/>
              </a:rPr>
              <a:t>部署验证</a:t>
            </a:r>
            <a:endParaRPr sz="1500" b="1" i="0">
              <a:solidFill>
                <a:srgbClr val="F5F1E8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7534473" y="3566160"/>
            <a:ext cx="1597091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1">
                <a:solidFill>
                  <a:srgbClr val="E8C85A"/>
                </a:solidFill>
                <a:latin typeface="Georgia" panose="02040502050405020303"/>
                <a:cs typeface="微软雅黑" panose="020B0503020204020204" charset="-122"/>
              </a:rPr>
              <a:t>Deploy</a:t>
            </a:r>
            <a:endParaRPr sz="1000" b="0" i="1">
              <a:solidFill>
                <a:srgbClr val="E8C85A"/>
              </a:solidFill>
              <a:latin typeface="Georgia" panose="02040502050405020303"/>
              <a:cs typeface="微软雅黑" panose="020B0503020204020204" charset="-122"/>
            </a:endParaRPr>
          </a:p>
        </p:txBody>
      </p:sp>
      <p:sp>
        <p:nvSpPr>
          <p:cNvPr id="57" name="Rectangle 56"/>
          <p:cNvSpPr/>
          <p:nvPr/>
        </p:nvSpPr>
        <p:spPr>
          <a:xfrm>
            <a:off x="7534473" y="3886200"/>
            <a:ext cx="274320" cy="27432"/>
          </a:xfrm>
          <a:prstGeom prst="rect">
            <a:avLst/>
          </a:prstGeom>
          <a:solidFill>
            <a:srgbClr val="B87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534473" y="4023360"/>
            <a:ext cx="1597091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E6E6E6"/>
                </a:solidFill>
                <a:latin typeface="微软雅黑" panose="020B0503020204020204" charset="-122"/>
                <a:cs typeface="微软雅黑" panose="020B0503020204020204" charset="-122"/>
              </a:rPr>
              <a:t>嵌入真实业务流，小范围验证效果。</a:t>
            </a:r>
            <a:endParaRPr sz="1000" b="0" i="0">
              <a:solidFill>
                <a:srgbClr val="E6E6E6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9" name="Right Arrow 58"/>
          <p:cNvSpPr/>
          <p:nvPr/>
        </p:nvSpPr>
        <p:spPr>
          <a:xfrm>
            <a:off x="9332732" y="3547872"/>
            <a:ext cx="237744" cy="219456"/>
          </a:xfrm>
          <a:prstGeom prst="rightArrow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ounded Rectangle 59"/>
          <p:cNvSpPr/>
          <p:nvPr/>
        </p:nvSpPr>
        <p:spPr>
          <a:xfrm>
            <a:off x="9588764" y="2468880"/>
            <a:ext cx="1962851" cy="2377440"/>
          </a:xfrm>
          <a:prstGeom prst="roundRect">
            <a:avLst>
              <a:gd name="adj" fmla="val 8000"/>
            </a:avLst>
          </a:prstGeom>
          <a:solidFill>
            <a:srgbClr val="1C1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9588764" y="2468880"/>
            <a:ext cx="1962851" cy="54864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9771644" y="2651760"/>
            <a:ext cx="1597091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D4AF37"/>
                </a:solidFill>
                <a:latin typeface="Georgia" panose="02040502050405020303"/>
                <a:cs typeface="微软雅黑" panose="020B0503020204020204" charset="-122"/>
              </a:rPr>
              <a:t>05</a:t>
            </a:r>
            <a:endParaRPr sz="3000" b="1" i="0">
              <a:solidFill>
                <a:srgbClr val="D4AF37"/>
              </a:solidFill>
              <a:latin typeface="Georgia" panose="02040502050405020303"/>
              <a:cs typeface="微软雅黑" panose="020B0503020204020204" charset="-122"/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9771644" y="3246120"/>
            <a:ext cx="1597091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F5F1E8"/>
                </a:solidFill>
                <a:latin typeface="微软雅黑" panose="020B0503020204020204" charset="-122"/>
                <a:cs typeface="微软雅黑" panose="020B0503020204020204" charset="-122"/>
              </a:rPr>
              <a:t>迭代优化</a:t>
            </a:r>
            <a:endParaRPr sz="1500" b="1" i="0">
              <a:solidFill>
                <a:srgbClr val="F5F1E8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4" name="TextBox 63"/>
          <p:cNvSpPr txBox="1"/>
          <p:nvPr/>
        </p:nvSpPr>
        <p:spPr>
          <a:xfrm>
            <a:off x="9771644" y="3566160"/>
            <a:ext cx="1597091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1">
                <a:solidFill>
                  <a:srgbClr val="E8C85A"/>
                </a:solidFill>
                <a:latin typeface="Georgia" panose="02040502050405020303"/>
                <a:cs typeface="微软雅黑" panose="020B0503020204020204" charset="-122"/>
              </a:rPr>
              <a:t>Iterate</a:t>
            </a:r>
            <a:endParaRPr sz="1000" b="0" i="1">
              <a:solidFill>
                <a:srgbClr val="E8C85A"/>
              </a:solidFill>
              <a:latin typeface="Georgia" panose="02040502050405020303"/>
              <a:cs typeface="微软雅黑" panose="020B0503020204020204" charset="-122"/>
            </a:endParaRPr>
          </a:p>
        </p:txBody>
      </p:sp>
      <p:sp>
        <p:nvSpPr>
          <p:cNvPr id="65" name="Rectangle 64"/>
          <p:cNvSpPr/>
          <p:nvPr/>
        </p:nvSpPr>
        <p:spPr>
          <a:xfrm>
            <a:off x="9771644" y="3886200"/>
            <a:ext cx="274320" cy="27432"/>
          </a:xfrm>
          <a:prstGeom prst="rect">
            <a:avLst/>
          </a:prstGeom>
          <a:solidFill>
            <a:srgbClr val="B87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9771644" y="4023360"/>
            <a:ext cx="1597091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E6E6E6"/>
                </a:solidFill>
                <a:latin typeface="微软雅黑" panose="020B0503020204020204" charset="-122"/>
                <a:cs typeface="微软雅黑" panose="020B0503020204020204" charset="-122"/>
              </a:rPr>
              <a:t>数据反馈驱动，持续放大价值。</a:t>
            </a:r>
            <a:endParaRPr sz="1000" b="0" i="0">
              <a:solidFill>
                <a:srgbClr val="E6E6E6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7" name="TextBox 66"/>
          <p:cNvSpPr txBox="1"/>
          <p:nvPr/>
        </p:nvSpPr>
        <p:spPr>
          <a:xfrm>
            <a:off x="640080" y="5074920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E8C85A"/>
                </a:solidFill>
                <a:latin typeface="微软雅黑" panose="020B0503020204020204" charset="-122"/>
                <a:cs typeface="微软雅黑" panose="020B0503020204020204" charset="-122"/>
              </a:rPr>
              <a:t>节  拍  节  奏</a:t>
            </a:r>
            <a:endParaRPr sz="1100" b="1" i="0">
              <a:solidFill>
                <a:srgbClr val="E8C85A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8" name="Rectangle 67"/>
          <p:cNvSpPr/>
          <p:nvPr/>
        </p:nvSpPr>
        <p:spPr>
          <a:xfrm>
            <a:off x="640080" y="5666994"/>
            <a:ext cx="136394" cy="368046"/>
          </a:xfrm>
          <a:prstGeom prst="rect">
            <a:avLst/>
          </a:prstGeom>
          <a:solidFill>
            <a:srgbClr val="D4AF37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867403" y="5931715"/>
            <a:ext cx="136394" cy="103324"/>
          </a:xfrm>
          <a:prstGeom prst="rect">
            <a:avLst/>
          </a:prstGeom>
          <a:solidFill>
            <a:srgbClr val="D4AF37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1094727" y="5617865"/>
            <a:ext cx="136394" cy="417174"/>
          </a:xfrm>
          <a:prstGeom prst="rect">
            <a:avLst/>
          </a:prstGeom>
          <a:solidFill>
            <a:srgbClr val="D4AF37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1322050" y="5417939"/>
            <a:ext cx="136394" cy="617100"/>
          </a:xfrm>
          <a:prstGeom prst="rect">
            <a:avLst/>
          </a:prstGeom>
          <a:solidFill>
            <a:srgbClr val="D4AF37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1549374" y="5763635"/>
            <a:ext cx="136394" cy="271404"/>
          </a:xfrm>
          <a:prstGeom prst="rect">
            <a:avLst/>
          </a:prstGeom>
          <a:solidFill>
            <a:srgbClr val="D4AF37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1776698" y="5892190"/>
            <a:ext cx="136394" cy="142849"/>
          </a:xfrm>
          <a:prstGeom prst="rect">
            <a:avLst/>
          </a:prstGeom>
          <a:solidFill>
            <a:srgbClr val="D4AF37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2004021" y="5526018"/>
            <a:ext cx="136394" cy="509021"/>
          </a:xfrm>
          <a:prstGeom prst="rect">
            <a:avLst/>
          </a:prstGeom>
          <a:solidFill>
            <a:srgbClr val="D4AF37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2231345" y="5473060"/>
            <a:ext cx="136394" cy="561979"/>
          </a:xfrm>
          <a:prstGeom prst="rect">
            <a:avLst/>
          </a:prstGeom>
          <a:solidFill>
            <a:srgbClr val="D4AF37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2458669" y="5847668"/>
            <a:ext cx="136394" cy="187371"/>
          </a:xfrm>
          <a:prstGeom prst="rect">
            <a:avLst/>
          </a:prstGeom>
          <a:solidFill>
            <a:srgbClr val="D4AF37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2685992" y="5823287"/>
            <a:ext cx="136394" cy="211752"/>
          </a:xfrm>
          <a:prstGeom prst="rect">
            <a:avLst/>
          </a:prstGeom>
          <a:solidFill>
            <a:srgbClr val="D4AF37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2913316" y="5452562"/>
            <a:ext cx="136394" cy="582477"/>
          </a:xfrm>
          <a:prstGeom prst="rect">
            <a:avLst/>
          </a:prstGeom>
          <a:solidFill>
            <a:srgbClr val="D4AF37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3140640" y="5553481"/>
            <a:ext cx="136394" cy="481558"/>
          </a:xfrm>
          <a:prstGeom prst="rect">
            <a:avLst/>
          </a:prstGeom>
          <a:solidFill>
            <a:srgbClr val="D4AF37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3367963" y="5908130"/>
            <a:ext cx="136394" cy="126909"/>
          </a:xfrm>
          <a:prstGeom prst="rect">
            <a:avLst/>
          </a:prstGeom>
          <a:solidFill>
            <a:srgbClr val="D4AF37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3595287" y="5733993"/>
            <a:ext cx="136394" cy="301046"/>
          </a:xfrm>
          <a:prstGeom prst="rect">
            <a:avLst/>
          </a:prstGeom>
          <a:solidFill>
            <a:srgbClr val="D4AF37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3822611" y="5407081"/>
            <a:ext cx="136394" cy="627958"/>
          </a:xfrm>
          <a:prstGeom prst="rect">
            <a:avLst/>
          </a:prstGeom>
          <a:solidFill>
            <a:srgbClr val="D4AF37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4049934" y="5648711"/>
            <a:ext cx="136394" cy="386328"/>
          </a:xfrm>
          <a:prstGeom prst="rect">
            <a:avLst/>
          </a:prstGeom>
          <a:solidFill>
            <a:srgbClr val="D4AF37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4277258" y="5937134"/>
            <a:ext cx="136394" cy="97905"/>
          </a:xfrm>
          <a:prstGeom prst="rect">
            <a:avLst/>
          </a:prstGeom>
          <a:solidFill>
            <a:srgbClr val="D4AF37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4504582" y="5712709"/>
            <a:ext cx="136394" cy="322330"/>
          </a:xfrm>
          <a:prstGeom prst="rect">
            <a:avLst/>
          </a:prstGeom>
          <a:solidFill>
            <a:srgbClr val="D4AF37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4731905" y="5395508"/>
            <a:ext cx="136394" cy="639531"/>
          </a:xfrm>
          <a:prstGeom prst="rect">
            <a:avLst/>
          </a:prstGeom>
          <a:solidFill>
            <a:srgbClr val="D4AF37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4959229" y="5670459"/>
            <a:ext cx="136394" cy="364580"/>
          </a:xfrm>
          <a:prstGeom prst="rect">
            <a:avLst/>
          </a:prstGeom>
          <a:solidFill>
            <a:srgbClr val="D4AF37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5186553" y="5930895"/>
            <a:ext cx="136394" cy="104144"/>
          </a:xfrm>
          <a:prstGeom prst="rect">
            <a:avLst/>
          </a:prstGeom>
          <a:solidFill>
            <a:srgbClr val="D4AF37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5413876" y="5614460"/>
            <a:ext cx="136394" cy="420579"/>
          </a:xfrm>
          <a:prstGeom prst="rect">
            <a:avLst/>
          </a:prstGeom>
          <a:solidFill>
            <a:srgbClr val="D4AF37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5641200" y="5419354"/>
            <a:ext cx="136394" cy="615685"/>
          </a:xfrm>
          <a:prstGeom prst="rect">
            <a:avLst/>
          </a:prstGeom>
          <a:solidFill>
            <a:srgbClr val="D4AF37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5868523" y="5766867"/>
            <a:ext cx="136394" cy="268172"/>
          </a:xfrm>
          <a:prstGeom prst="rect">
            <a:avLst/>
          </a:prstGeom>
          <a:solidFill>
            <a:srgbClr val="D4AF37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6095847" y="5890228"/>
            <a:ext cx="136394" cy="144811"/>
          </a:xfrm>
          <a:prstGeom prst="rect">
            <a:avLst/>
          </a:prstGeom>
          <a:solidFill>
            <a:srgbClr val="D4AF37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6323171" y="5523065"/>
            <a:ext cx="136394" cy="511974"/>
          </a:xfrm>
          <a:prstGeom prst="rect">
            <a:avLst/>
          </a:prstGeom>
          <a:solidFill>
            <a:srgbClr val="D4AF37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6550494" y="5475506"/>
            <a:ext cx="136394" cy="559533"/>
          </a:xfrm>
          <a:prstGeom prst="rect">
            <a:avLst/>
          </a:prstGeom>
          <a:solidFill>
            <a:srgbClr val="D4AF37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6777818" y="5850244"/>
            <a:ext cx="136394" cy="184795"/>
          </a:xfrm>
          <a:prstGeom prst="rect">
            <a:avLst/>
          </a:prstGeom>
          <a:solidFill>
            <a:srgbClr val="D4AF37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7005142" y="5820437"/>
            <a:ext cx="136394" cy="214602"/>
          </a:xfrm>
          <a:prstGeom prst="rect">
            <a:avLst/>
          </a:prstGeom>
          <a:solidFill>
            <a:srgbClr val="D4AF37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7232465" y="5450447"/>
            <a:ext cx="136394" cy="584592"/>
          </a:xfrm>
          <a:prstGeom prst="rect">
            <a:avLst/>
          </a:prstGeom>
          <a:solidFill>
            <a:srgbClr val="D4AF37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7459789" y="5556640"/>
            <a:ext cx="136394" cy="478399"/>
          </a:xfrm>
          <a:prstGeom prst="rect">
            <a:avLst/>
          </a:prstGeom>
          <a:solidFill>
            <a:srgbClr val="D4AF37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7687113" y="5909715"/>
            <a:ext cx="136394" cy="125324"/>
          </a:xfrm>
          <a:prstGeom prst="rect">
            <a:avLst/>
          </a:prstGeom>
          <a:solidFill>
            <a:srgbClr val="D4AF37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7914436" y="5730628"/>
            <a:ext cx="136394" cy="304411"/>
          </a:xfrm>
          <a:prstGeom prst="rect">
            <a:avLst/>
          </a:prstGeom>
          <a:solidFill>
            <a:srgbClr val="D4AF37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8141760" y="5406079"/>
            <a:ext cx="136394" cy="628960"/>
          </a:xfrm>
          <a:prstGeom prst="rect">
            <a:avLst/>
          </a:prstGeom>
          <a:solidFill>
            <a:srgbClr val="D4AF37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8369084" y="5576863"/>
            <a:ext cx="136394" cy="458176"/>
          </a:xfrm>
          <a:prstGeom prst="rect">
            <a:avLst/>
          </a:prstGeom>
          <a:solidFill>
            <a:srgbClr val="D4AF37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8596407" y="5937520"/>
            <a:ext cx="136394" cy="97519"/>
          </a:xfrm>
          <a:prstGeom prst="rect">
            <a:avLst/>
          </a:prstGeom>
          <a:solidFill>
            <a:srgbClr val="D4AF37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8823731" y="5709289"/>
            <a:ext cx="136394" cy="325750"/>
          </a:xfrm>
          <a:prstGeom prst="rect">
            <a:avLst/>
          </a:prstGeom>
          <a:solidFill>
            <a:srgbClr val="D4AF37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9051055" y="5395751"/>
            <a:ext cx="136394" cy="639288"/>
          </a:xfrm>
          <a:prstGeom prst="rect">
            <a:avLst/>
          </a:prstGeom>
          <a:solidFill>
            <a:srgbClr val="D4AF37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9278378" y="5673925"/>
            <a:ext cx="136394" cy="361114"/>
          </a:xfrm>
          <a:prstGeom prst="rect">
            <a:avLst/>
          </a:prstGeom>
          <a:solidFill>
            <a:srgbClr val="D4AF37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9505702" y="5930033"/>
            <a:ext cx="136394" cy="105006"/>
          </a:xfrm>
          <a:prstGeom prst="rect">
            <a:avLst/>
          </a:prstGeom>
          <a:solidFill>
            <a:srgbClr val="D4AF37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9733025" y="5611064"/>
            <a:ext cx="136394" cy="423975"/>
          </a:xfrm>
          <a:prstGeom prst="rect">
            <a:avLst/>
          </a:prstGeom>
          <a:solidFill>
            <a:srgbClr val="D4AF37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9960349" y="5420808"/>
            <a:ext cx="136394" cy="614231"/>
          </a:xfrm>
          <a:prstGeom prst="rect">
            <a:avLst/>
          </a:prstGeom>
          <a:solidFill>
            <a:srgbClr val="D4AF37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10187673" y="5770082"/>
            <a:ext cx="136394" cy="264957"/>
          </a:xfrm>
          <a:prstGeom prst="rect">
            <a:avLst/>
          </a:prstGeom>
          <a:solidFill>
            <a:srgbClr val="D4AF37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10414996" y="5888229"/>
            <a:ext cx="136394" cy="146810"/>
          </a:xfrm>
          <a:prstGeom prst="rect">
            <a:avLst/>
          </a:prstGeom>
          <a:solidFill>
            <a:srgbClr val="D4AF37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10642320" y="5520136"/>
            <a:ext cx="136394" cy="514903"/>
          </a:xfrm>
          <a:prstGeom prst="rect">
            <a:avLst/>
          </a:prstGeom>
          <a:solidFill>
            <a:srgbClr val="D4AF37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10869644" y="5477983"/>
            <a:ext cx="136394" cy="557056"/>
          </a:xfrm>
          <a:prstGeom prst="rect">
            <a:avLst/>
          </a:prstGeom>
          <a:solidFill>
            <a:srgbClr val="D4AF37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11096967" y="5852791"/>
            <a:ext cx="136394" cy="182248"/>
          </a:xfrm>
          <a:prstGeom prst="rect">
            <a:avLst/>
          </a:prstGeom>
          <a:solidFill>
            <a:srgbClr val="D4AF37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11324291" y="5817563"/>
            <a:ext cx="136394" cy="217476"/>
          </a:xfrm>
          <a:prstGeom prst="rect">
            <a:avLst/>
          </a:prstGeom>
          <a:solidFill>
            <a:srgbClr val="D4AF37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8808415" y="5074920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1">
                <a:solidFill>
                  <a:srgbClr val="9A9AA8"/>
                </a:solidFill>
                <a:latin typeface="微软雅黑" panose="020B0503020204020204" charset="-122"/>
                <a:cs typeface="微软雅黑" panose="020B0503020204020204" charset="-122"/>
              </a:rPr>
              <a:t>以周为单位的持续输出</a:t>
            </a:r>
            <a:endParaRPr sz="1000" b="0" i="1">
              <a:solidFill>
                <a:srgbClr val="9A9AA8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E8C85A"/>
                </a:solidFill>
                <a:latin typeface="Georgia" panose="02040502050405020303"/>
                <a:cs typeface="微软雅黑" panose="020B0503020204020204" charset="-122"/>
              </a:rPr>
              <a:t>06  ·  COMPARISON</a:t>
            </a:r>
            <a:endParaRPr sz="1100" b="0" i="1">
              <a:solidFill>
                <a:srgbClr val="E8C85A"/>
              </a:solidFill>
              <a:latin typeface="Georgia" panose="02040502050405020303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0584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F5F1E8"/>
                </a:solidFill>
                <a:latin typeface="微软雅黑" panose="020B0503020204020204" charset="-122"/>
                <a:cs typeface="微软雅黑" panose="020B0503020204020204" charset="-122"/>
              </a:rPr>
              <a:t>FDE  vs  传统模式</a:t>
            </a:r>
            <a:endParaRPr sz="3000" b="1" i="0">
              <a:solidFill>
                <a:srgbClr val="F5F1E8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58368" y="1481328"/>
            <a:ext cx="548640" cy="54864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265615" y="834390"/>
            <a:ext cx="60350" cy="262890"/>
          </a:xfrm>
          <a:prstGeom prst="rect">
            <a:avLst/>
          </a:prstGeom>
          <a:solidFill>
            <a:srgbClr val="D4AF37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366199" y="1023476"/>
            <a:ext cx="60350" cy="73803"/>
          </a:xfrm>
          <a:prstGeom prst="rect">
            <a:avLst/>
          </a:prstGeom>
          <a:solidFill>
            <a:srgbClr val="D4AF37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466783" y="799298"/>
            <a:ext cx="60350" cy="297981"/>
          </a:xfrm>
          <a:prstGeom prst="rect">
            <a:avLst/>
          </a:prstGeom>
          <a:solidFill>
            <a:srgbClr val="D4AF37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567367" y="656494"/>
            <a:ext cx="60350" cy="440785"/>
          </a:xfrm>
          <a:prstGeom prst="rect">
            <a:avLst/>
          </a:prstGeom>
          <a:solidFill>
            <a:srgbClr val="D4AF37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667951" y="903419"/>
            <a:ext cx="60350" cy="193860"/>
          </a:xfrm>
          <a:prstGeom prst="rect">
            <a:avLst/>
          </a:prstGeom>
          <a:solidFill>
            <a:srgbClr val="D4AF37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768535" y="995244"/>
            <a:ext cx="60350" cy="102035"/>
          </a:xfrm>
          <a:prstGeom prst="rect">
            <a:avLst/>
          </a:prstGeom>
          <a:solidFill>
            <a:srgbClr val="D4AF37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869119" y="733693"/>
            <a:ext cx="60350" cy="363586"/>
          </a:xfrm>
          <a:prstGeom prst="rect">
            <a:avLst/>
          </a:prstGeom>
          <a:solidFill>
            <a:srgbClr val="D4AF37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969703" y="695865"/>
            <a:ext cx="60350" cy="401414"/>
          </a:xfrm>
          <a:prstGeom prst="rect">
            <a:avLst/>
          </a:prstGeom>
          <a:solidFill>
            <a:srgbClr val="D4AF37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070287" y="963443"/>
            <a:ext cx="60350" cy="133836"/>
          </a:xfrm>
          <a:prstGeom prst="rect">
            <a:avLst/>
          </a:prstGeom>
          <a:solidFill>
            <a:srgbClr val="D4AF37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170871" y="946028"/>
            <a:ext cx="60350" cy="151251"/>
          </a:xfrm>
          <a:prstGeom prst="rect">
            <a:avLst/>
          </a:prstGeom>
          <a:solidFill>
            <a:srgbClr val="D4AF37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271455" y="681224"/>
            <a:ext cx="60350" cy="416055"/>
          </a:xfrm>
          <a:prstGeom prst="rect">
            <a:avLst/>
          </a:prstGeom>
          <a:solidFill>
            <a:srgbClr val="D4AF37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0372039" y="753309"/>
            <a:ext cx="60350" cy="343970"/>
          </a:xfrm>
          <a:prstGeom prst="rect">
            <a:avLst/>
          </a:prstGeom>
          <a:solidFill>
            <a:srgbClr val="D4AF37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0472623" y="1006630"/>
            <a:ext cx="60350" cy="90649"/>
          </a:xfrm>
          <a:prstGeom prst="rect">
            <a:avLst/>
          </a:prstGeom>
          <a:solidFill>
            <a:srgbClr val="D4AF37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0573207" y="882246"/>
            <a:ext cx="60350" cy="215033"/>
          </a:xfrm>
          <a:prstGeom prst="rect">
            <a:avLst/>
          </a:prstGeom>
          <a:solidFill>
            <a:srgbClr val="D4AF37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0673791" y="648738"/>
            <a:ext cx="60350" cy="448541"/>
          </a:xfrm>
          <a:prstGeom prst="rect">
            <a:avLst/>
          </a:prstGeom>
          <a:solidFill>
            <a:srgbClr val="D4AF37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0774375" y="821330"/>
            <a:ext cx="60350" cy="275949"/>
          </a:xfrm>
          <a:prstGeom prst="rect">
            <a:avLst/>
          </a:prstGeom>
          <a:solidFill>
            <a:srgbClr val="D4AF37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0874959" y="1027347"/>
            <a:ext cx="60350" cy="69932"/>
          </a:xfrm>
          <a:prstGeom prst="rect">
            <a:avLst/>
          </a:prstGeom>
          <a:solidFill>
            <a:srgbClr val="D4AF37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0975543" y="867043"/>
            <a:ext cx="60350" cy="230236"/>
          </a:xfrm>
          <a:prstGeom prst="rect">
            <a:avLst/>
          </a:prstGeom>
          <a:solidFill>
            <a:srgbClr val="D4AF37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1076127" y="640472"/>
            <a:ext cx="60350" cy="456807"/>
          </a:xfrm>
          <a:prstGeom prst="rect">
            <a:avLst/>
          </a:prstGeom>
          <a:solidFill>
            <a:srgbClr val="D4AF37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1176711" y="836865"/>
            <a:ext cx="60350" cy="260414"/>
          </a:xfrm>
          <a:prstGeom prst="rect">
            <a:avLst/>
          </a:prstGeom>
          <a:solidFill>
            <a:srgbClr val="D4AF37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9A9AA8"/>
                </a:solidFill>
                <a:latin typeface="微软雅黑" panose="020B0503020204020204" charset="-122"/>
                <a:cs typeface="微软雅黑" panose="020B0503020204020204" charset="-122"/>
              </a:rPr>
              <a:t>刘肯  ·  北京幻道科技</a:t>
            </a:r>
            <a:endParaRPr sz="900" b="0" i="0">
              <a:solidFill>
                <a:srgbClr val="9A9AA8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9905695" y="6446520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9A9AA8"/>
                </a:solidFill>
                <a:latin typeface="Georgia" panose="02040502050405020303"/>
                <a:cs typeface="微软雅黑" panose="020B0503020204020204" charset="-122"/>
              </a:rPr>
              <a:t>10 / 12</a:t>
            </a:r>
            <a:endParaRPr sz="900" b="0" i="0">
              <a:solidFill>
                <a:srgbClr val="9A9AA8"/>
              </a:solidFill>
              <a:latin typeface="Georgia" panose="02040502050405020303"/>
              <a:cs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640080" y="169164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9A9AA8"/>
                </a:solidFill>
                <a:latin typeface="微软雅黑" panose="020B0503020204020204" charset="-122"/>
                <a:cs typeface="微软雅黑" panose="020B0503020204020204" charset="-122"/>
              </a:rPr>
              <a:t>同样的目标，不同的路径——FDE 让「知行合一」从理念变成机制。</a:t>
            </a:r>
            <a:endParaRPr sz="1300" b="0" i="1">
              <a:solidFill>
                <a:srgbClr val="9A9AA8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640080" y="2240280"/>
            <a:ext cx="2400537" cy="502920"/>
          </a:xfrm>
          <a:prstGeom prst="rect">
            <a:avLst/>
          </a:prstGeom>
          <a:solidFill>
            <a:srgbClr val="1414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040617" y="2240280"/>
            <a:ext cx="4255498" cy="502920"/>
          </a:xfrm>
          <a:prstGeom prst="rect">
            <a:avLst/>
          </a:prstGeom>
          <a:solidFill>
            <a:srgbClr val="1414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296116" y="2240280"/>
            <a:ext cx="4255498" cy="502920"/>
          </a:xfrm>
          <a:prstGeom prst="rect">
            <a:avLst/>
          </a:prstGeom>
          <a:solidFill>
            <a:srgbClr val="1C1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2959" y="2350008"/>
            <a:ext cx="2400537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E8C85A"/>
                </a:solidFill>
                <a:latin typeface="微软雅黑" panose="020B0503020204020204" charset="-122"/>
                <a:cs typeface="微软雅黑" panose="020B0503020204020204" charset="-122"/>
              </a:rPr>
              <a:t>维  度</a:t>
            </a:r>
            <a:endParaRPr sz="1200" b="1" i="0">
              <a:solidFill>
                <a:srgbClr val="E8C85A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3223497" y="2350008"/>
            <a:ext cx="425549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9A9AA8"/>
                </a:solidFill>
                <a:latin typeface="微软雅黑" panose="020B0503020204020204" charset="-122"/>
                <a:cs typeface="微软雅黑" panose="020B0503020204020204" charset="-122"/>
              </a:rPr>
              <a:t>传统咨询</a:t>
            </a:r>
            <a:endParaRPr sz="1200" b="1" i="0">
              <a:solidFill>
                <a:srgbClr val="9A9AA8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7478996" y="2350008"/>
            <a:ext cx="425549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D4AF37"/>
                </a:solidFill>
                <a:latin typeface="微软雅黑" panose="020B0503020204020204" charset="-122"/>
                <a:cs typeface="微软雅黑" panose="020B0503020204020204" charset="-122"/>
              </a:rPr>
              <a:t>FDE 新范式</a:t>
            </a:r>
            <a:endParaRPr sz="1200" b="1" i="0">
              <a:solidFill>
                <a:srgbClr val="D4AF37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640080" y="2743200"/>
            <a:ext cx="10911535" cy="502920"/>
          </a:xfrm>
          <a:prstGeom prst="rect">
            <a:avLst/>
          </a:prstGeom>
          <a:solidFill>
            <a:srgbClr val="1414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2959" y="2862072"/>
            <a:ext cx="2400537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F5F1E8"/>
                </a:solidFill>
                <a:latin typeface="微软雅黑" panose="020B0503020204020204" charset="-122"/>
                <a:cs typeface="微软雅黑" panose="020B0503020204020204" charset="-122"/>
              </a:rPr>
              <a:t>交付物</a:t>
            </a:r>
            <a:endParaRPr sz="1150" b="1" i="0">
              <a:solidFill>
                <a:srgbClr val="F5F1E8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3223497" y="2862072"/>
            <a:ext cx="425549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E6E6E6"/>
                </a:solidFill>
                <a:latin typeface="微软雅黑" panose="020B0503020204020204" charset="-122"/>
                <a:cs typeface="微软雅黑" panose="020B0503020204020204" charset="-122"/>
              </a:rPr>
              <a:t>PPT 报告 + 方法论</a:t>
            </a:r>
            <a:endParaRPr sz="1100" b="0" i="0">
              <a:solidFill>
                <a:srgbClr val="E6E6E6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7478996" y="2862072"/>
            <a:ext cx="425549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E8C85A"/>
                </a:solidFill>
                <a:latin typeface="微软雅黑" panose="020B0503020204020204" charset="-122"/>
                <a:cs typeface="微软雅黑" panose="020B0503020204020204" charset="-122"/>
              </a:rPr>
              <a:t>可运行系统 + 持续运维</a:t>
            </a:r>
            <a:endParaRPr sz="1100" b="0" i="0">
              <a:solidFill>
                <a:srgbClr val="E8C85A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8" name="Rectangle 37"/>
          <p:cNvSpPr/>
          <p:nvPr/>
        </p:nvSpPr>
        <p:spPr>
          <a:xfrm>
            <a:off x="640080" y="3236976"/>
            <a:ext cx="10911535" cy="9144"/>
          </a:xfrm>
          <a:prstGeom prst="rect">
            <a:avLst/>
          </a:prstGeom>
          <a:solidFill>
            <a:srgbClr val="2A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40080" y="3246120"/>
            <a:ext cx="10911535" cy="502920"/>
          </a:xfrm>
          <a:prstGeom prst="rect">
            <a:avLst/>
          </a:prstGeom>
          <a:solidFill>
            <a:srgbClr val="0A0A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22959" y="3364991"/>
            <a:ext cx="2400537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F5F1E8"/>
                </a:solidFill>
                <a:latin typeface="微软雅黑" panose="020B0503020204020204" charset="-122"/>
                <a:cs typeface="微软雅黑" panose="020B0503020204020204" charset="-122"/>
              </a:rPr>
              <a:t>周期</a:t>
            </a:r>
            <a:endParaRPr sz="1150" b="1" i="0">
              <a:solidFill>
                <a:srgbClr val="F5F1E8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3223497" y="3364991"/>
            <a:ext cx="425549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E6E6E6"/>
                </a:solidFill>
                <a:latin typeface="微软雅黑" panose="020B0503020204020204" charset="-122"/>
                <a:cs typeface="微软雅黑" panose="020B0503020204020204" charset="-122"/>
              </a:rPr>
              <a:t>3-6 个月</a:t>
            </a:r>
            <a:endParaRPr sz="1100" b="0" i="0">
              <a:solidFill>
                <a:srgbClr val="E6E6E6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7478996" y="3364991"/>
            <a:ext cx="425549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E8C85A"/>
                </a:solidFill>
                <a:latin typeface="微软雅黑" panose="020B0503020204020204" charset="-122"/>
                <a:cs typeface="微软雅黑" panose="020B0503020204020204" charset="-122"/>
              </a:rPr>
              <a:t>1-2 周迭代</a:t>
            </a:r>
            <a:endParaRPr sz="1100" b="0" i="0">
              <a:solidFill>
                <a:srgbClr val="E8C85A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3" name="Rectangle 42"/>
          <p:cNvSpPr/>
          <p:nvPr/>
        </p:nvSpPr>
        <p:spPr>
          <a:xfrm>
            <a:off x="640080" y="3739896"/>
            <a:ext cx="10911535" cy="9144"/>
          </a:xfrm>
          <a:prstGeom prst="rect">
            <a:avLst/>
          </a:prstGeom>
          <a:solidFill>
            <a:srgbClr val="2A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40080" y="3749039"/>
            <a:ext cx="10911535" cy="502920"/>
          </a:xfrm>
          <a:prstGeom prst="rect">
            <a:avLst/>
          </a:prstGeom>
          <a:solidFill>
            <a:srgbClr val="1414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22959" y="3867911"/>
            <a:ext cx="2400537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F5F1E8"/>
                </a:solidFill>
                <a:latin typeface="微软雅黑" panose="020B0503020204020204" charset="-122"/>
                <a:cs typeface="微软雅黑" panose="020B0503020204020204" charset="-122"/>
              </a:rPr>
              <a:t>成本结构</a:t>
            </a:r>
            <a:endParaRPr sz="1150" b="1" i="0">
              <a:solidFill>
                <a:srgbClr val="F5F1E8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3223497" y="3867911"/>
            <a:ext cx="425549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E6E6E6"/>
                </a:solidFill>
                <a:latin typeface="微软雅黑" panose="020B0503020204020204" charset="-122"/>
                <a:cs typeface="微软雅黑" panose="020B0503020204020204" charset="-122"/>
              </a:rPr>
              <a:t>高额固定咨询费</a:t>
            </a:r>
            <a:endParaRPr sz="1100" b="0" i="0">
              <a:solidFill>
                <a:srgbClr val="E6E6E6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7478996" y="3867911"/>
            <a:ext cx="425549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E8C85A"/>
                </a:solidFill>
                <a:latin typeface="微软雅黑" panose="020B0503020204020204" charset="-122"/>
                <a:cs typeface="微软雅黑" panose="020B0503020204020204" charset="-122"/>
              </a:rPr>
              <a:t>按效果 / 按使用量</a:t>
            </a:r>
            <a:endParaRPr sz="1100" b="0" i="0">
              <a:solidFill>
                <a:srgbClr val="E8C85A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8" name="Rectangle 47"/>
          <p:cNvSpPr/>
          <p:nvPr/>
        </p:nvSpPr>
        <p:spPr>
          <a:xfrm>
            <a:off x="640080" y="4242816"/>
            <a:ext cx="10911535" cy="9144"/>
          </a:xfrm>
          <a:prstGeom prst="rect">
            <a:avLst/>
          </a:prstGeom>
          <a:solidFill>
            <a:srgbClr val="2A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40080" y="4251960"/>
            <a:ext cx="10911535" cy="502920"/>
          </a:xfrm>
          <a:prstGeom prst="rect">
            <a:avLst/>
          </a:prstGeom>
          <a:solidFill>
            <a:srgbClr val="0A0A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22959" y="4370832"/>
            <a:ext cx="2400537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F5F1E8"/>
                </a:solidFill>
                <a:latin typeface="微软雅黑" panose="020B0503020204020204" charset="-122"/>
                <a:cs typeface="微软雅黑" panose="020B0503020204020204" charset="-122"/>
              </a:rPr>
              <a:t>落地依赖</a:t>
            </a:r>
            <a:endParaRPr sz="1150" b="1" i="0">
              <a:solidFill>
                <a:srgbClr val="F5F1E8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3223497" y="4370832"/>
            <a:ext cx="425549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E6E6E6"/>
                </a:solidFill>
                <a:latin typeface="微软雅黑" panose="020B0503020204020204" charset="-122"/>
                <a:cs typeface="微软雅黑" panose="020B0503020204020204" charset="-122"/>
              </a:rPr>
              <a:t>依赖客户团队</a:t>
            </a:r>
            <a:endParaRPr sz="1100" b="0" i="0">
              <a:solidFill>
                <a:srgbClr val="E6E6E6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7478996" y="4370832"/>
            <a:ext cx="425549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E8C85A"/>
                </a:solidFill>
                <a:latin typeface="微软雅黑" panose="020B0503020204020204" charset="-122"/>
                <a:cs typeface="微软雅黑" panose="020B0503020204020204" charset="-122"/>
              </a:rPr>
              <a:t>工程师驻场交付</a:t>
            </a:r>
            <a:endParaRPr sz="1100" b="0" i="0">
              <a:solidFill>
                <a:srgbClr val="E8C85A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3" name="Rectangle 52"/>
          <p:cNvSpPr/>
          <p:nvPr/>
        </p:nvSpPr>
        <p:spPr>
          <a:xfrm>
            <a:off x="640080" y="4745736"/>
            <a:ext cx="10911535" cy="9144"/>
          </a:xfrm>
          <a:prstGeom prst="rect">
            <a:avLst/>
          </a:prstGeom>
          <a:solidFill>
            <a:srgbClr val="2A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640080" y="4754880"/>
            <a:ext cx="10911535" cy="502920"/>
          </a:xfrm>
          <a:prstGeom prst="rect">
            <a:avLst/>
          </a:prstGeom>
          <a:solidFill>
            <a:srgbClr val="1414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22959" y="4873752"/>
            <a:ext cx="2400537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F5F1E8"/>
                </a:solidFill>
                <a:latin typeface="微软雅黑" panose="020B0503020204020204" charset="-122"/>
                <a:cs typeface="微软雅黑" panose="020B0503020204020204" charset="-122"/>
              </a:rPr>
              <a:t>迭代方式</a:t>
            </a:r>
            <a:endParaRPr sz="1150" b="1" i="0">
              <a:solidFill>
                <a:srgbClr val="F5F1E8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3223497" y="4873752"/>
            <a:ext cx="425549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E6E6E6"/>
                </a:solidFill>
                <a:latin typeface="微软雅黑" panose="020B0503020204020204" charset="-122"/>
                <a:cs typeface="微软雅黑" panose="020B0503020204020204" charset="-122"/>
              </a:rPr>
              <a:t>阶段性复盘</a:t>
            </a:r>
            <a:endParaRPr sz="1100" b="0" i="0">
              <a:solidFill>
                <a:srgbClr val="E6E6E6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7478996" y="4873752"/>
            <a:ext cx="425549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E8C85A"/>
                </a:solidFill>
                <a:latin typeface="微软雅黑" panose="020B0503020204020204" charset="-122"/>
                <a:cs typeface="微软雅黑" panose="020B0503020204020204" charset="-122"/>
              </a:rPr>
              <a:t>数据驱动持续优化</a:t>
            </a:r>
            <a:endParaRPr sz="1100" b="0" i="0">
              <a:solidFill>
                <a:srgbClr val="E8C85A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8" name="Rectangle 57"/>
          <p:cNvSpPr/>
          <p:nvPr/>
        </p:nvSpPr>
        <p:spPr>
          <a:xfrm>
            <a:off x="640080" y="5248656"/>
            <a:ext cx="10911535" cy="9144"/>
          </a:xfrm>
          <a:prstGeom prst="rect">
            <a:avLst/>
          </a:prstGeom>
          <a:solidFill>
            <a:srgbClr val="2A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640080" y="5257800"/>
            <a:ext cx="10911535" cy="502920"/>
          </a:xfrm>
          <a:prstGeom prst="rect">
            <a:avLst/>
          </a:prstGeom>
          <a:solidFill>
            <a:srgbClr val="0A0A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22959" y="5376672"/>
            <a:ext cx="2400537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F5F1E8"/>
                </a:solidFill>
                <a:latin typeface="微软雅黑" panose="020B0503020204020204" charset="-122"/>
                <a:cs typeface="微软雅黑" panose="020B0503020204020204" charset="-122"/>
              </a:rPr>
              <a:t>能力沉淀</a:t>
            </a:r>
            <a:endParaRPr sz="1150" b="1" i="0">
              <a:solidFill>
                <a:srgbClr val="F5F1E8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3223497" y="5376672"/>
            <a:ext cx="425549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E6E6E6"/>
                </a:solidFill>
                <a:latin typeface="微软雅黑" panose="020B0503020204020204" charset="-122"/>
                <a:cs typeface="微软雅黑" panose="020B0503020204020204" charset="-122"/>
              </a:rPr>
              <a:t>文档与培训</a:t>
            </a:r>
            <a:endParaRPr sz="1100" b="0" i="0">
              <a:solidFill>
                <a:srgbClr val="E6E6E6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2" name="TextBox 61"/>
          <p:cNvSpPr txBox="1"/>
          <p:nvPr/>
        </p:nvSpPr>
        <p:spPr>
          <a:xfrm>
            <a:off x="7478996" y="5376672"/>
            <a:ext cx="425549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E8C85A"/>
                </a:solidFill>
                <a:latin typeface="微软雅黑" panose="020B0503020204020204" charset="-122"/>
                <a:cs typeface="微软雅黑" panose="020B0503020204020204" charset="-122"/>
              </a:rPr>
              <a:t>代码与平台资产</a:t>
            </a:r>
            <a:endParaRPr sz="1100" b="0" i="0">
              <a:solidFill>
                <a:srgbClr val="E8C85A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3" name="Rectangle 62"/>
          <p:cNvSpPr/>
          <p:nvPr/>
        </p:nvSpPr>
        <p:spPr>
          <a:xfrm>
            <a:off x="640080" y="5751576"/>
            <a:ext cx="10911535" cy="9144"/>
          </a:xfrm>
          <a:prstGeom prst="rect">
            <a:avLst/>
          </a:prstGeom>
          <a:solidFill>
            <a:srgbClr val="2A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40080" y="5852160"/>
            <a:ext cx="1091153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1" i="0">
                <a:solidFill>
                  <a:srgbClr val="D4AF37"/>
                </a:solidFill>
                <a:latin typeface="Georgia" panose="02040502050405020303"/>
                <a:cs typeface="微软雅黑" panose="020B0503020204020204" charset="-122"/>
              </a:rPr>
              <a:t>FDE = </a:t>
            </a:r>
            <a:r>
              <a:rPr sz="1300" b="0" i="0">
                <a:solidFill>
                  <a:srgbClr val="E6E6E6"/>
                </a:solidFill>
                <a:latin typeface="微软雅黑" panose="020B0503020204020204" charset="-122"/>
                <a:cs typeface="微软雅黑" panose="020B0503020204020204" charset="-122"/>
              </a:rPr>
              <a:t>咨询的方法论  +  </a:t>
            </a:r>
            <a:r>
              <a:rPr sz="1300" b="0" i="0">
                <a:solidFill>
                  <a:srgbClr val="E6E6E6"/>
                </a:solidFill>
                <a:latin typeface="微软雅黑" panose="020B0503020204020204" charset="-122"/>
                <a:cs typeface="微软雅黑" panose="020B0503020204020204" charset="-122"/>
              </a:rPr>
              <a:t>工程的执行力  +  </a:t>
            </a:r>
            <a:r>
              <a:rPr sz="1300" b="1" i="0">
                <a:solidFill>
                  <a:srgbClr val="E8C85A"/>
                </a:solidFill>
                <a:latin typeface="微软雅黑" panose="020B0503020204020204" charset="-122"/>
                <a:cs typeface="微软雅黑" panose="020B0503020204020204" charset="-122"/>
              </a:rPr>
              <a:t>前线的现场感</a:t>
            </a:r>
            <a:endParaRPr sz="1300" b="1" i="0">
              <a:solidFill>
                <a:srgbClr val="E8C85A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E8C85A"/>
                </a:solidFill>
                <a:latin typeface="Georgia" panose="02040502050405020303"/>
                <a:cs typeface="微软雅黑" panose="020B0503020204020204" charset="-122"/>
              </a:rPr>
              <a:t>07  ·  VALUE</a:t>
            </a:r>
            <a:endParaRPr sz="1100" b="0" i="1">
              <a:solidFill>
                <a:srgbClr val="E8C85A"/>
              </a:solidFill>
              <a:latin typeface="Georgia" panose="02040502050405020303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0584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F5F1E8"/>
                </a:solidFill>
                <a:latin typeface="微软雅黑" panose="020B0503020204020204" charset="-122"/>
                <a:cs typeface="微软雅黑" panose="020B0503020204020204" charset="-122"/>
              </a:rPr>
              <a:t>落地路径与价值</a:t>
            </a:r>
            <a:endParaRPr sz="3000" b="1" i="0">
              <a:solidFill>
                <a:srgbClr val="F5F1E8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58368" y="1481328"/>
            <a:ext cx="548640" cy="54864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265615" y="834390"/>
            <a:ext cx="60350" cy="262890"/>
          </a:xfrm>
          <a:prstGeom prst="rect">
            <a:avLst/>
          </a:prstGeom>
          <a:solidFill>
            <a:srgbClr val="D4AF37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366199" y="1023476"/>
            <a:ext cx="60350" cy="73803"/>
          </a:xfrm>
          <a:prstGeom prst="rect">
            <a:avLst/>
          </a:prstGeom>
          <a:solidFill>
            <a:srgbClr val="D4AF37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466783" y="799298"/>
            <a:ext cx="60350" cy="297981"/>
          </a:xfrm>
          <a:prstGeom prst="rect">
            <a:avLst/>
          </a:prstGeom>
          <a:solidFill>
            <a:srgbClr val="D4AF37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567367" y="656494"/>
            <a:ext cx="60350" cy="440785"/>
          </a:xfrm>
          <a:prstGeom prst="rect">
            <a:avLst/>
          </a:prstGeom>
          <a:solidFill>
            <a:srgbClr val="D4AF37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667951" y="903419"/>
            <a:ext cx="60350" cy="193860"/>
          </a:xfrm>
          <a:prstGeom prst="rect">
            <a:avLst/>
          </a:prstGeom>
          <a:solidFill>
            <a:srgbClr val="D4AF37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768535" y="995244"/>
            <a:ext cx="60350" cy="102035"/>
          </a:xfrm>
          <a:prstGeom prst="rect">
            <a:avLst/>
          </a:prstGeom>
          <a:solidFill>
            <a:srgbClr val="D4AF37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869119" y="733693"/>
            <a:ext cx="60350" cy="363586"/>
          </a:xfrm>
          <a:prstGeom prst="rect">
            <a:avLst/>
          </a:prstGeom>
          <a:solidFill>
            <a:srgbClr val="D4AF37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969703" y="695865"/>
            <a:ext cx="60350" cy="401414"/>
          </a:xfrm>
          <a:prstGeom prst="rect">
            <a:avLst/>
          </a:prstGeom>
          <a:solidFill>
            <a:srgbClr val="D4AF37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070287" y="963443"/>
            <a:ext cx="60350" cy="133836"/>
          </a:xfrm>
          <a:prstGeom prst="rect">
            <a:avLst/>
          </a:prstGeom>
          <a:solidFill>
            <a:srgbClr val="D4AF37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170871" y="946028"/>
            <a:ext cx="60350" cy="151251"/>
          </a:xfrm>
          <a:prstGeom prst="rect">
            <a:avLst/>
          </a:prstGeom>
          <a:solidFill>
            <a:srgbClr val="D4AF37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271455" y="681224"/>
            <a:ext cx="60350" cy="416055"/>
          </a:xfrm>
          <a:prstGeom prst="rect">
            <a:avLst/>
          </a:prstGeom>
          <a:solidFill>
            <a:srgbClr val="D4AF37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0372039" y="753309"/>
            <a:ext cx="60350" cy="343970"/>
          </a:xfrm>
          <a:prstGeom prst="rect">
            <a:avLst/>
          </a:prstGeom>
          <a:solidFill>
            <a:srgbClr val="D4AF37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0472623" y="1006630"/>
            <a:ext cx="60350" cy="90649"/>
          </a:xfrm>
          <a:prstGeom prst="rect">
            <a:avLst/>
          </a:prstGeom>
          <a:solidFill>
            <a:srgbClr val="D4AF37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0573207" y="882246"/>
            <a:ext cx="60350" cy="215033"/>
          </a:xfrm>
          <a:prstGeom prst="rect">
            <a:avLst/>
          </a:prstGeom>
          <a:solidFill>
            <a:srgbClr val="D4AF37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0673791" y="648738"/>
            <a:ext cx="60350" cy="448541"/>
          </a:xfrm>
          <a:prstGeom prst="rect">
            <a:avLst/>
          </a:prstGeom>
          <a:solidFill>
            <a:srgbClr val="D4AF37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0774375" y="821330"/>
            <a:ext cx="60350" cy="275949"/>
          </a:xfrm>
          <a:prstGeom prst="rect">
            <a:avLst/>
          </a:prstGeom>
          <a:solidFill>
            <a:srgbClr val="D4AF37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0874959" y="1027347"/>
            <a:ext cx="60350" cy="69932"/>
          </a:xfrm>
          <a:prstGeom prst="rect">
            <a:avLst/>
          </a:prstGeom>
          <a:solidFill>
            <a:srgbClr val="D4AF37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0975543" y="867043"/>
            <a:ext cx="60350" cy="230236"/>
          </a:xfrm>
          <a:prstGeom prst="rect">
            <a:avLst/>
          </a:prstGeom>
          <a:solidFill>
            <a:srgbClr val="D4AF37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1076127" y="640472"/>
            <a:ext cx="60350" cy="456807"/>
          </a:xfrm>
          <a:prstGeom prst="rect">
            <a:avLst/>
          </a:prstGeom>
          <a:solidFill>
            <a:srgbClr val="D4AF37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1176711" y="836865"/>
            <a:ext cx="60350" cy="260414"/>
          </a:xfrm>
          <a:prstGeom prst="rect">
            <a:avLst/>
          </a:prstGeom>
          <a:solidFill>
            <a:srgbClr val="D4AF37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9A9AA8"/>
                </a:solidFill>
                <a:latin typeface="微软雅黑" panose="020B0503020204020204" charset="-122"/>
                <a:cs typeface="微软雅黑" panose="020B0503020204020204" charset="-122"/>
              </a:rPr>
              <a:t>刘肯  ·  北京幻道科技</a:t>
            </a:r>
            <a:endParaRPr sz="900" b="0" i="0">
              <a:solidFill>
                <a:srgbClr val="9A9AA8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9905695" y="6446520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9A9AA8"/>
                </a:solidFill>
                <a:latin typeface="Georgia" panose="02040502050405020303"/>
                <a:cs typeface="微软雅黑" panose="020B0503020204020204" charset="-122"/>
              </a:rPr>
              <a:t>11 / 12</a:t>
            </a:r>
            <a:endParaRPr sz="900" b="0" i="0">
              <a:solidFill>
                <a:srgbClr val="9A9AA8"/>
              </a:solidFill>
              <a:latin typeface="Georgia" panose="02040502050405020303"/>
              <a:cs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640080" y="169164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9A9AA8"/>
                </a:solidFill>
                <a:latin typeface="微软雅黑" panose="020B0503020204020204" charset="-122"/>
                <a:cs typeface="微软雅黑" panose="020B0503020204020204" charset="-122"/>
              </a:rPr>
              <a:t>从单点试点到规模复制，AI 价值随部署深度指数级释放。</a:t>
            </a:r>
            <a:endParaRPr sz="1300" b="0" i="1">
              <a:solidFill>
                <a:srgbClr val="9A9AA8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640080" y="224028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D4AF37"/>
                </a:solidFill>
                <a:latin typeface="微软雅黑" panose="020B0503020204020204" charset="-122"/>
                <a:cs typeface="微软雅黑" panose="020B0503020204020204" charset="-122"/>
              </a:rPr>
              <a:t>落 地 三 阶 段</a:t>
            </a:r>
            <a:endParaRPr sz="1400" b="1" i="0">
              <a:solidFill>
                <a:srgbClr val="D4AF37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640080" y="2606040"/>
            <a:ext cx="8229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D4AF37"/>
                </a:solidFill>
                <a:latin typeface="Georgia" panose="02040502050405020303"/>
                <a:cs typeface="微软雅黑" panose="020B0503020204020204" charset="-122"/>
              </a:rPr>
              <a:t>01</a:t>
            </a:r>
            <a:endParaRPr sz="2600" b="1" i="0">
              <a:solidFill>
                <a:srgbClr val="D4AF37"/>
              </a:solidFill>
              <a:latin typeface="Georgia" panose="02040502050405020303"/>
              <a:cs typeface="微软雅黑" panose="020B0503020204020204" charset="-122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1554480" y="2670048"/>
            <a:ext cx="18288" cy="640080"/>
          </a:xfrm>
          <a:prstGeom prst="rect">
            <a:avLst/>
          </a:prstGeom>
          <a:solidFill>
            <a:srgbClr val="2A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737360" y="2606040"/>
            <a:ext cx="1828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F5F1E8"/>
                </a:solidFill>
                <a:latin typeface="微软雅黑" panose="020B0503020204020204" charset="-122"/>
                <a:cs typeface="微软雅黑" panose="020B0503020204020204" charset="-122"/>
              </a:rPr>
              <a:t>试点</a:t>
            </a:r>
            <a:endParaRPr sz="1500" b="1" i="0">
              <a:solidFill>
                <a:srgbClr val="F5F1E8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3291840" y="2651760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1">
                <a:solidFill>
                  <a:srgbClr val="E8C85A"/>
                </a:solidFill>
                <a:latin typeface="Georgia" panose="02040502050405020303"/>
                <a:cs typeface="微软雅黑" panose="020B0503020204020204" charset="-122"/>
              </a:rPr>
              <a:t>Pilot</a:t>
            </a:r>
            <a:endParaRPr sz="1000" b="0" i="1">
              <a:solidFill>
                <a:srgbClr val="E8C85A"/>
              </a:solidFill>
              <a:latin typeface="Georgia" panose="02040502050405020303"/>
              <a:cs typeface="微软雅黑" panose="020B0503020204020204" charset="-122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1737360" y="2944368"/>
            <a:ext cx="42062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E6E6E6"/>
                </a:solidFill>
                <a:latin typeface="微软雅黑" panose="020B0503020204020204" charset="-122"/>
                <a:cs typeface="微软雅黑" panose="020B0503020204020204" charset="-122"/>
              </a:rPr>
              <a:t>选 1-2 个高价值场景，2-4 周验证可行性。</a:t>
            </a:r>
            <a:endParaRPr sz="1050" b="0" i="0">
              <a:solidFill>
                <a:srgbClr val="E6E6E6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640080" y="3657600"/>
            <a:ext cx="8229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D4AF37"/>
                </a:solidFill>
                <a:latin typeface="Georgia" panose="02040502050405020303"/>
                <a:cs typeface="微软雅黑" panose="020B0503020204020204" charset="-122"/>
              </a:rPr>
              <a:t>02</a:t>
            </a:r>
            <a:endParaRPr sz="2600" b="1" i="0">
              <a:solidFill>
                <a:srgbClr val="D4AF37"/>
              </a:solidFill>
              <a:latin typeface="Georgia" panose="02040502050405020303"/>
              <a:cs typeface="微软雅黑" panose="020B0503020204020204" charset="-122"/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1554480" y="3721607"/>
            <a:ext cx="18288" cy="640080"/>
          </a:xfrm>
          <a:prstGeom prst="rect">
            <a:avLst/>
          </a:prstGeom>
          <a:solidFill>
            <a:srgbClr val="2A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737360" y="3657600"/>
            <a:ext cx="1828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F5F1E8"/>
                </a:solidFill>
                <a:latin typeface="微软雅黑" panose="020B0503020204020204" charset="-122"/>
                <a:cs typeface="微软雅黑" panose="020B0503020204020204" charset="-122"/>
              </a:rPr>
              <a:t>扩展</a:t>
            </a:r>
            <a:endParaRPr sz="1500" b="1" i="0">
              <a:solidFill>
                <a:srgbClr val="F5F1E8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3291840" y="3703320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1">
                <a:solidFill>
                  <a:srgbClr val="E8C85A"/>
                </a:solidFill>
                <a:latin typeface="Georgia" panose="02040502050405020303"/>
                <a:cs typeface="微软雅黑" panose="020B0503020204020204" charset="-122"/>
              </a:rPr>
              <a:t>Scale</a:t>
            </a:r>
            <a:endParaRPr sz="1000" b="0" i="1">
              <a:solidFill>
                <a:srgbClr val="E8C85A"/>
              </a:solidFill>
              <a:latin typeface="Georgia" panose="02040502050405020303"/>
              <a:cs typeface="微软雅黑" panose="020B0503020204020204" charset="-122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1737360" y="3995928"/>
            <a:ext cx="42062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E6E6E6"/>
                </a:solidFill>
                <a:latin typeface="微软雅黑" panose="020B0503020204020204" charset="-122"/>
                <a:cs typeface="微软雅黑" panose="020B0503020204020204" charset="-122"/>
              </a:rPr>
              <a:t>打通数据与流程，跨部门复制成功经验。</a:t>
            </a:r>
            <a:endParaRPr sz="1050" b="0" i="0">
              <a:solidFill>
                <a:srgbClr val="E6E6E6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640080" y="4709159"/>
            <a:ext cx="8229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D4AF37"/>
                </a:solidFill>
                <a:latin typeface="Georgia" panose="02040502050405020303"/>
                <a:cs typeface="微软雅黑" panose="020B0503020204020204" charset="-122"/>
              </a:rPr>
              <a:t>03</a:t>
            </a:r>
            <a:endParaRPr sz="2600" b="1" i="0">
              <a:solidFill>
                <a:srgbClr val="D4AF37"/>
              </a:solidFill>
              <a:latin typeface="Georgia" panose="02040502050405020303"/>
              <a:cs typeface="微软雅黑" panose="020B0503020204020204" charset="-122"/>
            </a:endParaRPr>
          </a:p>
        </p:txBody>
      </p:sp>
      <p:sp>
        <p:nvSpPr>
          <p:cNvPr id="40" name="Rectangle 39"/>
          <p:cNvSpPr/>
          <p:nvPr/>
        </p:nvSpPr>
        <p:spPr>
          <a:xfrm>
            <a:off x="1554480" y="4773167"/>
            <a:ext cx="18288" cy="640080"/>
          </a:xfrm>
          <a:prstGeom prst="rect">
            <a:avLst/>
          </a:prstGeom>
          <a:solidFill>
            <a:srgbClr val="2A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737360" y="4709159"/>
            <a:ext cx="1828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F5F1E8"/>
                </a:solidFill>
                <a:latin typeface="微软雅黑" panose="020B0503020204020204" charset="-122"/>
                <a:cs typeface="微软雅黑" panose="020B0503020204020204" charset="-122"/>
              </a:rPr>
              <a:t>平台</a:t>
            </a:r>
            <a:endParaRPr sz="1500" b="1" i="0">
              <a:solidFill>
                <a:srgbClr val="F5F1E8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3291840" y="4754879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1">
                <a:solidFill>
                  <a:srgbClr val="E8C85A"/>
                </a:solidFill>
                <a:latin typeface="Georgia" panose="02040502050405020303"/>
                <a:cs typeface="微软雅黑" panose="020B0503020204020204" charset="-122"/>
              </a:rPr>
              <a:t>Platform</a:t>
            </a:r>
            <a:endParaRPr sz="1000" b="0" i="1">
              <a:solidFill>
                <a:srgbClr val="E8C85A"/>
              </a:solidFill>
              <a:latin typeface="Georgia" panose="02040502050405020303"/>
              <a:cs typeface="微软雅黑" panose="020B0503020204020204" charset="-122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1737360" y="5047488"/>
            <a:ext cx="42062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E6E6E6"/>
                </a:solidFill>
                <a:latin typeface="微软雅黑" panose="020B0503020204020204" charset="-122"/>
                <a:cs typeface="微软雅黑" panose="020B0503020204020204" charset="-122"/>
              </a:rPr>
              <a:t>沉淀 AI 能力平台，支撑全员自助式创新。</a:t>
            </a:r>
            <a:endParaRPr sz="1050" b="0" i="0">
              <a:solidFill>
                <a:srgbClr val="E6E6E6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6492240" y="2240280"/>
            <a:ext cx="5029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D4AF37"/>
                </a:solidFill>
                <a:latin typeface="微软雅黑" panose="020B0503020204020204" charset="-122"/>
                <a:cs typeface="微软雅黑" panose="020B0503020204020204" charset="-122"/>
              </a:rPr>
              <a:t>预 期 价 值</a:t>
            </a:r>
            <a:endParaRPr sz="1400" b="1" i="0">
              <a:solidFill>
                <a:srgbClr val="D4AF37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5" name="Rounded Rectangle 44"/>
          <p:cNvSpPr/>
          <p:nvPr/>
        </p:nvSpPr>
        <p:spPr>
          <a:xfrm>
            <a:off x="6492240" y="2697480"/>
            <a:ext cx="2468880" cy="1417320"/>
          </a:xfrm>
          <a:prstGeom prst="roundRect">
            <a:avLst>
              <a:gd name="adj" fmla="val 10000"/>
            </a:avLst>
          </a:prstGeom>
          <a:solidFill>
            <a:srgbClr val="1C1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492240" y="2697480"/>
            <a:ext cx="54864" cy="141732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720840" y="2880360"/>
            <a:ext cx="21031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D4AF37"/>
                </a:solidFill>
                <a:latin typeface="Georgia" panose="02040502050405020303"/>
                <a:cs typeface="微软雅黑" panose="020B0503020204020204" charset="-122"/>
              </a:rPr>
              <a:t>3-5×</a:t>
            </a:r>
            <a:endParaRPr sz="3000" b="1" i="0">
              <a:solidFill>
                <a:srgbClr val="D4AF37"/>
              </a:solidFill>
              <a:latin typeface="Georgia" panose="02040502050405020303"/>
              <a:cs typeface="微软雅黑" panose="020B0503020204020204" charset="-122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6720840" y="3566160"/>
            <a:ext cx="21031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E6E6E6"/>
                </a:solidFill>
                <a:latin typeface="微软雅黑" panose="020B0503020204020204" charset="-122"/>
                <a:cs typeface="微软雅黑" panose="020B0503020204020204" charset="-122"/>
              </a:rPr>
              <a:t>决策效率提升</a:t>
            </a:r>
            <a:endParaRPr sz="1100" b="0" i="0">
              <a:solidFill>
                <a:srgbClr val="E6E6E6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9" name="Rectangle 48"/>
          <p:cNvSpPr/>
          <p:nvPr/>
        </p:nvSpPr>
        <p:spPr>
          <a:xfrm>
            <a:off x="6766559" y="3879341"/>
            <a:ext cx="52806" cy="13716"/>
          </a:xfrm>
          <a:prstGeom prst="rect">
            <a:avLst/>
          </a:prstGeom>
          <a:solidFill>
            <a:srgbClr val="D4AF37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862572" y="3876507"/>
            <a:ext cx="52806" cy="19385"/>
          </a:xfrm>
          <a:prstGeom prst="rect">
            <a:avLst/>
          </a:prstGeom>
          <a:solidFill>
            <a:srgbClr val="D4AF37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958583" y="3873224"/>
            <a:ext cx="52806" cy="25951"/>
          </a:xfrm>
          <a:prstGeom prst="rect">
            <a:avLst/>
          </a:prstGeom>
          <a:solidFill>
            <a:srgbClr val="D4AF37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7054596" y="3877730"/>
            <a:ext cx="52806" cy="16939"/>
          </a:xfrm>
          <a:prstGeom prst="rect">
            <a:avLst/>
          </a:prstGeom>
          <a:solidFill>
            <a:srgbClr val="D4AF37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7150607" y="3870044"/>
            <a:ext cx="52806" cy="32310"/>
          </a:xfrm>
          <a:prstGeom prst="rect">
            <a:avLst/>
          </a:prstGeom>
          <a:solidFill>
            <a:srgbClr val="D4AF37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7246620" y="3864668"/>
            <a:ext cx="52806" cy="43063"/>
          </a:xfrm>
          <a:prstGeom prst="rect">
            <a:avLst/>
          </a:prstGeom>
          <a:solidFill>
            <a:srgbClr val="D4AF37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7342631" y="3873749"/>
            <a:ext cx="52806" cy="24901"/>
          </a:xfrm>
          <a:prstGeom prst="rect">
            <a:avLst/>
          </a:prstGeom>
          <a:solidFill>
            <a:srgbClr val="D4AF37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7438644" y="3867769"/>
            <a:ext cx="52806" cy="36860"/>
          </a:xfrm>
          <a:prstGeom prst="rect">
            <a:avLst/>
          </a:prstGeom>
          <a:solidFill>
            <a:srgbClr val="D4AF37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7534656" y="3859465"/>
            <a:ext cx="52806" cy="53468"/>
          </a:xfrm>
          <a:prstGeom prst="rect">
            <a:avLst/>
          </a:prstGeom>
          <a:solidFill>
            <a:srgbClr val="D4AF37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7630667" y="3869583"/>
            <a:ext cx="52806" cy="33233"/>
          </a:xfrm>
          <a:prstGeom prst="rect">
            <a:avLst/>
          </a:prstGeom>
          <a:solidFill>
            <a:srgbClr val="D4AF37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7726679" y="3869583"/>
            <a:ext cx="52806" cy="33233"/>
          </a:xfrm>
          <a:prstGeom prst="rect">
            <a:avLst/>
          </a:prstGeom>
          <a:solidFill>
            <a:srgbClr val="D4AF37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7822692" y="3859465"/>
            <a:ext cx="52806" cy="53468"/>
          </a:xfrm>
          <a:prstGeom prst="rect">
            <a:avLst/>
          </a:prstGeom>
          <a:solidFill>
            <a:srgbClr val="D4AF37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7918704" y="3867769"/>
            <a:ext cx="52806" cy="36860"/>
          </a:xfrm>
          <a:prstGeom prst="rect">
            <a:avLst/>
          </a:prstGeom>
          <a:solidFill>
            <a:srgbClr val="D4AF37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8014716" y="3873749"/>
            <a:ext cx="52806" cy="24901"/>
          </a:xfrm>
          <a:prstGeom prst="rect">
            <a:avLst/>
          </a:prstGeom>
          <a:solidFill>
            <a:srgbClr val="D4AF37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8110727" y="3864668"/>
            <a:ext cx="52806" cy="43063"/>
          </a:xfrm>
          <a:prstGeom prst="rect">
            <a:avLst/>
          </a:prstGeom>
          <a:solidFill>
            <a:srgbClr val="D4AF37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8206740" y="3870044"/>
            <a:ext cx="52806" cy="32310"/>
          </a:xfrm>
          <a:prstGeom prst="rect">
            <a:avLst/>
          </a:prstGeom>
          <a:solidFill>
            <a:srgbClr val="D4AF37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8302752" y="3877730"/>
            <a:ext cx="52806" cy="16939"/>
          </a:xfrm>
          <a:prstGeom prst="rect">
            <a:avLst/>
          </a:prstGeom>
          <a:solidFill>
            <a:srgbClr val="D4AF37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8398763" y="3873224"/>
            <a:ext cx="52806" cy="25951"/>
          </a:xfrm>
          <a:prstGeom prst="rect">
            <a:avLst/>
          </a:prstGeom>
          <a:solidFill>
            <a:srgbClr val="D4AF37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8494776" y="3876507"/>
            <a:ext cx="52806" cy="19385"/>
          </a:xfrm>
          <a:prstGeom prst="rect">
            <a:avLst/>
          </a:prstGeom>
          <a:solidFill>
            <a:srgbClr val="D4AF37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8590788" y="3879341"/>
            <a:ext cx="52806" cy="13716"/>
          </a:xfrm>
          <a:prstGeom prst="rect">
            <a:avLst/>
          </a:prstGeom>
          <a:solidFill>
            <a:srgbClr val="D4AF37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ounded Rectangle 68"/>
          <p:cNvSpPr/>
          <p:nvPr/>
        </p:nvSpPr>
        <p:spPr>
          <a:xfrm>
            <a:off x="9098280" y="2697480"/>
            <a:ext cx="2468880" cy="1417320"/>
          </a:xfrm>
          <a:prstGeom prst="roundRect">
            <a:avLst>
              <a:gd name="adj" fmla="val 10000"/>
            </a:avLst>
          </a:prstGeom>
          <a:solidFill>
            <a:srgbClr val="1C1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9098280" y="2697480"/>
            <a:ext cx="54864" cy="141732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9326880" y="2880360"/>
            <a:ext cx="21031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D4AF37"/>
                </a:solidFill>
                <a:latin typeface="Georgia" panose="02040502050405020303"/>
                <a:cs typeface="微软雅黑" panose="020B0503020204020204" charset="-122"/>
              </a:rPr>
              <a:t>30%↓</a:t>
            </a:r>
            <a:endParaRPr sz="3000" b="1" i="0">
              <a:solidFill>
                <a:srgbClr val="D4AF37"/>
              </a:solidFill>
              <a:latin typeface="Georgia" panose="02040502050405020303"/>
              <a:cs typeface="微软雅黑" panose="020B0503020204020204" charset="-122"/>
            </a:endParaRPr>
          </a:p>
        </p:txBody>
      </p:sp>
      <p:sp>
        <p:nvSpPr>
          <p:cNvPr id="72" name="TextBox 71"/>
          <p:cNvSpPr txBox="1"/>
          <p:nvPr/>
        </p:nvSpPr>
        <p:spPr>
          <a:xfrm>
            <a:off x="9326880" y="3566160"/>
            <a:ext cx="21031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E6E6E6"/>
                </a:solidFill>
                <a:latin typeface="微软雅黑" panose="020B0503020204020204" charset="-122"/>
                <a:cs typeface="微软雅黑" panose="020B0503020204020204" charset="-122"/>
              </a:rPr>
              <a:t>运营成本下降</a:t>
            </a:r>
            <a:endParaRPr sz="1100" b="0" i="0">
              <a:solidFill>
                <a:srgbClr val="E6E6E6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3" name="Rectangle 72"/>
          <p:cNvSpPr/>
          <p:nvPr/>
        </p:nvSpPr>
        <p:spPr>
          <a:xfrm>
            <a:off x="9372599" y="3879341"/>
            <a:ext cx="52806" cy="13716"/>
          </a:xfrm>
          <a:prstGeom prst="rect">
            <a:avLst/>
          </a:prstGeom>
          <a:solidFill>
            <a:srgbClr val="D4AF37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9468611" y="3876507"/>
            <a:ext cx="52806" cy="19385"/>
          </a:xfrm>
          <a:prstGeom prst="rect">
            <a:avLst/>
          </a:prstGeom>
          <a:solidFill>
            <a:srgbClr val="D4AF37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9564624" y="3873224"/>
            <a:ext cx="52806" cy="25951"/>
          </a:xfrm>
          <a:prstGeom prst="rect">
            <a:avLst/>
          </a:prstGeom>
          <a:solidFill>
            <a:srgbClr val="D4AF37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9660635" y="3877730"/>
            <a:ext cx="52806" cy="16939"/>
          </a:xfrm>
          <a:prstGeom prst="rect">
            <a:avLst/>
          </a:prstGeom>
          <a:solidFill>
            <a:srgbClr val="D4AF37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9756647" y="3870044"/>
            <a:ext cx="52806" cy="32310"/>
          </a:xfrm>
          <a:prstGeom prst="rect">
            <a:avLst/>
          </a:prstGeom>
          <a:solidFill>
            <a:srgbClr val="D4AF37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9852659" y="3864668"/>
            <a:ext cx="52806" cy="43063"/>
          </a:xfrm>
          <a:prstGeom prst="rect">
            <a:avLst/>
          </a:prstGeom>
          <a:solidFill>
            <a:srgbClr val="D4AF37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9948672" y="3873749"/>
            <a:ext cx="52806" cy="24901"/>
          </a:xfrm>
          <a:prstGeom prst="rect">
            <a:avLst/>
          </a:prstGeom>
          <a:solidFill>
            <a:srgbClr val="D4AF37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10044683" y="3867769"/>
            <a:ext cx="52806" cy="36860"/>
          </a:xfrm>
          <a:prstGeom prst="rect">
            <a:avLst/>
          </a:prstGeom>
          <a:solidFill>
            <a:srgbClr val="D4AF37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10140695" y="3859465"/>
            <a:ext cx="52806" cy="53468"/>
          </a:xfrm>
          <a:prstGeom prst="rect">
            <a:avLst/>
          </a:prstGeom>
          <a:solidFill>
            <a:srgbClr val="D4AF37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10236707" y="3869583"/>
            <a:ext cx="52806" cy="33233"/>
          </a:xfrm>
          <a:prstGeom prst="rect">
            <a:avLst/>
          </a:prstGeom>
          <a:solidFill>
            <a:srgbClr val="D4AF37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10332719" y="3869583"/>
            <a:ext cx="52806" cy="33233"/>
          </a:xfrm>
          <a:prstGeom prst="rect">
            <a:avLst/>
          </a:prstGeom>
          <a:solidFill>
            <a:srgbClr val="D4AF37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10428731" y="3859465"/>
            <a:ext cx="52806" cy="53468"/>
          </a:xfrm>
          <a:prstGeom prst="rect">
            <a:avLst/>
          </a:prstGeom>
          <a:solidFill>
            <a:srgbClr val="D4AF37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10524743" y="3867769"/>
            <a:ext cx="52806" cy="36860"/>
          </a:xfrm>
          <a:prstGeom prst="rect">
            <a:avLst/>
          </a:prstGeom>
          <a:solidFill>
            <a:srgbClr val="D4AF37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10620755" y="3873749"/>
            <a:ext cx="52806" cy="24901"/>
          </a:xfrm>
          <a:prstGeom prst="rect">
            <a:avLst/>
          </a:prstGeom>
          <a:solidFill>
            <a:srgbClr val="D4AF37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10716767" y="3864668"/>
            <a:ext cx="52806" cy="43063"/>
          </a:xfrm>
          <a:prstGeom prst="rect">
            <a:avLst/>
          </a:prstGeom>
          <a:solidFill>
            <a:srgbClr val="D4AF37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10812780" y="3870044"/>
            <a:ext cx="52806" cy="32310"/>
          </a:xfrm>
          <a:prstGeom prst="rect">
            <a:avLst/>
          </a:prstGeom>
          <a:solidFill>
            <a:srgbClr val="D4AF37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10908791" y="3877730"/>
            <a:ext cx="52806" cy="16939"/>
          </a:xfrm>
          <a:prstGeom prst="rect">
            <a:avLst/>
          </a:prstGeom>
          <a:solidFill>
            <a:srgbClr val="D4AF37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11004803" y="3873224"/>
            <a:ext cx="52806" cy="25951"/>
          </a:xfrm>
          <a:prstGeom prst="rect">
            <a:avLst/>
          </a:prstGeom>
          <a:solidFill>
            <a:srgbClr val="D4AF37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11100815" y="3876507"/>
            <a:ext cx="52806" cy="19385"/>
          </a:xfrm>
          <a:prstGeom prst="rect">
            <a:avLst/>
          </a:prstGeom>
          <a:solidFill>
            <a:srgbClr val="D4AF37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11196827" y="3879341"/>
            <a:ext cx="52806" cy="13716"/>
          </a:xfrm>
          <a:prstGeom prst="rect">
            <a:avLst/>
          </a:prstGeom>
          <a:solidFill>
            <a:srgbClr val="D4AF37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ounded Rectangle 92"/>
          <p:cNvSpPr/>
          <p:nvPr/>
        </p:nvSpPr>
        <p:spPr>
          <a:xfrm>
            <a:off x="6492240" y="4251960"/>
            <a:ext cx="2468880" cy="1417320"/>
          </a:xfrm>
          <a:prstGeom prst="roundRect">
            <a:avLst>
              <a:gd name="adj" fmla="val 10000"/>
            </a:avLst>
          </a:prstGeom>
          <a:solidFill>
            <a:srgbClr val="1C1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6492240" y="4251960"/>
            <a:ext cx="54864" cy="141732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6720840" y="4434840"/>
            <a:ext cx="21031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D4AF37"/>
                </a:solidFill>
                <a:latin typeface="Georgia" panose="02040502050405020303"/>
                <a:cs typeface="微软雅黑" panose="020B0503020204020204" charset="-122"/>
              </a:rPr>
              <a:t>周级</a:t>
            </a:r>
            <a:endParaRPr sz="3000" b="1" i="0">
              <a:solidFill>
                <a:srgbClr val="D4AF37"/>
              </a:solidFill>
              <a:latin typeface="Georgia" panose="02040502050405020303"/>
              <a:cs typeface="微软雅黑" panose="020B0503020204020204" charset="-122"/>
            </a:endParaRPr>
          </a:p>
        </p:txBody>
      </p:sp>
      <p:sp>
        <p:nvSpPr>
          <p:cNvPr id="96" name="TextBox 95"/>
          <p:cNvSpPr txBox="1"/>
          <p:nvPr/>
        </p:nvSpPr>
        <p:spPr>
          <a:xfrm>
            <a:off x="6720840" y="5120640"/>
            <a:ext cx="21031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E6E6E6"/>
                </a:solidFill>
                <a:latin typeface="微软雅黑" panose="020B0503020204020204" charset="-122"/>
                <a:cs typeface="微软雅黑" panose="020B0503020204020204" charset="-122"/>
              </a:rPr>
              <a:t>从想法到上线</a:t>
            </a:r>
            <a:endParaRPr sz="1100" b="0" i="0">
              <a:solidFill>
                <a:srgbClr val="E6E6E6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7" name="Rectangle 96"/>
          <p:cNvSpPr/>
          <p:nvPr/>
        </p:nvSpPr>
        <p:spPr>
          <a:xfrm>
            <a:off x="6766559" y="5433822"/>
            <a:ext cx="52806" cy="13716"/>
          </a:xfrm>
          <a:prstGeom prst="rect">
            <a:avLst/>
          </a:prstGeom>
          <a:solidFill>
            <a:srgbClr val="D4AF37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6862572" y="5430987"/>
            <a:ext cx="52806" cy="19385"/>
          </a:xfrm>
          <a:prstGeom prst="rect">
            <a:avLst/>
          </a:prstGeom>
          <a:solidFill>
            <a:srgbClr val="D4AF37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6958583" y="5427704"/>
            <a:ext cx="52806" cy="25951"/>
          </a:xfrm>
          <a:prstGeom prst="rect">
            <a:avLst/>
          </a:prstGeom>
          <a:solidFill>
            <a:srgbClr val="D4AF37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7054596" y="5432210"/>
            <a:ext cx="52806" cy="16939"/>
          </a:xfrm>
          <a:prstGeom prst="rect">
            <a:avLst/>
          </a:prstGeom>
          <a:solidFill>
            <a:srgbClr val="D4AF37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7150607" y="5424524"/>
            <a:ext cx="52806" cy="32310"/>
          </a:xfrm>
          <a:prstGeom prst="rect">
            <a:avLst/>
          </a:prstGeom>
          <a:solidFill>
            <a:srgbClr val="D4AF37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7246620" y="5419148"/>
            <a:ext cx="52806" cy="43063"/>
          </a:xfrm>
          <a:prstGeom prst="rect">
            <a:avLst/>
          </a:prstGeom>
          <a:solidFill>
            <a:srgbClr val="D4AF37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7342631" y="5428229"/>
            <a:ext cx="52806" cy="24901"/>
          </a:xfrm>
          <a:prstGeom prst="rect">
            <a:avLst/>
          </a:prstGeom>
          <a:solidFill>
            <a:srgbClr val="D4AF37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7438644" y="5422249"/>
            <a:ext cx="52806" cy="36860"/>
          </a:xfrm>
          <a:prstGeom prst="rect">
            <a:avLst/>
          </a:prstGeom>
          <a:solidFill>
            <a:srgbClr val="D4AF37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7534656" y="5413945"/>
            <a:ext cx="52806" cy="53468"/>
          </a:xfrm>
          <a:prstGeom prst="rect">
            <a:avLst/>
          </a:prstGeom>
          <a:solidFill>
            <a:srgbClr val="D4AF37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7630667" y="5424063"/>
            <a:ext cx="52806" cy="33233"/>
          </a:xfrm>
          <a:prstGeom prst="rect">
            <a:avLst/>
          </a:prstGeom>
          <a:solidFill>
            <a:srgbClr val="D4AF37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7726679" y="5424063"/>
            <a:ext cx="52806" cy="33233"/>
          </a:xfrm>
          <a:prstGeom prst="rect">
            <a:avLst/>
          </a:prstGeom>
          <a:solidFill>
            <a:srgbClr val="D4AF37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7822692" y="5413945"/>
            <a:ext cx="52806" cy="53468"/>
          </a:xfrm>
          <a:prstGeom prst="rect">
            <a:avLst/>
          </a:prstGeom>
          <a:solidFill>
            <a:srgbClr val="D4AF37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7918704" y="5422249"/>
            <a:ext cx="52806" cy="36860"/>
          </a:xfrm>
          <a:prstGeom prst="rect">
            <a:avLst/>
          </a:prstGeom>
          <a:solidFill>
            <a:srgbClr val="D4AF37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8014716" y="5428229"/>
            <a:ext cx="52806" cy="24901"/>
          </a:xfrm>
          <a:prstGeom prst="rect">
            <a:avLst/>
          </a:prstGeom>
          <a:solidFill>
            <a:srgbClr val="D4AF37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8110727" y="5419148"/>
            <a:ext cx="52806" cy="43063"/>
          </a:xfrm>
          <a:prstGeom prst="rect">
            <a:avLst/>
          </a:prstGeom>
          <a:solidFill>
            <a:srgbClr val="D4AF37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8206740" y="5424524"/>
            <a:ext cx="52806" cy="32310"/>
          </a:xfrm>
          <a:prstGeom prst="rect">
            <a:avLst/>
          </a:prstGeom>
          <a:solidFill>
            <a:srgbClr val="D4AF37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8302752" y="5432210"/>
            <a:ext cx="52806" cy="16939"/>
          </a:xfrm>
          <a:prstGeom prst="rect">
            <a:avLst/>
          </a:prstGeom>
          <a:solidFill>
            <a:srgbClr val="D4AF37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8398763" y="5427704"/>
            <a:ext cx="52806" cy="25951"/>
          </a:xfrm>
          <a:prstGeom prst="rect">
            <a:avLst/>
          </a:prstGeom>
          <a:solidFill>
            <a:srgbClr val="D4AF37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8494776" y="5430987"/>
            <a:ext cx="52806" cy="19385"/>
          </a:xfrm>
          <a:prstGeom prst="rect">
            <a:avLst/>
          </a:prstGeom>
          <a:solidFill>
            <a:srgbClr val="D4AF37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8590788" y="5433822"/>
            <a:ext cx="52806" cy="13716"/>
          </a:xfrm>
          <a:prstGeom prst="rect">
            <a:avLst/>
          </a:prstGeom>
          <a:solidFill>
            <a:srgbClr val="D4AF37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ounded Rectangle 116"/>
          <p:cNvSpPr/>
          <p:nvPr/>
        </p:nvSpPr>
        <p:spPr>
          <a:xfrm>
            <a:off x="9098280" y="4251960"/>
            <a:ext cx="2468880" cy="1417320"/>
          </a:xfrm>
          <a:prstGeom prst="roundRect">
            <a:avLst>
              <a:gd name="adj" fmla="val 10000"/>
            </a:avLst>
          </a:prstGeom>
          <a:solidFill>
            <a:srgbClr val="1C1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9098280" y="4251960"/>
            <a:ext cx="54864" cy="141732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9326880" y="4434840"/>
            <a:ext cx="21031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D4AF37"/>
                </a:solidFill>
                <a:latin typeface="Georgia" panose="02040502050405020303"/>
                <a:cs typeface="微软雅黑" panose="020B0503020204020204" charset="-122"/>
              </a:rPr>
              <a:t>100%</a:t>
            </a:r>
            <a:endParaRPr sz="3000" b="1" i="0">
              <a:solidFill>
                <a:srgbClr val="D4AF37"/>
              </a:solidFill>
              <a:latin typeface="Georgia" panose="02040502050405020303"/>
              <a:cs typeface="微软雅黑" panose="020B0503020204020204" charset="-122"/>
            </a:endParaRPr>
          </a:p>
        </p:txBody>
      </p:sp>
      <p:sp>
        <p:nvSpPr>
          <p:cNvPr id="120" name="TextBox 119"/>
          <p:cNvSpPr txBox="1"/>
          <p:nvPr/>
        </p:nvSpPr>
        <p:spPr>
          <a:xfrm>
            <a:off x="9326880" y="5120640"/>
            <a:ext cx="21031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E6E6E6"/>
                </a:solidFill>
                <a:latin typeface="微软雅黑" panose="020B0503020204020204" charset="-122"/>
                <a:cs typeface="微软雅黑" panose="020B0503020204020204" charset="-122"/>
              </a:rPr>
              <a:t>方案落地率</a:t>
            </a:r>
            <a:endParaRPr sz="1100" b="0" i="0">
              <a:solidFill>
                <a:srgbClr val="E6E6E6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1" name="Rectangle 120"/>
          <p:cNvSpPr/>
          <p:nvPr/>
        </p:nvSpPr>
        <p:spPr>
          <a:xfrm>
            <a:off x="9372599" y="5433822"/>
            <a:ext cx="52806" cy="13716"/>
          </a:xfrm>
          <a:prstGeom prst="rect">
            <a:avLst/>
          </a:prstGeom>
          <a:solidFill>
            <a:srgbClr val="D4AF37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Rectangle 121"/>
          <p:cNvSpPr/>
          <p:nvPr/>
        </p:nvSpPr>
        <p:spPr>
          <a:xfrm>
            <a:off x="9468611" y="5430987"/>
            <a:ext cx="52806" cy="19385"/>
          </a:xfrm>
          <a:prstGeom prst="rect">
            <a:avLst/>
          </a:prstGeom>
          <a:solidFill>
            <a:srgbClr val="D4AF37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ectangle 122"/>
          <p:cNvSpPr/>
          <p:nvPr/>
        </p:nvSpPr>
        <p:spPr>
          <a:xfrm>
            <a:off x="9564624" y="5427704"/>
            <a:ext cx="52806" cy="25951"/>
          </a:xfrm>
          <a:prstGeom prst="rect">
            <a:avLst/>
          </a:prstGeom>
          <a:solidFill>
            <a:srgbClr val="D4AF37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Rectangle 123"/>
          <p:cNvSpPr/>
          <p:nvPr/>
        </p:nvSpPr>
        <p:spPr>
          <a:xfrm>
            <a:off x="9660635" y="5432210"/>
            <a:ext cx="52806" cy="16939"/>
          </a:xfrm>
          <a:prstGeom prst="rect">
            <a:avLst/>
          </a:prstGeom>
          <a:solidFill>
            <a:srgbClr val="D4AF37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Rectangle 124"/>
          <p:cNvSpPr/>
          <p:nvPr/>
        </p:nvSpPr>
        <p:spPr>
          <a:xfrm>
            <a:off x="9756647" y="5424524"/>
            <a:ext cx="52806" cy="32310"/>
          </a:xfrm>
          <a:prstGeom prst="rect">
            <a:avLst/>
          </a:prstGeom>
          <a:solidFill>
            <a:srgbClr val="D4AF37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Rectangle 125"/>
          <p:cNvSpPr/>
          <p:nvPr/>
        </p:nvSpPr>
        <p:spPr>
          <a:xfrm>
            <a:off x="9852659" y="5419148"/>
            <a:ext cx="52806" cy="43063"/>
          </a:xfrm>
          <a:prstGeom prst="rect">
            <a:avLst/>
          </a:prstGeom>
          <a:solidFill>
            <a:srgbClr val="D4AF37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Rectangle 126"/>
          <p:cNvSpPr/>
          <p:nvPr/>
        </p:nvSpPr>
        <p:spPr>
          <a:xfrm>
            <a:off x="9948672" y="5428229"/>
            <a:ext cx="52806" cy="24901"/>
          </a:xfrm>
          <a:prstGeom prst="rect">
            <a:avLst/>
          </a:prstGeom>
          <a:solidFill>
            <a:srgbClr val="D4AF37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ectangle 127"/>
          <p:cNvSpPr/>
          <p:nvPr/>
        </p:nvSpPr>
        <p:spPr>
          <a:xfrm>
            <a:off x="10044683" y="5422249"/>
            <a:ext cx="52806" cy="36860"/>
          </a:xfrm>
          <a:prstGeom prst="rect">
            <a:avLst/>
          </a:prstGeom>
          <a:solidFill>
            <a:srgbClr val="D4AF37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Rectangle 128"/>
          <p:cNvSpPr/>
          <p:nvPr/>
        </p:nvSpPr>
        <p:spPr>
          <a:xfrm>
            <a:off x="10140695" y="5413945"/>
            <a:ext cx="52806" cy="53468"/>
          </a:xfrm>
          <a:prstGeom prst="rect">
            <a:avLst/>
          </a:prstGeom>
          <a:solidFill>
            <a:srgbClr val="D4AF37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Rectangle 129"/>
          <p:cNvSpPr/>
          <p:nvPr/>
        </p:nvSpPr>
        <p:spPr>
          <a:xfrm>
            <a:off x="10236707" y="5424063"/>
            <a:ext cx="52806" cy="33233"/>
          </a:xfrm>
          <a:prstGeom prst="rect">
            <a:avLst/>
          </a:prstGeom>
          <a:solidFill>
            <a:srgbClr val="D4AF37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Rectangle 130"/>
          <p:cNvSpPr/>
          <p:nvPr/>
        </p:nvSpPr>
        <p:spPr>
          <a:xfrm>
            <a:off x="10332719" y="5424063"/>
            <a:ext cx="52806" cy="33233"/>
          </a:xfrm>
          <a:prstGeom prst="rect">
            <a:avLst/>
          </a:prstGeom>
          <a:solidFill>
            <a:srgbClr val="D4AF37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Rectangle 131"/>
          <p:cNvSpPr/>
          <p:nvPr/>
        </p:nvSpPr>
        <p:spPr>
          <a:xfrm>
            <a:off x="10428731" y="5413945"/>
            <a:ext cx="52806" cy="53468"/>
          </a:xfrm>
          <a:prstGeom prst="rect">
            <a:avLst/>
          </a:prstGeom>
          <a:solidFill>
            <a:srgbClr val="D4AF37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Rectangle 132"/>
          <p:cNvSpPr/>
          <p:nvPr/>
        </p:nvSpPr>
        <p:spPr>
          <a:xfrm>
            <a:off x="10524743" y="5422249"/>
            <a:ext cx="52806" cy="36860"/>
          </a:xfrm>
          <a:prstGeom prst="rect">
            <a:avLst/>
          </a:prstGeom>
          <a:solidFill>
            <a:srgbClr val="D4AF37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Rectangle 133"/>
          <p:cNvSpPr/>
          <p:nvPr/>
        </p:nvSpPr>
        <p:spPr>
          <a:xfrm>
            <a:off x="10620755" y="5428229"/>
            <a:ext cx="52806" cy="24901"/>
          </a:xfrm>
          <a:prstGeom prst="rect">
            <a:avLst/>
          </a:prstGeom>
          <a:solidFill>
            <a:srgbClr val="D4AF37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Rectangle 134"/>
          <p:cNvSpPr/>
          <p:nvPr/>
        </p:nvSpPr>
        <p:spPr>
          <a:xfrm>
            <a:off x="10716767" y="5419148"/>
            <a:ext cx="52806" cy="43063"/>
          </a:xfrm>
          <a:prstGeom prst="rect">
            <a:avLst/>
          </a:prstGeom>
          <a:solidFill>
            <a:srgbClr val="D4AF37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Rectangle 135"/>
          <p:cNvSpPr/>
          <p:nvPr/>
        </p:nvSpPr>
        <p:spPr>
          <a:xfrm>
            <a:off x="10812780" y="5424524"/>
            <a:ext cx="52806" cy="32310"/>
          </a:xfrm>
          <a:prstGeom prst="rect">
            <a:avLst/>
          </a:prstGeom>
          <a:solidFill>
            <a:srgbClr val="D4AF37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Rectangle 136"/>
          <p:cNvSpPr/>
          <p:nvPr/>
        </p:nvSpPr>
        <p:spPr>
          <a:xfrm>
            <a:off x="10908791" y="5432210"/>
            <a:ext cx="52806" cy="16939"/>
          </a:xfrm>
          <a:prstGeom prst="rect">
            <a:avLst/>
          </a:prstGeom>
          <a:solidFill>
            <a:srgbClr val="D4AF37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Rectangle 137"/>
          <p:cNvSpPr/>
          <p:nvPr/>
        </p:nvSpPr>
        <p:spPr>
          <a:xfrm>
            <a:off x="11004803" y="5427704"/>
            <a:ext cx="52806" cy="25951"/>
          </a:xfrm>
          <a:prstGeom prst="rect">
            <a:avLst/>
          </a:prstGeom>
          <a:solidFill>
            <a:srgbClr val="D4AF37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Rectangle 138"/>
          <p:cNvSpPr/>
          <p:nvPr/>
        </p:nvSpPr>
        <p:spPr>
          <a:xfrm>
            <a:off x="11100815" y="5430987"/>
            <a:ext cx="52806" cy="19385"/>
          </a:xfrm>
          <a:prstGeom prst="rect">
            <a:avLst/>
          </a:prstGeom>
          <a:solidFill>
            <a:srgbClr val="D4AF37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Rectangle 139"/>
          <p:cNvSpPr/>
          <p:nvPr/>
        </p:nvSpPr>
        <p:spPr>
          <a:xfrm>
            <a:off x="11196827" y="5433822"/>
            <a:ext cx="52806" cy="13716"/>
          </a:xfrm>
          <a:prstGeom prst="rect">
            <a:avLst/>
          </a:prstGeom>
          <a:solidFill>
            <a:srgbClr val="D4AF37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Rounded Rectangle 140"/>
          <p:cNvSpPr/>
          <p:nvPr/>
        </p:nvSpPr>
        <p:spPr>
          <a:xfrm>
            <a:off x="640080" y="5623560"/>
            <a:ext cx="10911535" cy="502920"/>
          </a:xfrm>
          <a:prstGeom prst="roundRect">
            <a:avLst>
              <a:gd name="adj" fmla="val 20000"/>
            </a:avLst>
          </a:prstGeom>
          <a:solidFill>
            <a:srgbClr val="1414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TextBox 141"/>
          <p:cNvSpPr txBox="1"/>
          <p:nvPr/>
        </p:nvSpPr>
        <p:spPr>
          <a:xfrm>
            <a:off x="914400" y="5687568"/>
            <a:ext cx="10362895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9A9AA8"/>
                </a:solidFill>
                <a:latin typeface="微软雅黑" panose="020B0503020204020204" charset="-122"/>
                <a:cs typeface="微软雅黑" panose="020B0503020204020204" charset="-122"/>
              </a:rPr>
              <a:t>AI 不是项目，而是</a:t>
            </a:r>
            <a:r>
              <a:rPr sz="1200" b="1" i="0">
                <a:solidFill>
                  <a:srgbClr val="D4AF37"/>
                </a:solidFill>
                <a:latin typeface="微软雅黑" panose="020B0503020204020204" charset="-122"/>
                <a:cs typeface="微软雅黑" panose="020B0503020204020204" charset="-122"/>
              </a:rPr>
              <a:t>持续进化的能力底座</a:t>
            </a:r>
            <a:r>
              <a:rPr sz="1200" b="0" i="0">
                <a:solidFill>
                  <a:srgbClr val="9A9AA8"/>
                </a:solidFill>
                <a:latin typeface="微软雅黑" panose="020B0503020204020204" charset="-122"/>
                <a:cs typeface="微软雅黑" panose="020B0503020204020204" charset="-122"/>
              </a:rPr>
              <a:t>——越早部署，越早复利。</a:t>
            </a:r>
            <a:endParaRPr sz="1200" b="0" i="0">
              <a:solidFill>
                <a:srgbClr val="9A9AA8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280160"/>
            <a:ext cx="10332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 i="1">
                <a:solidFill>
                  <a:srgbClr val="E8C85A"/>
                </a:solidFill>
                <a:latin typeface="Georgia" panose="02040502050405020303"/>
                <a:cs typeface="微软雅黑" panose="020B0503020204020204" charset="-122"/>
              </a:rPr>
              <a:t>THANK  YOU</a:t>
            </a:r>
            <a:endParaRPr sz="1200" b="0" i="1">
              <a:solidFill>
                <a:srgbClr val="E8C85A"/>
              </a:solidFill>
              <a:latin typeface="Georgia" panose="02040502050405020303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914400" y="2103120"/>
            <a:ext cx="1033272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4000" b="1" i="0">
                <a:solidFill>
                  <a:srgbClr val="F5F1E8"/>
                </a:solidFill>
                <a:latin typeface="微软雅黑" panose="020B0503020204020204" charset="-122"/>
                <a:cs typeface="微软雅黑" panose="020B0503020204020204" charset="-122"/>
              </a:rPr>
              <a:t>让 AI 真正进入企业</a:t>
            </a:r>
            <a:endParaRPr sz="4000" b="1" i="0">
              <a:solidFill>
                <a:srgbClr val="F5F1E8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103327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600" b="0" i="0">
                <a:solidFill>
                  <a:srgbClr val="9A9AA8"/>
                </a:solidFill>
                <a:latin typeface="微软雅黑" panose="020B0503020204020204" charset="-122"/>
                <a:cs typeface="微软雅黑" panose="020B0503020204020204" charset="-122"/>
              </a:rPr>
              <a:t>不只是部署技术，更是部署 </a:t>
            </a:r>
            <a:r>
              <a:rPr sz="1600" b="1" i="0">
                <a:solidFill>
                  <a:srgbClr val="D4AF37"/>
                </a:solidFill>
                <a:latin typeface="微软雅黑" panose="020B0503020204020204" charset="-122"/>
                <a:cs typeface="微软雅黑" panose="020B0503020204020204" charset="-122"/>
              </a:rPr>
              <a:t>一种新的工作方式</a:t>
            </a:r>
            <a:endParaRPr sz="1600" b="1" i="0">
              <a:solidFill>
                <a:srgbClr val="D4AF37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Oval 4"/>
          <p:cNvSpPr/>
          <p:nvPr/>
        </p:nvSpPr>
        <p:spPr>
          <a:xfrm>
            <a:off x="4916271" y="4078224"/>
            <a:ext cx="164592" cy="164592"/>
          </a:xfrm>
          <a:prstGeom prst="ellipse">
            <a:avLst/>
          </a:prstGeom>
          <a:solidFill>
            <a:srgbClr val="D4AF37">
              <a:alpha val="8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5072634" y="3840480"/>
            <a:ext cx="0" cy="320040"/>
          </a:xfrm>
          <a:prstGeom prst="line">
            <a:avLst/>
          </a:prstGeom>
          <a:ln w="19050">
            <a:solidFill>
              <a:srgbClr val="D4AF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6013551" y="4032504"/>
            <a:ext cx="164592" cy="164592"/>
          </a:xfrm>
          <a:prstGeom prst="ellipse">
            <a:avLst/>
          </a:prstGeom>
          <a:solidFill>
            <a:srgbClr val="E8C85A">
              <a:alpha val="8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>
            <a:off x="6021781" y="4114800"/>
            <a:ext cx="0" cy="365760"/>
          </a:xfrm>
          <a:prstGeom prst="line">
            <a:avLst/>
          </a:prstGeom>
          <a:ln w="19050">
            <a:solidFill>
              <a:srgbClr val="E8C85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7110831" y="4078224"/>
            <a:ext cx="164592" cy="164592"/>
          </a:xfrm>
          <a:prstGeom prst="ellipse">
            <a:avLst/>
          </a:prstGeom>
          <a:solidFill>
            <a:srgbClr val="D4AF37">
              <a:alpha val="8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" name="Connector 9"/>
          <p:cNvCxnSpPr/>
          <p:nvPr/>
        </p:nvCxnSpPr>
        <p:spPr>
          <a:xfrm>
            <a:off x="7267194" y="3840480"/>
            <a:ext cx="0" cy="320040"/>
          </a:xfrm>
          <a:prstGeom prst="line">
            <a:avLst/>
          </a:prstGeom>
          <a:ln w="19050">
            <a:solidFill>
              <a:srgbClr val="D4AF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3809847" y="4663440"/>
            <a:ext cx="4572000" cy="18288"/>
          </a:xfrm>
          <a:prstGeom prst="rect">
            <a:avLst/>
          </a:prstGeom>
          <a:solidFill>
            <a:srgbClr val="2A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0" y="4800600"/>
            <a:ext cx="1219169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 i="0">
                <a:solidFill>
                  <a:srgbClr val="F5F1E8"/>
                </a:solidFill>
                <a:latin typeface="微软雅黑" panose="020B0503020204020204" charset="-122"/>
                <a:cs typeface="微软雅黑" panose="020B0503020204020204" charset="-122"/>
              </a:rPr>
              <a:t>刘 肯</a:t>
            </a:r>
            <a:r>
              <a:rPr sz="1400" b="0" i="0">
                <a:solidFill>
                  <a:srgbClr val="9A9AA8"/>
                </a:solidFill>
                <a:latin typeface="Georgia" panose="02040502050405020303"/>
                <a:cs typeface="微软雅黑" panose="020B0503020204020204" charset="-122"/>
              </a:rPr>
              <a:t>    ·    </a:t>
            </a:r>
            <a:r>
              <a:rPr sz="1400" b="0" i="0">
                <a:solidFill>
                  <a:srgbClr val="9A9AA8"/>
                </a:solidFill>
                <a:latin typeface="微软雅黑" panose="020B0503020204020204" charset="-122"/>
                <a:cs typeface="微软雅黑" panose="020B0503020204020204" charset="-122"/>
              </a:rPr>
              <a:t>北京幻道科技</a:t>
            </a:r>
            <a:endParaRPr sz="1400" b="0" i="0">
              <a:solidFill>
                <a:srgbClr val="9A9AA8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0" y="5212080"/>
            <a:ext cx="1219169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1">
                <a:solidFill>
                  <a:srgbClr val="9A9AA8"/>
                </a:solidFill>
                <a:latin typeface="Georgia" panose="02040502050405020303"/>
                <a:cs typeface="微软雅黑" panose="020B0503020204020204" charset="-122"/>
              </a:rPr>
              <a:t>Huandao Technology  ·  Beijing</a:t>
            </a:r>
            <a:endParaRPr sz="1000" b="0" i="1">
              <a:solidFill>
                <a:srgbClr val="9A9AA8"/>
              </a:solidFill>
              <a:latin typeface="Georgia" panose="02040502050405020303"/>
              <a:cs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0" y="6263640"/>
            <a:ext cx="1219169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i="0">
                <a:solidFill>
                  <a:srgbClr val="9A9AA8"/>
                </a:solidFill>
                <a:latin typeface="Georgia" panose="02040502050405020303"/>
                <a:cs typeface="微软雅黑" panose="020B0503020204020204" charset="-122"/>
              </a:rPr>
              <a:t>12 / 12</a:t>
            </a:r>
            <a:endParaRPr sz="900" b="0" i="0">
              <a:solidFill>
                <a:srgbClr val="9A9AA8"/>
              </a:solidFill>
              <a:latin typeface="Georgia" panose="02040502050405020303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2960</Words>
  <Application>WPS 演示</Application>
  <PresentationFormat>On-screen Show (4:3)</PresentationFormat>
  <Paragraphs>504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1" baseType="lpstr">
      <vt:lpstr>Arial</vt:lpstr>
      <vt:lpstr>宋体</vt:lpstr>
      <vt:lpstr>Wingdings</vt:lpstr>
      <vt:lpstr>Arial</vt:lpstr>
      <vt:lpstr>Georgia</vt:lpstr>
      <vt:lpstr>微软雅黑</vt:lpstr>
      <vt:lpstr>Calibri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Ken</cp:lastModifiedBy>
  <cp:revision>5</cp:revision>
  <dcterms:created xsi:type="dcterms:W3CDTF">2013-01-27T09:14:00Z</dcterms:created>
  <dcterms:modified xsi:type="dcterms:W3CDTF">2026-09-08T14:47:57Z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2052-12.1.0.28505</vt:lpwstr>
  </property>
  <property fmtid="{D5CDD505-2E9C-101B-9397-08002B2CF9AE}" pid="3" name="ICV">
    <vt:lpwstr>A1CA2EBBF87E476595E26516D454E990_12</vt:lpwstr>
  </property>
</Properties>
</file>